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5" d="100"/>
          <a:sy n="125" d="100"/>
        </p:scale>
        <p:origin x="4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4281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C71"/>
        </a:solidFill>
        <a:effectLst/>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E75113"/>
          </a:solidFill>
          <a:ln/>
        </p:spPr>
        <p:txBody>
          <a:bodyPr wrap="square" rtlCol="0" anchor="ctr"/>
          <a:lstStyle/>
          <a:p>
            <a:pPr marL="0" indent="0">
              <a:buNone/>
            </a:pPr>
            <a:endParaRPr lang="en-US" dirty="0"/>
          </a:p>
        </p:txBody>
      </p:sp>
      <p:sp>
        <p:nvSpPr>
          <p:cNvPr id="3" name="Text 1"/>
          <p:cNvSpPr/>
          <p:nvPr/>
        </p:nvSpPr>
        <p:spPr>
          <a:xfrm>
            <a:off x="5334000" y="3619500"/>
            <a:ext cx="3810000" cy="1524000"/>
          </a:xfrm>
          <a:prstGeom prst="rect">
            <a:avLst/>
          </a:prstGeom>
          <a:solidFill>
            <a:srgbClr val="E75113">
              <a:alpha val="15000"/>
            </a:srgbClr>
          </a:solidFill>
          <a:ln/>
        </p:spPr>
        <p:txBody>
          <a:bodyPr wrap="square" rtlCol="0" anchor="ctr"/>
          <a:lstStyle/>
          <a:p>
            <a:pPr marL="0" indent="0">
              <a:buNone/>
            </a:pPr>
            <a:endParaRPr lang="en-US" dirty="0"/>
          </a:p>
        </p:txBody>
      </p:sp>
      <p:sp>
        <p:nvSpPr>
          <p:cNvPr id="4" name="Text 2"/>
          <p:cNvSpPr/>
          <p:nvPr/>
        </p:nvSpPr>
        <p:spPr>
          <a:xfrm>
            <a:off x="6604099" y="4127599"/>
            <a:ext cx="2539901" cy="1015901"/>
          </a:xfrm>
          <a:prstGeom prst="rect">
            <a:avLst/>
          </a:prstGeom>
          <a:solidFill>
            <a:srgbClr val="E75113">
              <a:alpha val="10000"/>
            </a:srgbClr>
          </a:solidFill>
          <a:ln/>
        </p:spPr>
        <p:txBody>
          <a:bodyPr wrap="square" rtlCol="0" anchor="ctr"/>
          <a:lstStyle/>
          <a:p>
            <a:pPr marL="0" indent="0">
              <a:buNone/>
            </a:pPr>
            <a:endParaRPr lang="en-US" dirty="0"/>
          </a:p>
        </p:txBody>
      </p:sp>
      <p:sp>
        <p:nvSpPr>
          <p:cNvPr id="5" name="Text 3"/>
          <p:cNvSpPr/>
          <p:nvPr/>
        </p:nvSpPr>
        <p:spPr>
          <a:xfrm>
            <a:off x="4191000" y="1526381"/>
            <a:ext cx="762000" cy="5075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685800" y="1780282"/>
            <a:ext cx="7772400" cy="792361"/>
          </a:xfrm>
          <a:prstGeom prst="rect">
            <a:avLst/>
          </a:prstGeom>
          <a:noFill/>
          <a:ln/>
        </p:spPr>
        <p:txBody>
          <a:bodyPr wrap="square" lIns="0" tIns="0" rIns="0" bIns="0" rtlCol="0" anchor="t"/>
          <a:lstStyle/>
          <a:p>
            <a:pPr marL="0" indent="0" algn="ctr">
              <a:lnSpc>
                <a:spcPts val="3120"/>
              </a:lnSpc>
              <a:spcAft>
                <a:spcPts val="600"/>
              </a:spcAft>
              <a:buNone/>
            </a:pPr>
            <a:r>
              <a:rPr lang="en-US" sz="2400" b="1" dirty="0">
                <a:solidFill>
                  <a:srgbClr val="FFFFFF"/>
                </a:solidFill>
                <a:latin typeface="Arial" pitchFamily="34" charset="0"/>
                <a:ea typeface="Arial" pitchFamily="34" charset="-122"/>
                <a:cs typeface="Arial" pitchFamily="34" charset="-120"/>
              </a:rPr>
              <a:t>Toward Generating a New Intrusion Detection Dataset and Intrusion Traffic Characterization</a:t>
            </a:r>
            <a:endParaRPr lang="en-US" sz="2400" dirty="0"/>
          </a:p>
        </p:txBody>
      </p:sp>
      <p:sp>
        <p:nvSpPr>
          <p:cNvPr id="7" name="Text 5"/>
          <p:cNvSpPr/>
          <p:nvPr/>
        </p:nvSpPr>
        <p:spPr>
          <a:xfrm>
            <a:off x="2082708" y="2648843"/>
            <a:ext cx="4978435" cy="200025"/>
          </a:xfrm>
          <a:prstGeom prst="rect">
            <a:avLst/>
          </a:prstGeom>
          <a:noFill/>
          <a:ln/>
        </p:spPr>
        <p:txBody>
          <a:bodyPr wrap="square" lIns="0" tIns="0" rIns="0" bIns="0" rtlCol="0" anchor="t"/>
          <a:lstStyle/>
          <a:p>
            <a:pPr marL="0" indent="0" algn="ctr">
              <a:spcAft>
                <a:spcPts val="2000"/>
              </a:spcAft>
              <a:buNone/>
            </a:pPr>
            <a:r>
              <a:rPr lang="en-US" sz="1300" dirty="0">
                <a:solidFill>
                  <a:srgbClr val="F09860"/>
                </a:solidFill>
                <a:latin typeface="Arial" pitchFamily="34" charset="0"/>
                <a:ea typeface="Arial" pitchFamily="34" charset="-122"/>
                <a:cs typeface="Arial" pitchFamily="34" charset="-120"/>
              </a:rPr>
              <a:t>A Hierarchical ML Detection Framework Validated on CIC-IDS2017</a:t>
            </a:r>
            <a:endParaRPr lang="en-US" sz="1300" dirty="0"/>
          </a:p>
        </p:txBody>
      </p:sp>
      <p:sp>
        <p:nvSpPr>
          <p:cNvPr id="8" name="Text 6"/>
          <p:cNvSpPr/>
          <p:nvPr/>
        </p:nvSpPr>
        <p:spPr>
          <a:xfrm>
            <a:off x="685800" y="3140869"/>
            <a:ext cx="7772400" cy="266700"/>
          </a:xfrm>
          <a:prstGeom prst="rect">
            <a:avLst/>
          </a:prstGeom>
          <a:noFill/>
          <a:ln/>
        </p:spPr>
        <p:txBody>
          <a:bodyPr wrap="square" lIns="0" tIns="0" rIns="0" bIns="0" rtlCol="0" anchor="t"/>
          <a:lstStyle/>
          <a:p>
            <a:pPr marL="0" indent="0" algn="ctr">
              <a:spcBef>
                <a:spcPts val="300"/>
              </a:spcBef>
              <a:spcAft>
                <a:spcPts val="300"/>
              </a:spcAft>
              <a:buNone/>
            </a:pPr>
            <a:r>
              <a:rPr lang="en-US" sz="950" dirty="0">
                <a:solidFill>
                  <a:srgbClr val="A8C4DF"/>
                </a:solidFill>
                <a:latin typeface="Arial" pitchFamily="34" charset="0"/>
                <a:ea typeface="Arial" pitchFamily="34" charset="-122"/>
                <a:cs typeface="Arial" pitchFamily="34" charset="-120"/>
              </a:rPr>
              <a:t>Sharafaldin, I., Lashkari, A. H., &amp; Ghorbani, A. A. (2018). Toward generating a new intrusion detection dataset and intrusion traffic characterization. ICISSP.</a:t>
            </a:r>
            <a:endParaRPr lang="en-US" sz="950" dirty="0"/>
          </a:p>
        </p:txBody>
      </p:sp>
      <p:sp>
        <p:nvSpPr>
          <p:cNvPr id="9" name="Text 7"/>
          <p:cNvSpPr/>
          <p:nvPr/>
        </p:nvSpPr>
        <p:spPr>
          <a:xfrm>
            <a:off x="685800" y="3445669"/>
            <a:ext cx="7772400" cy="133350"/>
          </a:xfrm>
          <a:prstGeom prst="rect">
            <a:avLst/>
          </a:prstGeom>
          <a:noFill/>
          <a:ln/>
        </p:spPr>
        <p:txBody>
          <a:bodyPr wrap="square" lIns="0" tIns="0" rIns="0" bIns="0" rtlCol="0" anchor="t"/>
          <a:lstStyle/>
          <a:p>
            <a:pPr marL="0" indent="0" algn="ctr">
              <a:spcBef>
                <a:spcPts val="300"/>
              </a:spcBef>
              <a:spcAft>
                <a:spcPts val="300"/>
              </a:spcAft>
              <a:buNone/>
            </a:pPr>
            <a:r>
              <a:rPr lang="en-US" sz="950" dirty="0">
                <a:solidFill>
                  <a:srgbClr val="A8C4DF"/>
                </a:solidFill>
                <a:latin typeface="Arial" pitchFamily="34" charset="0"/>
                <a:ea typeface="Arial" pitchFamily="34" charset="-122"/>
                <a:cs typeface="Arial" pitchFamily="34" charset="-120"/>
              </a:rPr>
              <a:t>Project: NetTier-ML — Hierarchical IDS Experimental Validation</a:t>
            </a:r>
            <a:endParaRPr lang="en-US" sz="950" dirty="0"/>
          </a:p>
        </p:txBody>
      </p:sp>
      <p:sp>
        <p:nvSpPr>
          <p:cNvPr id="10" name="Text 8"/>
          <p:cNvSpPr/>
          <p:nvPr/>
        </p:nvSpPr>
        <p:spPr>
          <a:xfrm>
            <a:off x="-91440" y="4851499"/>
            <a:ext cx="9326880" cy="114300"/>
          </a:xfrm>
          <a:prstGeom prst="rect">
            <a:avLst/>
          </a:prstGeom>
          <a:noFill/>
          <a:ln/>
        </p:spPr>
        <p:txBody>
          <a:bodyPr wrap="square" lIns="0" tIns="0" rIns="0" bIns="0" rtlCol="0" anchor="t"/>
          <a:lstStyle/>
          <a:p>
            <a:pPr marL="0" indent="0" algn="ctr">
              <a:buNone/>
            </a:pPr>
            <a:r>
              <a:rPr lang="en-US" sz="800" dirty="0">
                <a:solidFill>
                  <a:srgbClr val="5B8BB4"/>
                </a:solidFill>
                <a:latin typeface="Arial" pitchFamily="34" charset="0"/>
                <a:ea typeface="Arial" pitchFamily="34" charset="-122"/>
                <a:cs typeface="Arial" pitchFamily="34" charset="-120"/>
              </a:rPr>
              <a:t>Ontario Tech University — 6800G Machine Learning — March 2026</a:t>
            </a:r>
            <a:endParaRPr lang="en-US" sz="800" dirty="0"/>
          </a:p>
        </p:txBody>
      </p:sp>
      <p:sp>
        <p:nvSpPr>
          <p:cNvPr id="11" name="Text 7">
            <a:extLst>
              <a:ext uri="{FF2B5EF4-FFF2-40B4-BE49-F238E27FC236}">
                <a16:creationId xmlns:a16="http://schemas.microsoft.com/office/drawing/2014/main" id="{13908989-2173-26F9-1645-FE03FB1EAB43}"/>
              </a:ext>
            </a:extLst>
          </p:cNvPr>
          <p:cNvSpPr/>
          <p:nvPr/>
        </p:nvSpPr>
        <p:spPr>
          <a:xfrm>
            <a:off x="838200" y="3598069"/>
            <a:ext cx="7772400" cy="133350"/>
          </a:xfrm>
          <a:prstGeom prst="rect">
            <a:avLst/>
          </a:prstGeom>
          <a:noFill/>
          <a:ln/>
        </p:spPr>
        <p:txBody>
          <a:bodyPr wrap="square" lIns="0" tIns="0" rIns="0" bIns="0" rtlCol="0" anchor="t"/>
          <a:lstStyle/>
          <a:p>
            <a:pPr marL="0" indent="0" algn="ctr">
              <a:spcBef>
                <a:spcPts val="300"/>
              </a:spcBef>
              <a:spcAft>
                <a:spcPts val="300"/>
              </a:spcAft>
              <a:buNone/>
            </a:pPr>
            <a:r>
              <a:rPr lang="en-US" altLang="zh-CN" sz="1400" dirty="0">
                <a:solidFill>
                  <a:srgbClr val="A8C4DF"/>
                </a:solidFill>
                <a:latin typeface="Arial" pitchFamily="34" charset="0"/>
                <a:ea typeface="Arial" pitchFamily="34" charset="-122"/>
                <a:cs typeface="Arial" pitchFamily="34" charset="-120"/>
              </a:rPr>
              <a:t>Kaicheng Nie </a:t>
            </a:r>
          </a:p>
          <a:p>
            <a:pPr marL="0" indent="0" algn="ctr">
              <a:spcBef>
                <a:spcPts val="300"/>
              </a:spcBef>
              <a:spcAft>
                <a:spcPts val="300"/>
              </a:spcAft>
              <a:buNone/>
            </a:pPr>
            <a:r>
              <a:rPr lang="en-US" altLang="zh-CN" sz="1100" dirty="0">
                <a:solidFill>
                  <a:srgbClr val="A8C4DF"/>
                </a:solidFill>
                <a:latin typeface="Arial" pitchFamily="34" charset="0"/>
                <a:ea typeface="Arial" pitchFamily="34" charset="-122"/>
                <a:cs typeface="Arial" pitchFamily="34" charset="-120"/>
              </a:rPr>
              <a:t>No</a:t>
            </a:r>
            <a:r>
              <a:rPr lang="zh-CN" altLang="en-US" sz="1100" dirty="0">
                <a:solidFill>
                  <a:srgbClr val="A8C4DF"/>
                </a:solidFill>
                <a:latin typeface="Arial" pitchFamily="34" charset="0"/>
                <a:ea typeface="Arial" pitchFamily="34" charset="-122"/>
                <a:cs typeface="Arial" pitchFamily="34" charset="-120"/>
              </a:rPr>
              <a:t>：</a:t>
            </a:r>
            <a:r>
              <a:rPr lang="en-US" altLang="zh-CN" sz="1100" dirty="0">
                <a:solidFill>
                  <a:srgbClr val="A8C4DF"/>
                </a:solidFill>
                <a:latin typeface="Arial" pitchFamily="34" charset="0"/>
                <a:ea typeface="Arial" pitchFamily="34" charset="-122"/>
                <a:cs typeface="Arial" pitchFamily="34" charset="-120"/>
              </a:rPr>
              <a:t>100993098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4266167"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Motivation: Why a New IDS Dataset?</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355550" y="749201"/>
            <a:ext cx="4602566" cy="171450"/>
          </a:xfrm>
          <a:prstGeom prst="rect">
            <a:avLst/>
          </a:prstGeom>
          <a:noFill/>
          <a:ln/>
        </p:spPr>
        <p:txBody>
          <a:bodyPr wrap="square" lIns="0" tIns="0" rIns="0" bIns="0" rtlCol="0" anchor="t"/>
          <a:lstStyle/>
          <a:p>
            <a:pPr marL="0" indent="0" algn="l">
              <a:spcAft>
                <a:spcPts val="600"/>
              </a:spcAft>
              <a:buNone/>
            </a:pPr>
            <a:r>
              <a:rPr lang="en-US" sz="1200" b="1" dirty="0">
                <a:solidFill>
                  <a:srgbClr val="003C71"/>
                </a:solidFill>
                <a:latin typeface="Arial" pitchFamily="34" charset="0"/>
                <a:ea typeface="Arial" pitchFamily="34" charset="-122"/>
                <a:cs typeface="Arial" pitchFamily="34" charset="-120"/>
              </a:rPr>
              <a:t>The Problem</a:t>
            </a:r>
            <a:endParaRPr lang="en-US" sz="1200" dirty="0"/>
          </a:p>
        </p:txBody>
      </p:sp>
      <p:sp>
        <p:nvSpPr>
          <p:cNvPr id="7" name="Text 5"/>
          <p:cNvSpPr/>
          <p:nvPr/>
        </p:nvSpPr>
        <p:spPr>
          <a:xfrm>
            <a:off x="355550" y="996851"/>
            <a:ext cx="4512320" cy="1194792"/>
          </a:xfrm>
          <a:prstGeom prst="rect">
            <a:avLst/>
          </a:prstGeom>
          <a:noFill/>
          <a:ln/>
        </p:spPr>
        <p:txBody>
          <a:bodyPr wrap="square" lIns="88900" tIns="0" rIns="0" bIns="0" rtlCol="0" anchor="t"/>
          <a:lstStyle/>
          <a:p>
            <a:pPr marL="88900" indent="-88900" algn="l">
              <a:lnSpc>
                <a:spcPts val="1235"/>
              </a:lnSpc>
              <a:spcAft>
                <a:spcPts val="500"/>
              </a:spcAft>
              <a:buSzPct val="100000"/>
              <a:buChar char="•"/>
            </a:pPr>
            <a:r>
              <a:rPr lang="en-US" sz="950" dirty="0">
                <a:solidFill>
                  <a:srgbClr val="333333"/>
                </a:solidFill>
                <a:latin typeface="Arial" pitchFamily="34" charset="0"/>
                <a:ea typeface="Arial" pitchFamily="34" charset="-122"/>
                <a:cs typeface="Arial" pitchFamily="34" charset="-120"/>
              </a:rPr>
              <a:t>Network attacks growing exponentially in scale, complexity, and sophistication</a:t>
            </a:r>
            <a:endParaRPr lang="en-US" sz="950" dirty="0"/>
          </a:p>
          <a:p>
            <a:pPr marL="88900" indent="-88900" algn="l">
              <a:lnSpc>
                <a:spcPts val="1235"/>
              </a:lnSpc>
              <a:spcAft>
                <a:spcPts val="500"/>
              </a:spcAft>
              <a:buSzPct val="100000"/>
              <a:buChar char="•"/>
            </a:pPr>
            <a:r>
              <a:rPr lang="en-US" sz="950" dirty="0">
                <a:solidFill>
                  <a:srgbClr val="333333"/>
                </a:solidFill>
                <a:latin typeface="Arial" pitchFamily="34" charset="0"/>
                <a:ea typeface="Arial" pitchFamily="34" charset="-122"/>
                <a:cs typeface="Arial" pitchFamily="34" charset="-120"/>
              </a:rPr>
              <a:t>Intrusion Detection Systems (IDS) are critical, but effectiveness depends on training data quality</a:t>
            </a:r>
            <a:endParaRPr lang="en-US" sz="950" dirty="0"/>
          </a:p>
          <a:p>
            <a:pPr marL="88900" indent="-88900" algn="l">
              <a:lnSpc>
                <a:spcPts val="1235"/>
              </a:lnSpc>
              <a:spcAft>
                <a:spcPts val="500"/>
              </a:spcAft>
              <a:buSzPct val="100000"/>
              <a:buChar char="•"/>
            </a:pPr>
            <a:r>
              <a:rPr lang="en-US" sz="950" b="1" dirty="0">
                <a:solidFill>
                  <a:srgbClr val="333333"/>
                </a:solidFill>
                <a:latin typeface="Arial" pitchFamily="34" charset="0"/>
                <a:ea typeface="Arial" pitchFamily="34" charset="-122"/>
                <a:cs typeface="Arial" pitchFamily="34" charset="-120"/>
              </a:rPr>
              <a:t>Existing datasets are outdated</a:t>
            </a:r>
            <a:r>
              <a:rPr lang="en-US" sz="950" dirty="0">
                <a:solidFill>
                  <a:srgbClr val="333333"/>
                </a:solidFill>
                <a:latin typeface="Arial" pitchFamily="34" charset="0"/>
                <a:ea typeface="Arial" pitchFamily="34" charset="-122"/>
                <a:cs typeface="Arial" pitchFamily="34" charset="-120"/>
              </a:rPr>
              <a:t>: KDD99 (1999), NSL-KDD (2009), ISCX2012</a:t>
            </a:r>
            <a:endParaRPr lang="en-US" sz="950" dirty="0"/>
          </a:p>
          <a:p>
            <a:pPr marL="88900" indent="-88900" algn="l">
              <a:lnSpc>
                <a:spcPts val="1235"/>
              </a:lnSpc>
              <a:spcAft>
                <a:spcPts val="500"/>
              </a:spcAft>
              <a:buSzPct val="100000"/>
              <a:buChar char="•"/>
            </a:pPr>
            <a:r>
              <a:rPr lang="en-US" sz="950" dirty="0">
                <a:solidFill>
                  <a:srgbClr val="333333"/>
                </a:solidFill>
                <a:latin typeface="Arial" pitchFamily="34" charset="0"/>
                <a:ea typeface="Arial" pitchFamily="34" charset="-122"/>
                <a:cs typeface="Arial" pitchFamily="34" charset="-120"/>
              </a:rPr>
              <a:t>Anomaly-based IDS suffer from </a:t>
            </a:r>
            <a:r>
              <a:rPr lang="en-US" sz="950" b="1" dirty="0">
                <a:solidFill>
                  <a:srgbClr val="333333"/>
                </a:solidFill>
                <a:latin typeface="Arial" pitchFamily="34" charset="0"/>
                <a:ea typeface="Arial" pitchFamily="34" charset="-122"/>
                <a:cs typeface="Arial" pitchFamily="34" charset="-120"/>
              </a:rPr>
              <a:t>lack of reliable, labeled, current datasets</a:t>
            </a:r>
            <a:endParaRPr lang="en-US" sz="950" dirty="0"/>
          </a:p>
          <a:p>
            <a:pPr marL="88900" indent="-88900" algn="l">
              <a:lnSpc>
                <a:spcPts val="1235"/>
              </a:lnSpc>
              <a:spcAft>
                <a:spcPts val="500"/>
              </a:spcAft>
              <a:buSzPct val="100000"/>
              <a:buChar char="•"/>
            </a:pPr>
            <a:r>
              <a:rPr lang="en-US" sz="950" dirty="0">
                <a:solidFill>
                  <a:srgbClr val="333333"/>
                </a:solidFill>
                <a:latin typeface="Arial" pitchFamily="34" charset="0"/>
                <a:ea typeface="Arial" pitchFamily="34" charset="-122"/>
                <a:cs typeface="Arial" pitchFamily="34" charset="-120"/>
              </a:rPr>
              <a:t>11 publicly available datasets analyzed — </a:t>
            </a:r>
            <a:r>
              <a:rPr lang="en-US" sz="950" b="1" dirty="0">
                <a:solidFill>
                  <a:srgbClr val="333333"/>
                </a:solidFill>
                <a:latin typeface="Arial" pitchFamily="34" charset="0"/>
                <a:ea typeface="Arial" pitchFamily="34" charset="-122"/>
                <a:cs typeface="Arial" pitchFamily="34" charset="-120"/>
              </a:rPr>
              <a:t>none satisfies all evaluation criteria</a:t>
            </a:r>
            <a:endParaRPr lang="en-US" sz="950" dirty="0"/>
          </a:p>
        </p:txBody>
      </p:sp>
      <p:sp>
        <p:nvSpPr>
          <p:cNvPr id="8" name="Text 6"/>
          <p:cNvSpPr/>
          <p:nvPr/>
        </p:nvSpPr>
        <p:spPr>
          <a:xfrm>
            <a:off x="355550" y="2255044"/>
            <a:ext cx="4602566" cy="171450"/>
          </a:xfrm>
          <a:prstGeom prst="rect">
            <a:avLst/>
          </a:prstGeom>
          <a:noFill/>
          <a:ln/>
        </p:spPr>
        <p:txBody>
          <a:bodyPr wrap="square" lIns="0" tIns="0" rIns="0" bIns="0" rtlCol="0" anchor="t"/>
          <a:lstStyle/>
          <a:p>
            <a:pPr marL="0" indent="0" algn="l">
              <a:spcAft>
                <a:spcPts val="600"/>
              </a:spcAft>
              <a:buNone/>
            </a:pPr>
            <a:r>
              <a:rPr lang="en-US" sz="1200" b="1" dirty="0">
                <a:solidFill>
                  <a:srgbClr val="003C71"/>
                </a:solidFill>
                <a:latin typeface="Arial" pitchFamily="34" charset="0"/>
                <a:ea typeface="Arial" pitchFamily="34" charset="-122"/>
                <a:cs typeface="Arial" pitchFamily="34" charset="-120"/>
              </a:rPr>
              <a:t>What Is Needed?</a:t>
            </a:r>
            <a:endParaRPr lang="en-US" sz="1200" dirty="0"/>
          </a:p>
        </p:txBody>
      </p:sp>
      <p:sp>
        <p:nvSpPr>
          <p:cNvPr id="9" name="Text 7"/>
          <p:cNvSpPr/>
          <p:nvPr/>
        </p:nvSpPr>
        <p:spPr>
          <a:xfrm>
            <a:off x="355550" y="2502694"/>
            <a:ext cx="4512320" cy="817662"/>
          </a:xfrm>
          <a:prstGeom prst="rect">
            <a:avLst/>
          </a:prstGeom>
          <a:noFill/>
          <a:ln/>
        </p:spPr>
        <p:txBody>
          <a:bodyPr wrap="square" lIns="88900" tIns="0" rIns="0" bIns="0" rtlCol="0" anchor="t"/>
          <a:lstStyle/>
          <a:p>
            <a:pPr marL="88900" indent="-88900" algn="l">
              <a:lnSpc>
                <a:spcPts val="1235"/>
              </a:lnSpc>
              <a:spcAft>
                <a:spcPts val="500"/>
              </a:spcAft>
              <a:buSzPct val="100000"/>
              <a:buChar char="•"/>
            </a:pPr>
            <a:r>
              <a:rPr lang="en-US" sz="950" dirty="0">
                <a:solidFill>
                  <a:srgbClr val="333333"/>
                </a:solidFill>
                <a:latin typeface="Arial" pitchFamily="34" charset="0"/>
                <a:ea typeface="Arial" pitchFamily="34" charset="-122"/>
                <a:cs typeface="Arial" pitchFamily="34" charset="-120"/>
              </a:rPr>
              <a:t>Realistic benign + attack traffic from a modern testbed</a:t>
            </a:r>
            <a:endParaRPr lang="en-US" sz="950" dirty="0"/>
          </a:p>
          <a:p>
            <a:pPr marL="88900" indent="-88900" algn="l">
              <a:lnSpc>
                <a:spcPts val="1235"/>
              </a:lnSpc>
              <a:spcAft>
                <a:spcPts val="500"/>
              </a:spcAft>
              <a:buSzPct val="100000"/>
              <a:buChar char="•"/>
            </a:pPr>
            <a:r>
              <a:rPr lang="en-US" sz="950" dirty="0">
                <a:solidFill>
                  <a:srgbClr val="333333"/>
                </a:solidFill>
                <a:latin typeface="Arial" pitchFamily="34" charset="0"/>
                <a:ea typeface="Arial" pitchFamily="34" charset="-122"/>
                <a:cs typeface="Arial" pitchFamily="34" charset="-120"/>
              </a:rPr>
              <a:t>Full packet capture with flow-level and packet-level labeling</a:t>
            </a:r>
            <a:endParaRPr lang="en-US" sz="950" dirty="0"/>
          </a:p>
          <a:p>
            <a:pPr marL="88900" indent="-88900" algn="l">
              <a:lnSpc>
                <a:spcPts val="1235"/>
              </a:lnSpc>
              <a:spcAft>
                <a:spcPts val="500"/>
              </a:spcAft>
              <a:buSzPct val="100000"/>
              <a:buChar char="•"/>
            </a:pPr>
            <a:r>
              <a:rPr lang="en-US" sz="950" dirty="0">
                <a:solidFill>
                  <a:srgbClr val="333333"/>
                </a:solidFill>
                <a:latin typeface="Arial" pitchFamily="34" charset="0"/>
                <a:ea typeface="Arial" pitchFamily="34" charset="-122"/>
                <a:cs typeface="Arial" pitchFamily="34" charset="-120"/>
              </a:rPr>
              <a:t>Diverse attack categories reflecting current threat landscape</a:t>
            </a:r>
            <a:endParaRPr lang="en-US" sz="950" dirty="0"/>
          </a:p>
          <a:p>
            <a:pPr marL="88900" indent="-88900" algn="l">
              <a:lnSpc>
                <a:spcPts val="1235"/>
              </a:lnSpc>
              <a:spcAft>
                <a:spcPts val="500"/>
              </a:spcAft>
              <a:buSzPct val="100000"/>
              <a:buChar char="•"/>
            </a:pPr>
            <a:r>
              <a:rPr lang="en-US" sz="950" dirty="0">
                <a:solidFill>
                  <a:srgbClr val="333333"/>
                </a:solidFill>
                <a:latin typeface="Arial" pitchFamily="34" charset="0"/>
                <a:ea typeface="Arial" pitchFamily="34" charset="-122"/>
                <a:cs typeface="Arial" pitchFamily="34" charset="-120"/>
              </a:rPr>
              <a:t>Publicly available for reproducible IDS research</a:t>
            </a:r>
            <a:endParaRPr lang="en-US" sz="950" dirty="0"/>
          </a:p>
        </p:txBody>
      </p:sp>
      <p:sp>
        <p:nvSpPr>
          <p:cNvPr id="10" name="Text 8"/>
          <p:cNvSpPr/>
          <p:nvPr/>
        </p:nvSpPr>
        <p:spPr>
          <a:xfrm>
            <a:off x="5096470" y="749201"/>
            <a:ext cx="3691979" cy="764977"/>
          </a:xfrm>
          <a:prstGeom prst="roundRect">
            <a:avLst>
              <a:gd name="adj" fmla="val 4981"/>
            </a:avLst>
          </a:prstGeom>
          <a:solidFill>
            <a:srgbClr val="F0F2F5"/>
          </a:solidFill>
          <a:ln/>
        </p:spPr>
        <p:txBody>
          <a:bodyPr wrap="square" rtlCol="0" anchor="ctr"/>
          <a:lstStyle/>
          <a:p>
            <a:pPr marL="0" indent="0">
              <a:buNone/>
            </a:pPr>
            <a:endParaRPr lang="en-US" dirty="0"/>
          </a:p>
        </p:txBody>
      </p:sp>
      <p:sp>
        <p:nvSpPr>
          <p:cNvPr id="11" name="Shape 9"/>
          <p:cNvSpPr/>
          <p:nvPr/>
        </p:nvSpPr>
        <p:spPr>
          <a:xfrm>
            <a:off x="5120283" y="749201"/>
            <a:ext cx="0" cy="764977"/>
          </a:xfrm>
          <a:prstGeom prst="line">
            <a:avLst/>
          </a:prstGeom>
          <a:noFill/>
          <a:ln w="47625">
            <a:solidFill>
              <a:srgbClr val="E75113"/>
            </a:solidFill>
            <a:prstDash val="solid"/>
          </a:ln>
        </p:spPr>
      </p:sp>
      <p:sp>
        <p:nvSpPr>
          <p:cNvPr id="12" name="Text 10"/>
          <p:cNvSpPr/>
          <p:nvPr/>
        </p:nvSpPr>
        <p:spPr>
          <a:xfrm>
            <a:off x="5296495" y="850702"/>
            <a:ext cx="3406345" cy="142875"/>
          </a:xfrm>
          <a:prstGeom prst="rect">
            <a:avLst/>
          </a:prstGeom>
          <a:noFill/>
          <a:ln/>
        </p:spPr>
        <p:txBody>
          <a:bodyPr wrap="square" lIns="0" tIns="0" rIns="0" bIns="0" rtlCol="0" anchor="t"/>
          <a:lstStyle/>
          <a:p>
            <a:pPr marL="0" indent="0" algn="l">
              <a:lnSpc>
                <a:spcPts val="1125"/>
              </a:lnSpc>
              <a:spcAft>
                <a:spcPts val="300"/>
              </a:spcAft>
              <a:buNone/>
            </a:pPr>
            <a:r>
              <a:rPr lang="en-US" sz="900" dirty="0">
                <a:solidFill>
                  <a:srgbClr val="555555"/>
                </a:solidFill>
                <a:latin typeface="Arial" pitchFamily="34" charset="0"/>
                <a:ea typeface="Arial" pitchFamily="34" charset="-122"/>
                <a:cs typeface="Arial" pitchFamily="34" charset="-120"/>
              </a:rPr>
              <a:t>Datasets Analyzed</a:t>
            </a:r>
            <a:endParaRPr lang="en-US" sz="900" dirty="0"/>
          </a:p>
        </p:txBody>
      </p:sp>
      <p:sp>
        <p:nvSpPr>
          <p:cNvPr id="13" name="Text 11"/>
          <p:cNvSpPr/>
          <p:nvPr/>
        </p:nvSpPr>
        <p:spPr>
          <a:xfrm>
            <a:off x="5296495" y="1031677"/>
            <a:ext cx="3406345" cy="200025"/>
          </a:xfrm>
          <a:prstGeom prst="rect">
            <a:avLst/>
          </a:prstGeom>
          <a:noFill/>
          <a:ln/>
        </p:spPr>
        <p:txBody>
          <a:bodyPr wrap="square" lIns="0" tIns="0" rIns="0" bIns="0" rtlCol="0" anchor="t"/>
          <a:lstStyle/>
          <a:p>
            <a:pPr marL="0" indent="0" algn="l">
              <a:buNone/>
            </a:pPr>
            <a:r>
              <a:rPr lang="en-US" sz="1300" b="1" dirty="0">
                <a:solidFill>
                  <a:srgbClr val="E75113"/>
                </a:solidFill>
                <a:latin typeface="Arial" pitchFamily="34" charset="0"/>
                <a:ea typeface="Arial" pitchFamily="34" charset="-122"/>
                <a:cs typeface="Arial" pitchFamily="34" charset="-120"/>
              </a:rPr>
              <a:t>11 Public IDS Datasets</a:t>
            </a:r>
            <a:endParaRPr lang="en-US" sz="1300" dirty="0"/>
          </a:p>
        </p:txBody>
      </p:sp>
      <p:sp>
        <p:nvSpPr>
          <p:cNvPr id="14" name="Text 12"/>
          <p:cNvSpPr/>
          <p:nvPr/>
        </p:nvSpPr>
        <p:spPr>
          <a:xfrm>
            <a:off x="5296495" y="1231702"/>
            <a:ext cx="3406345" cy="142875"/>
          </a:xfrm>
          <a:prstGeom prst="rect">
            <a:avLst/>
          </a:prstGeom>
          <a:noFill/>
          <a:ln/>
        </p:spPr>
        <p:txBody>
          <a:bodyPr wrap="square" lIns="0" tIns="0" rIns="0" bIns="0" rtlCol="0" anchor="t"/>
          <a:lstStyle/>
          <a:p>
            <a:pPr marL="0" indent="0" algn="l">
              <a:lnSpc>
                <a:spcPts val="1125"/>
              </a:lnSpc>
              <a:spcAft>
                <a:spcPts val="300"/>
              </a:spcAft>
              <a:buNone/>
            </a:pPr>
            <a:r>
              <a:rPr lang="en-US" sz="900" dirty="0">
                <a:solidFill>
                  <a:srgbClr val="555555"/>
                </a:solidFill>
                <a:latin typeface="Arial" pitchFamily="34" charset="0"/>
                <a:ea typeface="Arial" pitchFamily="34" charset="-122"/>
                <a:cs typeface="Arial" pitchFamily="34" charset="-120"/>
              </a:rPr>
              <a:t>None satisfies all 15 evaluation criteria (Ring et al. 2019)</a:t>
            </a:r>
            <a:endParaRPr lang="en-US" sz="900" dirty="0"/>
          </a:p>
        </p:txBody>
      </p:sp>
      <p:sp>
        <p:nvSpPr>
          <p:cNvPr id="15" name="Text 13"/>
          <p:cNvSpPr/>
          <p:nvPr/>
        </p:nvSpPr>
        <p:spPr>
          <a:xfrm>
            <a:off x="5096470" y="1615678"/>
            <a:ext cx="3691979" cy="764977"/>
          </a:xfrm>
          <a:prstGeom prst="roundRect">
            <a:avLst>
              <a:gd name="adj" fmla="val 4981"/>
            </a:avLst>
          </a:prstGeom>
          <a:solidFill>
            <a:srgbClr val="F0F2F5"/>
          </a:solidFill>
          <a:ln/>
        </p:spPr>
        <p:txBody>
          <a:bodyPr wrap="square" rtlCol="0" anchor="ctr"/>
          <a:lstStyle/>
          <a:p>
            <a:pPr marL="0" indent="0">
              <a:buNone/>
            </a:pPr>
            <a:endParaRPr lang="en-US" dirty="0"/>
          </a:p>
        </p:txBody>
      </p:sp>
      <p:sp>
        <p:nvSpPr>
          <p:cNvPr id="16" name="Shape 14"/>
          <p:cNvSpPr/>
          <p:nvPr/>
        </p:nvSpPr>
        <p:spPr>
          <a:xfrm>
            <a:off x="5120283" y="1615678"/>
            <a:ext cx="0" cy="764977"/>
          </a:xfrm>
          <a:prstGeom prst="line">
            <a:avLst/>
          </a:prstGeom>
          <a:noFill/>
          <a:ln w="47625">
            <a:solidFill>
              <a:srgbClr val="E75113"/>
            </a:solidFill>
            <a:prstDash val="solid"/>
          </a:ln>
        </p:spPr>
      </p:sp>
      <p:sp>
        <p:nvSpPr>
          <p:cNvPr id="17" name="Text 15"/>
          <p:cNvSpPr/>
          <p:nvPr/>
        </p:nvSpPr>
        <p:spPr>
          <a:xfrm>
            <a:off x="5296495" y="1717179"/>
            <a:ext cx="3406345" cy="142875"/>
          </a:xfrm>
          <a:prstGeom prst="rect">
            <a:avLst/>
          </a:prstGeom>
          <a:noFill/>
          <a:ln/>
        </p:spPr>
        <p:txBody>
          <a:bodyPr wrap="square" lIns="0" tIns="0" rIns="0" bIns="0" rtlCol="0" anchor="t"/>
          <a:lstStyle/>
          <a:p>
            <a:pPr marL="0" indent="0" algn="l">
              <a:lnSpc>
                <a:spcPts val="1125"/>
              </a:lnSpc>
              <a:spcAft>
                <a:spcPts val="300"/>
              </a:spcAft>
              <a:buNone/>
            </a:pPr>
            <a:r>
              <a:rPr lang="en-US" sz="900" dirty="0">
                <a:solidFill>
                  <a:srgbClr val="555555"/>
                </a:solidFill>
                <a:latin typeface="Arial" pitchFamily="34" charset="0"/>
                <a:ea typeface="Arial" pitchFamily="34" charset="-122"/>
                <a:cs typeface="Arial" pitchFamily="34" charset="-120"/>
              </a:rPr>
              <a:t>KDD99 Age</a:t>
            </a:r>
            <a:endParaRPr lang="en-US" sz="900" dirty="0"/>
          </a:p>
        </p:txBody>
      </p:sp>
      <p:sp>
        <p:nvSpPr>
          <p:cNvPr id="18" name="Text 16"/>
          <p:cNvSpPr/>
          <p:nvPr/>
        </p:nvSpPr>
        <p:spPr>
          <a:xfrm>
            <a:off x="5296495" y="1898154"/>
            <a:ext cx="3406345" cy="200025"/>
          </a:xfrm>
          <a:prstGeom prst="rect">
            <a:avLst/>
          </a:prstGeom>
          <a:noFill/>
          <a:ln/>
        </p:spPr>
        <p:txBody>
          <a:bodyPr wrap="square" lIns="0" tIns="0" rIns="0" bIns="0" rtlCol="0" anchor="t"/>
          <a:lstStyle/>
          <a:p>
            <a:pPr marL="0" indent="0" algn="l">
              <a:buNone/>
            </a:pPr>
            <a:r>
              <a:rPr lang="en-US" sz="1300" b="1" dirty="0">
                <a:solidFill>
                  <a:srgbClr val="E75113"/>
                </a:solidFill>
                <a:latin typeface="Arial" pitchFamily="34" charset="0"/>
                <a:ea typeface="Arial" pitchFamily="34" charset="-122"/>
                <a:cs typeface="Arial" pitchFamily="34" charset="-120"/>
              </a:rPr>
              <a:t>27 Years Old</a:t>
            </a:r>
            <a:endParaRPr lang="en-US" sz="1300" dirty="0"/>
          </a:p>
        </p:txBody>
      </p:sp>
      <p:sp>
        <p:nvSpPr>
          <p:cNvPr id="19" name="Text 17"/>
          <p:cNvSpPr/>
          <p:nvPr/>
        </p:nvSpPr>
        <p:spPr>
          <a:xfrm>
            <a:off x="5296495" y="2098179"/>
            <a:ext cx="3406345" cy="142875"/>
          </a:xfrm>
          <a:prstGeom prst="rect">
            <a:avLst/>
          </a:prstGeom>
          <a:noFill/>
          <a:ln/>
        </p:spPr>
        <p:txBody>
          <a:bodyPr wrap="square" lIns="0" tIns="0" rIns="0" bIns="0" rtlCol="0" anchor="t"/>
          <a:lstStyle/>
          <a:p>
            <a:pPr marL="0" indent="0" algn="l">
              <a:lnSpc>
                <a:spcPts val="1125"/>
              </a:lnSpc>
              <a:spcAft>
                <a:spcPts val="300"/>
              </a:spcAft>
              <a:buNone/>
            </a:pPr>
            <a:r>
              <a:rPr lang="en-US" sz="900" dirty="0">
                <a:solidFill>
                  <a:srgbClr val="555555"/>
                </a:solidFill>
                <a:latin typeface="Arial" pitchFamily="34" charset="0"/>
                <a:ea typeface="Arial" pitchFamily="34" charset="-122"/>
                <a:cs typeface="Arial" pitchFamily="34" charset="-120"/>
              </a:rPr>
              <a:t>Still the most-cited IDS dataset — a critical gap</a:t>
            </a:r>
            <a:endParaRPr lang="en-US" sz="900" dirty="0"/>
          </a:p>
        </p:txBody>
      </p:sp>
      <p:sp>
        <p:nvSpPr>
          <p:cNvPr id="20" name="Text 18"/>
          <p:cNvSpPr/>
          <p:nvPr/>
        </p:nvSpPr>
        <p:spPr>
          <a:xfrm>
            <a:off x="5096470" y="2482155"/>
            <a:ext cx="3691979" cy="488752"/>
          </a:xfrm>
          <a:prstGeom prst="roundRect">
            <a:avLst>
              <a:gd name="adj" fmla="val 7795"/>
            </a:avLst>
          </a:prstGeom>
          <a:solidFill>
            <a:srgbClr val="FFF3EE"/>
          </a:solidFill>
          <a:ln/>
        </p:spPr>
        <p:txBody>
          <a:bodyPr wrap="square" rtlCol="0" anchor="ctr"/>
          <a:lstStyle/>
          <a:p>
            <a:pPr marL="0" indent="0">
              <a:buNone/>
            </a:pPr>
            <a:endParaRPr lang="en-US" dirty="0"/>
          </a:p>
        </p:txBody>
      </p:sp>
      <p:sp>
        <p:nvSpPr>
          <p:cNvPr id="21" name="Shape 19"/>
          <p:cNvSpPr/>
          <p:nvPr/>
        </p:nvSpPr>
        <p:spPr>
          <a:xfrm>
            <a:off x="5120283" y="2482155"/>
            <a:ext cx="0" cy="488752"/>
          </a:xfrm>
          <a:prstGeom prst="line">
            <a:avLst/>
          </a:prstGeom>
          <a:noFill/>
          <a:ln w="47625">
            <a:solidFill>
              <a:srgbClr val="E75113"/>
            </a:solidFill>
            <a:prstDash val="solid"/>
          </a:ln>
        </p:spPr>
      </p:sp>
      <p:sp>
        <p:nvSpPr>
          <p:cNvPr id="22" name="Text 20"/>
          <p:cNvSpPr/>
          <p:nvPr/>
        </p:nvSpPr>
        <p:spPr>
          <a:xfrm>
            <a:off x="5296495" y="2583656"/>
            <a:ext cx="3406345" cy="285750"/>
          </a:xfrm>
          <a:prstGeom prst="rect">
            <a:avLst/>
          </a:prstGeom>
          <a:noFill/>
          <a:ln/>
        </p:spPr>
        <p:txBody>
          <a:bodyPr wrap="square" lIns="0" tIns="0" rIns="0" bIns="0" rtlCol="0" anchor="t"/>
          <a:lstStyle/>
          <a:p>
            <a:pPr marL="0" indent="0" algn="l">
              <a:lnSpc>
                <a:spcPts val="1125"/>
              </a:lnSpc>
              <a:buNone/>
            </a:pPr>
            <a:r>
              <a:rPr lang="en-US" sz="900" b="1" dirty="0">
                <a:solidFill>
                  <a:srgbClr val="8B3A0F"/>
                </a:solidFill>
                <a:latin typeface="Arial" pitchFamily="34" charset="0"/>
                <a:ea typeface="Arial" pitchFamily="34" charset="-122"/>
                <a:cs typeface="Arial" pitchFamily="34" charset="-120"/>
              </a:rPr>
              <a:t>Key Insight</a:t>
            </a:r>
            <a:r>
              <a:rPr lang="en-US" sz="900" dirty="0">
                <a:solidFill>
                  <a:srgbClr val="8B3A0F"/>
                </a:solidFill>
                <a:latin typeface="Arial" pitchFamily="34" charset="0"/>
                <a:ea typeface="Arial" pitchFamily="34" charset="-122"/>
                <a:cs typeface="Arial" pitchFamily="34" charset="-120"/>
              </a:rPr>
              <a:t>: Without a reliable, modern dataset, anomaly-based IDS cannot be accurately developed, analyzed, or evaluated.</a:t>
            </a:r>
            <a:endParaRPr lang="en-US" sz="900" dirty="0"/>
          </a:p>
        </p:txBody>
      </p:sp>
      <p:sp>
        <p:nvSpPr>
          <p:cNvPr id="23" name="Text 21"/>
          <p:cNvSpPr/>
          <p:nvPr/>
        </p:nvSpPr>
        <p:spPr>
          <a:xfrm>
            <a:off x="0" y="4946749"/>
            <a:ext cx="9144000" cy="196751"/>
          </a:xfrm>
          <a:prstGeom prst="rect">
            <a:avLst/>
          </a:prstGeom>
          <a:solidFill>
            <a:srgbClr val="F0F2F5"/>
          </a:solidFill>
          <a:ln/>
        </p:spPr>
        <p:txBody>
          <a:bodyPr wrap="square" rtlCol="0" anchor="ctr"/>
          <a:lstStyle/>
          <a:p>
            <a:pPr marL="0" indent="0">
              <a:buNone/>
            </a:pPr>
            <a:endParaRPr lang="en-US" dirty="0"/>
          </a:p>
        </p:txBody>
      </p:sp>
      <p:sp>
        <p:nvSpPr>
          <p:cNvPr id="24" name="Text 22"/>
          <p:cNvSpPr/>
          <p:nvPr/>
        </p:nvSpPr>
        <p:spPr>
          <a:xfrm>
            <a:off x="355550" y="4997500"/>
            <a:ext cx="8601557" cy="95250"/>
          </a:xfrm>
          <a:prstGeom prst="rect">
            <a:avLst/>
          </a:prstGeom>
          <a:noFill/>
          <a:ln/>
        </p:spPr>
        <p:txBody>
          <a:bodyPr wrap="square" lIns="0" tIns="0" rIns="0" bIns="0" rtlCol="0" anchor="t"/>
          <a:lstStyle/>
          <a:p>
            <a:pPr marL="0" indent="0" algn="l">
              <a:buNone/>
            </a:pPr>
            <a:r>
              <a:rPr lang="en-US" sz="700" dirty="0">
                <a:solidFill>
                  <a:srgbClr val="888888"/>
                </a:solidFill>
                <a:latin typeface="Arial" pitchFamily="34" charset="0"/>
                <a:ea typeface="Arial" pitchFamily="34" charset="-122"/>
                <a:cs typeface="Arial" pitchFamily="34" charset="-120"/>
              </a:rPr>
              <a:t>Sharafaldin, I., et al. (2018). ICISSP. | Ring, M., et al. (2019). Computers &amp; Security, 86, 100-126.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5607362"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Dataset Evaluation Framework (Ring et al. 2019)</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355550" y="723751"/>
            <a:ext cx="8601557" cy="114300"/>
          </a:xfrm>
          <a:prstGeom prst="rect">
            <a:avLst/>
          </a:prstGeom>
          <a:noFill/>
          <a:ln/>
        </p:spPr>
        <p:txBody>
          <a:bodyPr wrap="square" lIns="0" tIns="0" rIns="0" bIns="0" rtlCol="0" anchor="t"/>
          <a:lstStyle/>
          <a:p>
            <a:pPr marL="0" indent="0" algn="l">
              <a:spcAft>
                <a:spcPts val="100"/>
              </a:spcAft>
              <a:buNone/>
            </a:pPr>
            <a:r>
              <a:rPr lang="en-US" sz="800" b="1" dirty="0">
                <a:solidFill>
                  <a:srgbClr val="333333"/>
                </a:solidFill>
                <a:latin typeface="Arial" pitchFamily="34" charset="0"/>
                <a:ea typeface="Arial" pitchFamily="34" charset="-122"/>
                <a:cs typeface="Arial" pitchFamily="34" charset="-120"/>
              </a:rPr>
              <a:t>Table 1</a:t>
            </a:r>
            <a:endParaRPr lang="en-US" sz="800" dirty="0"/>
          </a:p>
        </p:txBody>
      </p:sp>
      <p:sp>
        <p:nvSpPr>
          <p:cNvPr id="7" name="Text 5"/>
          <p:cNvSpPr/>
          <p:nvPr/>
        </p:nvSpPr>
        <p:spPr>
          <a:xfrm>
            <a:off x="355550" y="901452"/>
            <a:ext cx="8601557" cy="114300"/>
          </a:xfrm>
          <a:prstGeom prst="rect">
            <a:avLst/>
          </a:prstGeom>
          <a:noFill/>
          <a:ln/>
        </p:spPr>
        <p:txBody>
          <a:bodyPr wrap="square" lIns="0" tIns="0" rIns="0" bIns="0" rtlCol="0" anchor="t"/>
          <a:lstStyle/>
          <a:p>
            <a:pPr marL="0" indent="0" algn="l">
              <a:spcAft>
                <a:spcPts val="400"/>
              </a:spcAft>
              <a:buNone/>
            </a:pPr>
            <a:r>
              <a:rPr lang="en-US" sz="800" i="1" dirty="0">
                <a:solidFill>
                  <a:srgbClr val="333333"/>
                </a:solidFill>
                <a:latin typeface="Arial" pitchFamily="34" charset="0"/>
                <a:ea typeface="Arial" pitchFamily="34" charset="-122"/>
                <a:cs typeface="Arial" pitchFamily="34" charset="-120"/>
              </a:rPr>
              <a:t>Comparison of IDS Datasets Against Key Evaluation Criteria</a:t>
            </a:r>
            <a:endParaRPr lang="en-US" sz="800" dirty="0"/>
          </a:p>
        </p:txBody>
      </p:sp>
      <p:sp>
        <p:nvSpPr>
          <p:cNvPr id="8" name="Text 6"/>
          <p:cNvSpPr/>
          <p:nvPr/>
        </p:nvSpPr>
        <p:spPr>
          <a:xfrm>
            <a:off x="355550" y="1117253"/>
            <a:ext cx="1889968" cy="215801"/>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9" name="Text 7"/>
          <p:cNvSpPr/>
          <p:nvPr/>
        </p:nvSpPr>
        <p:spPr>
          <a:xfrm>
            <a:off x="428476" y="1177528"/>
            <a:ext cx="1778999"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Criterion</a:t>
            </a:r>
            <a:endParaRPr lang="en-US" sz="700" dirty="0"/>
          </a:p>
        </p:txBody>
      </p:sp>
      <p:sp>
        <p:nvSpPr>
          <p:cNvPr id="10" name="Text 8"/>
          <p:cNvSpPr/>
          <p:nvPr/>
        </p:nvSpPr>
        <p:spPr>
          <a:xfrm>
            <a:off x="2245519" y="1117253"/>
            <a:ext cx="1308497" cy="215801"/>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1" name="Text 9"/>
          <p:cNvSpPr/>
          <p:nvPr/>
        </p:nvSpPr>
        <p:spPr>
          <a:xfrm>
            <a:off x="2318445" y="1177528"/>
            <a:ext cx="1185898"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KDD99</a:t>
            </a:r>
            <a:endParaRPr lang="en-US" sz="700" dirty="0"/>
          </a:p>
        </p:txBody>
      </p:sp>
      <p:sp>
        <p:nvSpPr>
          <p:cNvPr id="12" name="Text 10"/>
          <p:cNvSpPr/>
          <p:nvPr/>
        </p:nvSpPr>
        <p:spPr>
          <a:xfrm>
            <a:off x="3554016" y="1117253"/>
            <a:ext cx="1308646" cy="215801"/>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3" name="Text 11"/>
          <p:cNvSpPr/>
          <p:nvPr/>
        </p:nvSpPr>
        <p:spPr>
          <a:xfrm>
            <a:off x="3626941" y="1177528"/>
            <a:ext cx="1186050"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NSL-KDD</a:t>
            </a:r>
            <a:endParaRPr lang="en-US" sz="700" dirty="0"/>
          </a:p>
        </p:txBody>
      </p:sp>
      <p:sp>
        <p:nvSpPr>
          <p:cNvPr id="14" name="Text 12"/>
          <p:cNvSpPr/>
          <p:nvPr/>
        </p:nvSpPr>
        <p:spPr>
          <a:xfrm>
            <a:off x="4862661" y="1117253"/>
            <a:ext cx="1308497" cy="215801"/>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5" name="Text 13"/>
          <p:cNvSpPr/>
          <p:nvPr/>
        </p:nvSpPr>
        <p:spPr>
          <a:xfrm>
            <a:off x="4935587" y="1177528"/>
            <a:ext cx="1185898"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ISCX2012</a:t>
            </a:r>
            <a:endParaRPr lang="en-US" sz="700" dirty="0"/>
          </a:p>
        </p:txBody>
      </p:sp>
      <p:sp>
        <p:nvSpPr>
          <p:cNvPr id="16" name="Text 14"/>
          <p:cNvSpPr/>
          <p:nvPr/>
        </p:nvSpPr>
        <p:spPr>
          <a:xfrm>
            <a:off x="6171158" y="1117253"/>
            <a:ext cx="1308646" cy="215801"/>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7" name="Text 15"/>
          <p:cNvSpPr/>
          <p:nvPr/>
        </p:nvSpPr>
        <p:spPr>
          <a:xfrm>
            <a:off x="6244084" y="1177528"/>
            <a:ext cx="1186050"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UNSW-NB15</a:t>
            </a:r>
            <a:endParaRPr lang="en-US" sz="700" dirty="0"/>
          </a:p>
        </p:txBody>
      </p:sp>
      <p:sp>
        <p:nvSpPr>
          <p:cNvPr id="18" name="Text 16"/>
          <p:cNvSpPr/>
          <p:nvPr/>
        </p:nvSpPr>
        <p:spPr>
          <a:xfrm>
            <a:off x="7479804" y="1117253"/>
            <a:ext cx="1308646" cy="215801"/>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9" name="Text 17"/>
          <p:cNvSpPr/>
          <p:nvPr/>
        </p:nvSpPr>
        <p:spPr>
          <a:xfrm>
            <a:off x="7552730" y="1177528"/>
            <a:ext cx="1186050"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CIC-IDS2017</a:t>
            </a:r>
            <a:endParaRPr lang="en-US" sz="700" dirty="0"/>
          </a:p>
        </p:txBody>
      </p:sp>
      <p:sp>
        <p:nvSpPr>
          <p:cNvPr id="20" name="Text 18"/>
          <p:cNvSpPr/>
          <p:nvPr/>
        </p:nvSpPr>
        <p:spPr>
          <a:xfrm>
            <a:off x="355550" y="1383804"/>
            <a:ext cx="1889968" cy="190500"/>
          </a:xfrm>
          <a:prstGeom prst="rect">
            <a:avLst/>
          </a:prstGeom>
          <a:noFill/>
          <a:ln w="9525">
            <a:solidFill>
              <a:srgbClr val="DDDDDD"/>
            </a:solidFill>
          </a:ln>
        </p:spPr>
        <p:txBody>
          <a:bodyPr wrap="square" rtlCol="0" anchor="ctr"/>
          <a:lstStyle/>
          <a:p>
            <a:pPr marL="0" indent="0">
              <a:buNone/>
            </a:pPr>
            <a:endParaRPr lang="en-US" dirty="0"/>
          </a:p>
        </p:txBody>
      </p:sp>
      <p:sp>
        <p:nvSpPr>
          <p:cNvPr id="21" name="Text 19"/>
          <p:cNvSpPr/>
          <p:nvPr/>
        </p:nvSpPr>
        <p:spPr>
          <a:xfrm>
            <a:off x="428476" y="1431429"/>
            <a:ext cx="1778999"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Year / Timeliness</a:t>
            </a:r>
            <a:endParaRPr lang="en-US" sz="700" dirty="0"/>
          </a:p>
        </p:txBody>
      </p:sp>
      <p:sp>
        <p:nvSpPr>
          <p:cNvPr id="22" name="Text 20"/>
          <p:cNvSpPr/>
          <p:nvPr/>
        </p:nvSpPr>
        <p:spPr>
          <a:xfrm>
            <a:off x="2245519" y="1383804"/>
            <a:ext cx="1308497" cy="190500"/>
          </a:xfrm>
          <a:prstGeom prst="rect">
            <a:avLst/>
          </a:prstGeom>
          <a:solidFill>
            <a:srgbClr val="FFF3E0"/>
          </a:solidFill>
          <a:ln w="9525">
            <a:solidFill>
              <a:srgbClr val="DDDDDD"/>
            </a:solidFill>
          </a:ln>
        </p:spPr>
        <p:txBody>
          <a:bodyPr wrap="square" rtlCol="0" anchor="ctr"/>
          <a:lstStyle/>
          <a:p>
            <a:pPr marL="0" indent="0">
              <a:buNone/>
            </a:pPr>
            <a:endParaRPr lang="en-US" dirty="0"/>
          </a:p>
        </p:txBody>
      </p:sp>
      <p:sp>
        <p:nvSpPr>
          <p:cNvPr id="23" name="Text 21"/>
          <p:cNvSpPr/>
          <p:nvPr/>
        </p:nvSpPr>
        <p:spPr>
          <a:xfrm>
            <a:off x="2318445" y="1431429"/>
            <a:ext cx="1185898" cy="95250"/>
          </a:xfrm>
          <a:prstGeom prst="rect">
            <a:avLst/>
          </a:prstGeom>
          <a:noFill/>
          <a:ln/>
        </p:spPr>
        <p:txBody>
          <a:bodyPr wrap="square" lIns="0" tIns="0" rIns="0" bIns="0" rtlCol="0" anchor="t"/>
          <a:lstStyle/>
          <a:p>
            <a:pPr marL="0" indent="0" algn="l">
              <a:buNone/>
            </a:pPr>
            <a:r>
              <a:rPr lang="en-US" sz="700" dirty="0">
                <a:solidFill>
                  <a:srgbClr val="E65100"/>
                </a:solidFill>
                <a:latin typeface="Arial" pitchFamily="34" charset="0"/>
                <a:ea typeface="Arial" pitchFamily="34" charset="-122"/>
                <a:cs typeface="Arial" pitchFamily="34" charset="-120"/>
              </a:rPr>
              <a:t>1999</a:t>
            </a:r>
            <a:endParaRPr lang="en-US" sz="700" dirty="0"/>
          </a:p>
        </p:txBody>
      </p:sp>
      <p:sp>
        <p:nvSpPr>
          <p:cNvPr id="24" name="Text 22"/>
          <p:cNvSpPr/>
          <p:nvPr/>
        </p:nvSpPr>
        <p:spPr>
          <a:xfrm>
            <a:off x="3554016" y="1383804"/>
            <a:ext cx="1308646" cy="190500"/>
          </a:xfrm>
          <a:prstGeom prst="rect">
            <a:avLst/>
          </a:prstGeom>
          <a:solidFill>
            <a:srgbClr val="FFF3E0"/>
          </a:solidFill>
          <a:ln w="9525">
            <a:solidFill>
              <a:srgbClr val="DDDDDD"/>
            </a:solidFill>
          </a:ln>
        </p:spPr>
        <p:txBody>
          <a:bodyPr wrap="square" rtlCol="0" anchor="ctr"/>
          <a:lstStyle/>
          <a:p>
            <a:pPr marL="0" indent="0">
              <a:buNone/>
            </a:pPr>
            <a:endParaRPr lang="en-US" dirty="0"/>
          </a:p>
        </p:txBody>
      </p:sp>
      <p:sp>
        <p:nvSpPr>
          <p:cNvPr id="25" name="Text 23"/>
          <p:cNvSpPr/>
          <p:nvPr/>
        </p:nvSpPr>
        <p:spPr>
          <a:xfrm>
            <a:off x="3626941" y="1431429"/>
            <a:ext cx="1186050" cy="95250"/>
          </a:xfrm>
          <a:prstGeom prst="rect">
            <a:avLst/>
          </a:prstGeom>
          <a:noFill/>
          <a:ln/>
        </p:spPr>
        <p:txBody>
          <a:bodyPr wrap="square" lIns="0" tIns="0" rIns="0" bIns="0" rtlCol="0" anchor="t"/>
          <a:lstStyle/>
          <a:p>
            <a:pPr marL="0" indent="0" algn="l">
              <a:buNone/>
            </a:pPr>
            <a:r>
              <a:rPr lang="en-US" sz="700" dirty="0">
                <a:solidFill>
                  <a:srgbClr val="E65100"/>
                </a:solidFill>
                <a:latin typeface="Arial" pitchFamily="34" charset="0"/>
                <a:ea typeface="Arial" pitchFamily="34" charset="-122"/>
                <a:cs typeface="Arial" pitchFamily="34" charset="-120"/>
              </a:rPr>
              <a:t>2009</a:t>
            </a:r>
            <a:endParaRPr lang="en-US" sz="700" dirty="0"/>
          </a:p>
        </p:txBody>
      </p:sp>
      <p:sp>
        <p:nvSpPr>
          <p:cNvPr id="26" name="Text 24"/>
          <p:cNvSpPr/>
          <p:nvPr/>
        </p:nvSpPr>
        <p:spPr>
          <a:xfrm>
            <a:off x="4862661" y="1383804"/>
            <a:ext cx="1308497" cy="190500"/>
          </a:xfrm>
          <a:prstGeom prst="rect">
            <a:avLst/>
          </a:prstGeom>
          <a:solidFill>
            <a:srgbClr val="FFF8E1"/>
          </a:solidFill>
          <a:ln w="9525">
            <a:solidFill>
              <a:srgbClr val="DDDDDD"/>
            </a:solidFill>
          </a:ln>
        </p:spPr>
        <p:txBody>
          <a:bodyPr wrap="square" rtlCol="0" anchor="ctr"/>
          <a:lstStyle/>
          <a:p>
            <a:pPr marL="0" indent="0">
              <a:buNone/>
            </a:pPr>
            <a:endParaRPr lang="en-US" dirty="0"/>
          </a:p>
        </p:txBody>
      </p:sp>
      <p:sp>
        <p:nvSpPr>
          <p:cNvPr id="27" name="Text 25"/>
          <p:cNvSpPr/>
          <p:nvPr/>
        </p:nvSpPr>
        <p:spPr>
          <a:xfrm>
            <a:off x="4935587" y="1431429"/>
            <a:ext cx="1185898" cy="95250"/>
          </a:xfrm>
          <a:prstGeom prst="rect">
            <a:avLst/>
          </a:prstGeom>
          <a:noFill/>
          <a:ln/>
        </p:spPr>
        <p:txBody>
          <a:bodyPr wrap="square" lIns="0" tIns="0" rIns="0" bIns="0" rtlCol="0" anchor="t"/>
          <a:lstStyle/>
          <a:p>
            <a:pPr marL="0" indent="0" algn="l">
              <a:buNone/>
            </a:pPr>
            <a:r>
              <a:rPr lang="en-US" sz="700" dirty="0">
                <a:solidFill>
                  <a:srgbClr val="F9A825"/>
                </a:solidFill>
                <a:latin typeface="Arial" pitchFamily="34" charset="0"/>
                <a:ea typeface="Arial" pitchFamily="34" charset="-122"/>
                <a:cs typeface="Arial" pitchFamily="34" charset="-120"/>
              </a:rPr>
              <a:t>2012</a:t>
            </a:r>
            <a:endParaRPr lang="en-US" sz="700" dirty="0"/>
          </a:p>
        </p:txBody>
      </p:sp>
      <p:sp>
        <p:nvSpPr>
          <p:cNvPr id="28" name="Text 26"/>
          <p:cNvSpPr/>
          <p:nvPr/>
        </p:nvSpPr>
        <p:spPr>
          <a:xfrm>
            <a:off x="6171158" y="1383804"/>
            <a:ext cx="1308646" cy="190500"/>
          </a:xfrm>
          <a:prstGeom prst="rect">
            <a:avLst/>
          </a:prstGeom>
          <a:solidFill>
            <a:srgbClr val="FFF8E1"/>
          </a:solidFill>
          <a:ln w="9525">
            <a:solidFill>
              <a:srgbClr val="DDDDDD"/>
            </a:solidFill>
          </a:ln>
        </p:spPr>
        <p:txBody>
          <a:bodyPr wrap="square" rtlCol="0" anchor="ctr"/>
          <a:lstStyle/>
          <a:p>
            <a:pPr marL="0" indent="0">
              <a:buNone/>
            </a:pPr>
            <a:endParaRPr lang="en-US" dirty="0"/>
          </a:p>
        </p:txBody>
      </p:sp>
      <p:sp>
        <p:nvSpPr>
          <p:cNvPr id="29" name="Text 27"/>
          <p:cNvSpPr/>
          <p:nvPr/>
        </p:nvSpPr>
        <p:spPr>
          <a:xfrm>
            <a:off x="6244084" y="1431429"/>
            <a:ext cx="1186050" cy="95250"/>
          </a:xfrm>
          <a:prstGeom prst="rect">
            <a:avLst/>
          </a:prstGeom>
          <a:noFill/>
          <a:ln/>
        </p:spPr>
        <p:txBody>
          <a:bodyPr wrap="square" lIns="0" tIns="0" rIns="0" bIns="0" rtlCol="0" anchor="t"/>
          <a:lstStyle/>
          <a:p>
            <a:pPr marL="0" indent="0" algn="l">
              <a:buNone/>
            </a:pPr>
            <a:r>
              <a:rPr lang="en-US" sz="700" dirty="0">
                <a:solidFill>
                  <a:srgbClr val="F9A825"/>
                </a:solidFill>
                <a:latin typeface="Arial" pitchFamily="34" charset="0"/>
                <a:ea typeface="Arial" pitchFamily="34" charset="-122"/>
                <a:cs typeface="Arial" pitchFamily="34" charset="-120"/>
              </a:rPr>
              <a:t>2015</a:t>
            </a:r>
            <a:endParaRPr lang="en-US" sz="700" dirty="0"/>
          </a:p>
        </p:txBody>
      </p:sp>
      <p:sp>
        <p:nvSpPr>
          <p:cNvPr id="30" name="Text 28"/>
          <p:cNvSpPr/>
          <p:nvPr/>
        </p:nvSpPr>
        <p:spPr>
          <a:xfrm>
            <a:off x="7479804" y="1383804"/>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31" name="Text 29"/>
          <p:cNvSpPr/>
          <p:nvPr/>
        </p:nvSpPr>
        <p:spPr>
          <a:xfrm>
            <a:off x="7552730" y="1431429"/>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2017</a:t>
            </a:r>
            <a:endParaRPr lang="en-US" sz="700" dirty="0"/>
          </a:p>
        </p:txBody>
      </p:sp>
      <p:sp>
        <p:nvSpPr>
          <p:cNvPr id="32" name="Text 30"/>
          <p:cNvSpPr/>
          <p:nvPr/>
        </p:nvSpPr>
        <p:spPr>
          <a:xfrm>
            <a:off x="355550" y="1625054"/>
            <a:ext cx="1889968" cy="190500"/>
          </a:xfrm>
          <a:prstGeom prst="rect">
            <a:avLst/>
          </a:prstGeom>
          <a:noFill/>
          <a:ln w="9525">
            <a:solidFill>
              <a:srgbClr val="DDDDDD"/>
            </a:solidFill>
          </a:ln>
        </p:spPr>
        <p:txBody>
          <a:bodyPr wrap="square" rtlCol="0" anchor="ctr"/>
          <a:lstStyle/>
          <a:p>
            <a:pPr marL="0" indent="0">
              <a:buNone/>
            </a:pPr>
            <a:endParaRPr lang="en-US" dirty="0"/>
          </a:p>
        </p:txBody>
      </p:sp>
      <p:sp>
        <p:nvSpPr>
          <p:cNvPr id="33" name="Text 31"/>
          <p:cNvSpPr/>
          <p:nvPr/>
        </p:nvSpPr>
        <p:spPr>
          <a:xfrm>
            <a:off x="428476" y="1672679"/>
            <a:ext cx="1778999"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Real Network Traffic</a:t>
            </a:r>
            <a:endParaRPr lang="en-US" sz="700" dirty="0"/>
          </a:p>
        </p:txBody>
      </p:sp>
      <p:sp>
        <p:nvSpPr>
          <p:cNvPr id="34" name="Text 32"/>
          <p:cNvSpPr/>
          <p:nvPr/>
        </p:nvSpPr>
        <p:spPr>
          <a:xfrm>
            <a:off x="2245519" y="1625054"/>
            <a:ext cx="1308497" cy="190500"/>
          </a:xfrm>
          <a:prstGeom prst="rect">
            <a:avLst/>
          </a:prstGeom>
          <a:solidFill>
            <a:srgbClr val="FFF3E0"/>
          </a:solidFill>
          <a:ln w="9525">
            <a:solidFill>
              <a:srgbClr val="DDDDDD"/>
            </a:solidFill>
          </a:ln>
        </p:spPr>
        <p:txBody>
          <a:bodyPr wrap="square" rtlCol="0" anchor="ctr"/>
          <a:lstStyle/>
          <a:p>
            <a:pPr marL="0" indent="0">
              <a:buNone/>
            </a:pPr>
            <a:endParaRPr lang="en-US" dirty="0"/>
          </a:p>
        </p:txBody>
      </p:sp>
      <p:sp>
        <p:nvSpPr>
          <p:cNvPr id="35" name="Text 33"/>
          <p:cNvSpPr/>
          <p:nvPr/>
        </p:nvSpPr>
        <p:spPr>
          <a:xfrm>
            <a:off x="2318445" y="1672679"/>
            <a:ext cx="1185898" cy="95250"/>
          </a:xfrm>
          <a:prstGeom prst="rect">
            <a:avLst/>
          </a:prstGeom>
          <a:noFill/>
          <a:ln/>
        </p:spPr>
        <p:txBody>
          <a:bodyPr wrap="square" lIns="0" tIns="0" rIns="0" bIns="0" rtlCol="0" anchor="t"/>
          <a:lstStyle/>
          <a:p>
            <a:pPr marL="0" indent="0" algn="l">
              <a:buNone/>
            </a:pPr>
            <a:r>
              <a:rPr lang="en-US" sz="700" dirty="0">
                <a:solidFill>
                  <a:srgbClr val="E65100"/>
                </a:solidFill>
                <a:latin typeface="Arial" pitchFamily="34" charset="0"/>
                <a:ea typeface="Arial" pitchFamily="34" charset="-122"/>
                <a:cs typeface="Arial" pitchFamily="34" charset="-120"/>
              </a:rPr>
              <a:t>No</a:t>
            </a:r>
            <a:endParaRPr lang="en-US" sz="700" dirty="0"/>
          </a:p>
        </p:txBody>
      </p:sp>
      <p:sp>
        <p:nvSpPr>
          <p:cNvPr id="36" name="Text 34"/>
          <p:cNvSpPr/>
          <p:nvPr/>
        </p:nvSpPr>
        <p:spPr>
          <a:xfrm>
            <a:off x="3554016" y="1625054"/>
            <a:ext cx="1308646" cy="190500"/>
          </a:xfrm>
          <a:prstGeom prst="rect">
            <a:avLst/>
          </a:prstGeom>
          <a:solidFill>
            <a:srgbClr val="FFF3E0"/>
          </a:solidFill>
          <a:ln w="9525">
            <a:solidFill>
              <a:srgbClr val="DDDDDD"/>
            </a:solidFill>
          </a:ln>
        </p:spPr>
        <p:txBody>
          <a:bodyPr wrap="square" rtlCol="0" anchor="ctr"/>
          <a:lstStyle/>
          <a:p>
            <a:pPr marL="0" indent="0">
              <a:buNone/>
            </a:pPr>
            <a:endParaRPr lang="en-US" dirty="0"/>
          </a:p>
        </p:txBody>
      </p:sp>
      <p:sp>
        <p:nvSpPr>
          <p:cNvPr id="37" name="Text 35"/>
          <p:cNvSpPr/>
          <p:nvPr/>
        </p:nvSpPr>
        <p:spPr>
          <a:xfrm>
            <a:off x="3626941" y="1672679"/>
            <a:ext cx="1186050" cy="95250"/>
          </a:xfrm>
          <a:prstGeom prst="rect">
            <a:avLst/>
          </a:prstGeom>
          <a:noFill/>
          <a:ln/>
        </p:spPr>
        <p:txBody>
          <a:bodyPr wrap="square" lIns="0" tIns="0" rIns="0" bIns="0" rtlCol="0" anchor="t"/>
          <a:lstStyle/>
          <a:p>
            <a:pPr marL="0" indent="0" algn="l">
              <a:buNone/>
            </a:pPr>
            <a:r>
              <a:rPr lang="en-US" sz="700" dirty="0">
                <a:solidFill>
                  <a:srgbClr val="E65100"/>
                </a:solidFill>
                <a:latin typeface="Arial" pitchFamily="34" charset="0"/>
                <a:ea typeface="Arial" pitchFamily="34" charset="-122"/>
                <a:cs typeface="Arial" pitchFamily="34" charset="-120"/>
              </a:rPr>
              <a:t>No</a:t>
            </a:r>
            <a:endParaRPr lang="en-US" sz="700" dirty="0"/>
          </a:p>
        </p:txBody>
      </p:sp>
      <p:sp>
        <p:nvSpPr>
          <p:cNvPr id="38" name="Text 36"/>
          <p:cNvSpPr/>
          <p:nvPr/>
        </p:nvSpPr>
        <p:spPr>
          <a:xfrm>
            <a:off x="4862661" y="1625054"/>
            <a:ext cx="1308497"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39" name="Text 37"/>
          <p:cNvSpPr/>
          <p:nvPr/>
        </p:nvSpPr>
        <p:spPr>
          <a:xfrm>
            <a:off x="4935587" y="1672679"/>
            <a:ext cx="1185898"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40" name="Text 38"/>
          <p:cNvSpPr/>
          <p:nvPr/>
        </p:nvSpPr>
        <p:spPr>
          <a:xfrm>
            <a:off x="6171158" y="1625054"/>
            <a:ext cx="1308646" cy="190500"/>
          </a:xfrm>
          <a:prstGeom prst="rect">
            <a:avLst/>
          </a:prstGeom>
          <a:solidFill>
            <a:srgbClr val="FFF8E1"/>
          </a:solidFill>
          <a:ln w="9525">
            <a:solidFill>
              <a:srgbClr val="DDDDDD"/>
            </a:solidFill>
          </a:ln>
        </p:spPr>
        <p:txBody>
          <a:bodyPr wrap="square" rtlCol="0" anchor="ctr"/>
          <a:lstStyle/>
          <a:p>
            <a:pPr marL="0" indent="0">
              <a:buNone/>
            </a:pPr>
            <a:endParaRPr lang="en-US" dirty="0"/>
          </a:p>
        </p:txBody>
      </p:sp>
      <p:sp>
        <p:nvSpPr>
          <p:cNvPr id="41" name="Text 39"/>
          <p:cNvSpPr/>
          <p:nvPr/>
        </p:nvSpPr>
        <p:spPr>
          <a:xfrm>
            <a:off x="6244084" y="1672679"/>
            <a:ext cx="1186050" cy="95250"/>
          </a:xfrm>
          <a:prstGeom prst="rect">
            <a:avLst/>
          </a:prstGeom>
          <a:noFill/>
          <a:ln/>
        </p:spPr>
        <p:txBody>
          <a:bodyPr wrap="square" lIns="0" tIns="0" rIns="0" bIns="0" rtlCol="0" anchor="t"/>
          <a:lstStyle/>
          <a:p>
            <a:pPr marL="0" indent="0" algn="l">
              <a:buNone/>
            </a:pPr>
            <a:r>
              <a:rPr lang="en-US" sz="700" dirty="0">
                <a:solidFill>
                  <a:srgbClr val="F9A825"/>
                </a:solidFill>
                <a:latin typeface="Arial" pitchFamily="34" charset="0"/>
                <a:ea typeface="Arial" pitchFamily="34" charset="-122"/>
                <a:cs typeface="Arial" pitchFamily="34" charset="-120"/>
              </a:rPr>
              <a:t>Partial</a:t>
            </a:r>
            <a:endParaRPr lang="en-US" sz="700" dirty="0"/>
          </a:p>
        </p:txBody>
      </p:sp>
      <p:sp>
        <p:nvSpPr>
          <p:cNvPr id="42" name="Text 40"/>
          <p:cNvSpPr/>
          <p:nvPr/>
        </p:nvSpPr>
        <p:spPr>
          <a:xfrm>
            <a:off x="7479804" y="1625054"/>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43" name="Text 41"/>
          <p:cNvSpPr/>
          <p:nvPr/>
        </p:nvSpPr>
        <p:spPr>
          <a:xfrm>
            <a:off x="7552730" y="1672679"/>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44" name="Text 42"/>
          <p:cNvSpPr/>
          <p:nvPr/>
        </p:nvSpPr>
        <p:spPr>
          <a:xfrm>
            <a:off x="355550" y="1866305"/>
            <a:ext cx="1889968" cy="190500"/>
          </a:xfrm>
          <a:prstGeom prst="rect">
            <a:avLst/>
          </a:prstGeom>
          <a:noFill/>
          <a:ln w="9525">
            <a:solidFill>
              <a:srgbClr val="DDDDDD"/>
            </a:solidFill>
          </a:ln>
        </p:spPr>
        <p:txBody>
          <a:bodyPr wrap="square" rtlCol="0" anchor="ctr"/>
          <a:lstStyle/>
          <a:p>
            <a:pPr marL="0" indent="0">
              <a:buNone/>
            </a:pPr>
            <a:endParaRPr lang="en-US" dirty="0"/>
          </a:p>
        </p:txBody>
      </p:sp>
      <p:sp>
        <p:nvSpPr>
          <p:cNvPr id="45" name="Text 43"/>
          <p:cNvSpPr/>
          <p:nvPr/>
        </p:nvSpPr>
        <p:spPr>
          <a:xfrm>
            <a:off x="428476" y="1913930"/>
            <a:ext cx="1778999"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Complete Capture (PCAP)</a:t>
            </a:r>
            <a:endParaRPr lang="en-US" sz="700" dirty="0"/>
          </a:p>
        </p:txBody>
      </p:sp>
      <p:sp>
        <p:nvSpPr>
          <p:cNvPr id="46" name="Text 44"/>
          <p:cNvSpPr/>
          <p:nvPr/>
        </p:nvSpPr>
        <p:spPr>
          <a:xfrm>
            <a:off x="2245519" y="1866305"/>
            <a:ext cx="1308497" cy="190500"/>
          </a:xfrm>
          <a:prstGeom prst="rect">
            <a:avLst/>
          </a:prstGeom>
          <a:solidFill>
            <a:srgbClr val="FFF3E0"/>
          </a:solidFill>
          <a:ln w="9525">
            <a:solidFill>
              <a:srgbClr val="DDDDDD"/>
            </a:solidFill>
          </a:ln>
        </p:spPr>
        <p:txBody>
          <a:bodyPr wrap="square" rtlCol="0" anchor="ctr"/>
          <a:lstStyle/>
          <a:p>
            <a:pPr marL="0" indent="0">
              <a:buNone/>
            </a:pPr>
            <a:endParaRPr lang="en-US" dirty="0"/>
          </a:p>
        </p:txBody>
      </p:sp>
      <p:sp>
        <p:nvSpPr>
          <p:cNvPr id="47" name="Text 45"/>
          <p:cNvSpPr/>
          <p:nvPr/>
        </p:nvSpPr>
        <p:spPr>
          <a:xfrm>
            <a:off x="2318445" y="1913930"/>
            <a:ext cx="1185898" cy="95250"/>
          </a:xfrm>
          <a:prstGeom prst="rect">
            <a:avLst/>
          </a:prstGeom>
          <a:noFill/>
          <a:ln/>
        </p:spPr>
        <p:txBody>
          <a:bodyPr wrap="square" lIns="0" tIns="0" rIns="0" bIns="0" rtlCol="0" anchor="t"/>
          <a:lstStyle/>
          <a:p>
            <a:pPr marL="0" indent="0" algn="l">
              <a:buNone/>
            </a:pPr>
            <a:r>
              <a:rPr lang="en-US" sz="700" dirty="0">
                <a:solidFill>
                  <a:srgbClr val="E65100"/>
                </a:solidFill>
                <a:latin typeface="Arial" pitchFamily="34" charset="0"/>
                <a:ea typeface="Arial" pitchFamily="34" charset="-122"/>
                <a:cs typeface="Arial" pitchFamily="34" charset="-120"/>
              </a:rPr>
              <a:t>No</a:t>
            </a:r>
            <a:endParaRPr lang="en-US" sz="700" dirty="0"/>
          </a:p>
        </p:txBody>
      </p:sp>
      <p:sp>
        <p:nvSpPr>
          <p:cNvPr id="48" name="Text 46"/>
          <p:cNvSpPr/>
          <p:nvPr/>
        </p:nvSpPr>
        <p:spPr>
          <a:xfrm>
            <a:off x="3554016" y="1866305"/>
            <a:ext cx="1308646" cy="190500"/>
          </a:xfrm>
          <a:prstGeom prst="rect">
            <a:avLst/>
          </a:prstGeom>
          <a:solidFill>
            <a:srgbClr val="FFF3E0"/>
          </a:solidFill>
          <a:ln w="9525">
            <a:solidFill>
              <a:srgbClr val="DDDDDD"/>
            </a:solidFill>
          </a:ln>
        </p:spPr>
        <p:txBody>
          <a:bodyPr wrap="square" rtlCol="0" anchor="ctr"/>
          <a:lstStyle/>
          <a:p>
            <a:pPr marL="0" indent="0">
              <a:buNone/>
            </a:pPr>
            <a:endParaRPr lang="en-US" dirty="0"/>
          </a:p>
        </p:txBody>
      </p:sp>
      <p:sp>
        <p:nvSpPr>
          <p:cNvPr id="49" name="Text 47"/>
          <p:cNvSpPr/>
          <p:nvPr/>
        </p:nvSpPr>
        <p:spPr>
          <a:xfrm>
            <a:off x="3626941" y="1913930"/>
            <a:ext cx="1186050" cy="95250"/>
          </a:xfrm>
          <a:prstGeom prst="rect">
            <a:avLst/>
          </a:prstGeom>
          <a:noFill/>
          <a:ln/>
        </p:spPr>
        <p:txBody>
          <a:bodyPr wrap="square" lIns="0" tIns="0" rIns="0" bIns="0" rtlCol="0" anchor="t"/>
          <a:lstStyle/>
          <a:p>
            <a:pPr marL="0" indent="0" algn="l">
              <a:buNone/>
            </a:pPr>
            <a:r>
              <a:rPr lang="en-US" sz="700" dirty="0">
                <a:solidFill>
                  <a:srgbClr val="E65100"/>
                </a:solidFill>
                <a:latin typeface="Arial" pitchFamily="34" charset="0"/>
                <a:ea typeface="Arial" pitchFamily="34" charset="-122"/>
                <a:cs typeface="Arial" pitchFamily="34" charset="-120"/>
              </a:rPr>
              <a:t>No</a:t>
            </a:r>
            <a:endParaRPr lang="en-US" sz="700" dirty="0"/>
          </a:p>
        </p:txBody>
      </p:sp>
      <p:sp>
        <p:nvSpPr>
          <p:cNvPr id="50" name="Text 48"/>
          <p:cNvSpPr/>
          <p:nvPr/>
        </p:nvSpPr>
        <p:spPr>
          <a:xfrm>
            <a:off x="4862661" y="1866305"/>
            <a:ext cx="1308497"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51" name="Text 49"/>
          <p:cNvSpPr/>
          <p:nvPr/>
        </p:nvSpPr>
        <p:spPr>
          <a:xfrm>
            <a:off x="4935587" y="1913930"/>
            <a:ext cx="1185898"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52" name="Text 50"/>
          <p:cNvSpPr/>
          <p:nvPr/>
        </p:nvSpPr>
        <p:spPr>
          <a:xfrm>
            <a:off x="6171158" y="1866305"/>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53" name="Text 51"/>
          <p:cNvSpPr/>
          <p:nvPr/>
        </p:nvSpPr>
        <p:spPr>
          <a:xfrm>
            <a:off x="6244084" y="1913930"/>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54" name="Text 52"/>
          <p:cNvSpPr/>
          <p:nvPr/>
        </p:nvSpPr>
        <p:spPr>
          <a:xfrm>
            <a:off x="7479804" y="1866305"/>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55" name="Text 53"/>
          <p:cNvSpPr/>
          <p:nvPr/>
        </p:nvSpPr>
        <p:spPr>
          <a:xfrm>
            <a:off x="7552730" y="1913930"/>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56" name="Text 54"/>
          <p:cNvSpPr/>
          <p:nvPr/>
        </p:nvSpPr>
        <p:spPr>
          <a:xfrm>
            <a:off x="355550" y="2107555"/>
            <a:ext cx="1889968" cy="190500"/>
          </a:xfrm>
          <a:prstGeom prst="rect">
            <a:avLst/>
          </a:prstGeom>
          <a:noFill/>
          <a:ln w="9525">
            <a:solidFill>
              <a:srgbClr val="DDDDDD"/>
            </a:solidFill>
          </a:ln>
        </p:spPr>
        <p:txBody>
          <a:bodyPr wrap="square" rtlCol="0" anchor="ctr"/>
          <a:lstStyle/>
          <a:p>
            <a:pPr marL="0" indent="0">
              <a:buNone/>
            </a:pPr>
            <a:endParaRPr lang="en-US" dirty="0"/>
          </a:p>
        </p:txBody>
      </p:sp>
      <p:sp>
        <p:nvSpPr>
          <p:cNvPr id="57" name="Text 55"/>
          <p:cNvSpPr/>
          <p:nvPr/>
        </p:nvSpPr>
        <p:spPr>
          <a:xfrm>
            <a:off x="428476" y="2155180"/>
            <a:ext cx="1778999"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Labeled at Flow Level</a:t>
            </a:r>
            <a:endParaRPr lang="en-US" sz="700" dirty="0"/>
          </a:p>
        </p:txBody>
      </p:sp>
      <p:sp>
        <p:nvSpPr>
          <p:cNvPr id="58" name="Text 56"/>
          <p:cNvSpPr/>
          <p:nvPr/>
        </p:nvSpPr>
        <p:spPr>
          <a:xfrm>
            <a:off x="2245519" y="2107555"/>
            <a:ext cx="1308497" cy="190500"/>
          </a:xfrm>
          <a:prstGeom prst="rect">
            <a:avLst/>
          </a:prstGeom>
          <a:solidFill>
            <a:srgbClr val="FFF8E1"/>
          </a:solidFill>
          <a:ln w="9525">
            <a:solidFill>
              <a:srgbClr val="DDDDDD"/>
            </a:solidFill>
          </a:ln>
        </p:spPr>
        <p:txBody>
          <a:bodyPr wrap="square" rtlCol="0" anchor="ctr"/>
          <a:lstStyle/>
          <a:p>
            <a:pPr marL="0" indent="0">
              <a:buNone/>
            </a:pPr>
            <a:endParaRPr lang="en-US" dirty="0"/>
          </a:p>
        </p:txBody>
      </p:sp>
      <p:sp>
        <p:nvSpPr>
          <p:cNvPr id="59" name="Text 57"/>
          <p:cNvSpPr/>
          <p:nvPr/>
        </p:nvSpPr>
        <p:spPr>
          <a:xfrm>
            <a:off x="2318445" y="2155180"/>
            <a:ext cx="1185898" cy="95250"/>
          </a:xfrm>
          <a:prstGeom prst="rect">
            <a:avLst/>
          </a:prstGeom>
          <a:noFill/>
          <a:ln/>
        </p:spPr>
        <p:txBody>
          <a:bodyPr wrap="square" lIns="0" tIns="0" rIns="0" bIns="0" rtlCol="0" anchor="t"/>
          <a:lstStyle/>
          <a:p>
            <a:pPr marL="0" indent="0" algn="l">
              <a:buNone/>
            </a:pPr>
            <a:r>
              <a:rPr lang="en-US" sz="700" dirty="0">
                <a:solidFill>
                  <a:srgbClr val="F9A825"/>
                </a:solidFill>
                <a:latin typeface="Arial" pitchFamily="34" charset="0"/>
                <a:ea typeface="Arial" pitchFamily="34" charset="-122"/>
                <a:cs typeface="Arial" pitchFamily="34" charset="-120"/>
              </a:rPr>
              <a:t>Partial</a:t>
            </a:r>
            <a:endParaRPr lang="en-US" sz="700" dirty="0"/>
          </a:p>
        </p:txBody>
      </p:sp>
      <p:sp>
        <p:nvSpPr>
          <p:cNvPr id="60" name="Text 58"/>
          <p:cNvSpPr/>
          <p:nvPr/>
        </p:nvSpPr>
        <p:spPr>
          <a:xfrm>
            <a:off x="3554016" y="2107555"/>
            <a:ext cx="1308646" cy="190500"/>
          </a:xfrm>
          <a:prstGeom prst="rect">
            <a:avLst/>
          </a:prstGeom>
          <a:solidFill>
            <a:srgbClr val="FFF8E1"/>
          </a:solidFill>
          <a:ln w="9525">
            <a:solidFill>
              <a:srgbClr val="DDDDDD"/>
            </a:solidFill>
          </a:ln>
        </p:spPr>
        <p:txBody>
          <a:bodyPr wrap="square" rtlCol="0" anchor="ctr"/>
          <a:lstStyle/>
          <a:p>
            <a:pPr marL="0" indent="0">
              <a:buNone/>
            </a:pPr>
            <a:endParaRPr lang="en-US" dirty="0"/>
          </a:p>
        </p:txBody>
      </p:sp>
      <p:sp>
        <p:nvSpPr>
          <p:cNvPr id="61" name="Text 59"/>
          <p:cNvSpPr/>
          <p:nvPr/>
        </p:nvSpPr>
        <p:spPr>
          <a:xfrm>
            <a:off x="3626941" y="2155180"/>
            <a:ext cx="1186050" cy="95250"/>
          </a:xfrm>
          <a:prstGeom prst="rect">
            <a:avLst/>
          </a:prstGeom>
          <a:noFill/>
          <a:ln/>
        </p:spPr>
        <p:txBody>
          <a:bodyPr wrap="square" lIns="0" tIns="0" rIns="0" bIns="0" rtlCol="0" anchor="t"/>
          <a:lstStyle/>
          <a:p>
            <a:pPr marL="0" indent="0" algn="l">
              <a:buNone/>
            </a:pPr>
            <a:r>
              <a:rPr lang="en-US" sz="700" dirty="0">
                <a:solidFill>
                  <a:srgbClr val="F9A825"/>
                </a:solidFill>
                <a:latin typeface="Arial" pitchFamily="34" charset="0"/>
                <a:ea typeface="Arial" pitchFamily="34" charset="-122"/>
                <a:cs typeface="Arial" pitchFamily="34" charset="-120"/>
              </a:rPr>
              <a:t>Partial</a:t>
            </a:r>
            <a:endParaRPr lang="en-US" sz="700" dirty="0"/>
          </a:p>
        </p:txBody>
      </p:sp>
      <p:sp>
        <p:nvSpPr>
          <p:cNvPr id="62" name="Text 60"/>
          <p:cNvSpPr/>
          <p:nvPr/>
        </p:nvSpPr>
        <p:spPr>
          <a:xfrm>
            <a:off x="4862661" y="2107555"/>
            <a:ext cx="1308497"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63" name="Text 61"/>
          <p:cNvSpPr/>
          <p:nvPr/>
        </p:nvSpPr>
        <p:spPr>
          <a:xfrm>
            <a:off x="4935587" y="2155180"/>
            <a:ext cx="1185898"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64" name="Text 62"/>
          <p:cNvSpPr/>
          <p:nvPr/>
        </p:nvSpPr>
        <p:spPr>
          <a:xfrm>
            <a:off x="6171158" y="2107555"/>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65" name="Text 63"/>
          <p:cNvSpPr/>
          <p:nvPr/>
        </p:nvSpPr>
        <p:spPr>
          <a:xfrm>
            <a:off x="6244084" y="2155180"/>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66" name="Text 64"/>
          <p:cNvSpPr/>
          <p:nvPr/>
        </p:nvSpPr>
        <p:spPr>
          <a:xfrm>
            <a:off x="7479804" y="2107555"/>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67" name="Text 65"/>
          <p:cNvSpPr/>
          <p:nvPr/>
        </p:nvSpPr>
        <p:spPr>
          <a:xfrm>
            <a:off x="7552730" y="2155180"/>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68" name="Text 66"/>
          <p:cNvSpPr/>
          <p:nvPr/>
        </p:nvSpPr>
        <p:spPr>
          <a:xfrm>
            <a:off x="355550" y="2348805"/>
            <a:ext cx="1889968" cy="190500"/>
          </a:xfrm>
          <a:prstGeom prst="rect">
            <a:avLst/>
          </a:prstGeom>
          <a:noFill/>
          <a:ln w="9525">
            <a:solidFill>
              <a:srgbClr val="DDDDDD"/>
            </a:solidFill>
          </a:ln>
        </p:spPr>
        <p:txBody>
          <a:bodyPr wrap="square" rtlCol="0" anchor="ctr"/>
          <a:lstStyle/>
          <a:p>
            <a:pPr marL="0" indent="0">
              <a:buNone/>
            </a:pPr>
            <a:endParaRPr lang="en-US" dirty="0"/>
          </a:p>
        </p:txBody>
      </p:sp>
      <p:sp>
        <p:nvSpPr>
          <p:cNvPr id="69" name="Text 67"/>
          <p:cNvSpPr/>
          <p:nvPr/>
        </p:nvSpPr>
        <p:spPr>
          <a:xfrm>
            <a:off x="428476" y="2396430"/>
            <a:ext cx="1778999"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Diverse Attack Types</a:t>
            </a:r>
            <a:endParaRPr lang="en-US" sz="700" dirty="0"/>
          </a:p>
        </p:txBody>
      </p:sp>
      <p:sp>
        <p:nvSpPr>
          <p:cNvPr id="70" name="Text 68"/>
          <p:cNvSpPr/>
          <p:nvPr/>
        </p:nvSpPr>
        <p:spPr>
          <a:xfrm>
            <a:off x="2245519" y="2348805"/>
            <a:ext cx="1308497" cy="190500"/>
          </a:xfrm>
          <a:prstGeom prst="rect">
            <a:avLst/>
          </a:prstGeom>
          <a:solidFill>
            <a:srgbClr val="FFF8E1"/>
          </a:solidFill>
          <a:ln w="9525">
            <a:solidFill>
              <a:srgbClr val="DDDDDD"/>
            </a:solidFill>
          </a:ln>
        </p:spPr>
        <p:txBody>
          <a:bodyPr wrap="square" rtlCol="0" anchor="ctr"/>
          <a:lstStyle/>
          <a:p>
            <a:pPr marL="0" indent="0">
              <a:buNone/>
            </a:pPr>
            <a:endParaRPr lang="en-US" dirty="0"/>
          </a:p>
        </p:txBody>
      </p:sp>
      <p:sp>
        <p:nvSpPr>
          <p:cNvPr id="71" name="Text 69"/>
          <p:cNvSpPr/>
          <p:nvPr/>
        </p:nvSpPr>
        <p:spPr>
          <a:xfrm>
            <a:off x="2318445" y="2396430"/>
            <a:ext cx="1185898" cy="95250"/>
          </a:xfrm>
          <a:prstGeom prst="rect">
            <a:avLst/>
          </a:prstGeom>
          <a:noFill/>
          <a:ln/>
        </p:spPr>
        <p:txBody>
          <a:bodyPr wrap="square" lIns="0" tIns="0" rIns="0" bIns="0" rtlCol="0" anchor="t"/>
          <a:lstStyle/>
          <a:p>
            <a:pPr marL="0" indent="0" algn="l">
              <a:buNone/>
            </a:pPr>
            <a:r>
              <a:rPr lang="en-US" sz="700" dirty="0">
                <a:solidFill>
                  <a:srgbClr val="F9A825"/>
                </a:solidFill>
                <a:latin typeface="Arial" pitchFamily="34" charset="0"/>
                <a:ea typeface="Arial" pitchFamily="34" charset="-122"/>
                <a:cs typeface="Arial" pitchFamily="34" charset="-120"/>
              </a:rPr>
              <a:t>4 types</a:t>
            </a:r>
            <a:endParaRPr lang="en-US" sz="700" dirty="0"/>
          </a:p>
        </p:txBody>
      </p:sp>
      <p:sp>
        <p:nvSpPr>
          <p:cNvPr id="72" name="Text 70"/>
          <p:cNvSpPr/>
          <p:nvPr/>
        </p:nvSpPr>
        <p:spPr>
          <a:xfrm>
            <a:off x="3554016" y="2348805"/>
            <a:ext cx="1308646" cy="190500"/>
          </a:xfrm>
          <a:prstGeom prst="rect">
            <a:avLst/>
          </a:prstGeom>
          <a:solidFill>
            <a:srgbClr val="FFF8E1"/>
          </a:solidFill>
          <a:ln w="9525">
            <a:solidFill>
              <a:srgbClr val="DDDDDD"/>
            </a:solidFill>
          </a:ln>
        </p:spPr>
        <p:txBody>
          <a:bodyPr wrap="square" rtlCol="0" anchor="ctr"/>
          <a:lstStyle/>
          <a:p>
            <a:pPr marL="0" indent="0">
              <a:buNone/>
            </a:pPr>
            <a:endParaRPr lang="en-US" dirty="0"/>
          </a:p>
        </p:txBody>
      </p:sp>
      <p:sp>
        <p:nvSpPr>
          <p:cNvPr id="73" name="Text 71"/>
          <p:cNvSpPr/>
          <p:nvPr/>
        </p:nvSpPr>
        <p:spPr>
          <a:xfrm>
            <a:off x="3626941" y="2396430"/>
            <a:ext cx="1186050" cy="95250"/>
          </a:xfrm>
          <a:prstGeom prst="rect">
            <a:avLst/>
          </a:prstGeom>
          <a:noFill/>
          <a:ln/>
        </p:spPr>
        <p:txBody>
          <a:bodyPr wrap="square" lIns="0" tIns="0" rIns="0" bIns="0" rtlCol="0" anchor="t"/>
          <a:lstStyle/>
          <a:p>
            <a:pPr marL="0" indent="0" algn="l">
              <a:buNone/>
            </a:pPr>
            <a:r>
              <a:rPr lang="en-US" sz="700" dirty="0">
                <a:solidFill>
                  <a:srgbClr val="F9A825"/>
                </a:solidFill>
                <a:latin typeface="Arial" pitchFamily="34" charset="0"/>
                <a:ea typeface="Arial" pitchFamily="34" charset="-122"/>
                <a:cs typeface="Arial" pitchFamily="34" charset="-120"/>
              </a:rPr>
              <a:t>4 types</a:t>
            </a:r>
            <a:endParaRPr lang="en-US" sz="700" dirty="0"/>
          </a:p>
        </p:txBody>
      </p:sp>
      <p:sp>
        <p:nvSpPr>
          <p:cNvPr id="74" name="Text 72"/>
          <p:cNvSpPr/>
          <p:nvPr/>
        </p:nvSpPr>
        <p:spPr>
          <a:xfrm>
            <a:off x="4862661" y="2348805"/>
            <a:ext cx="1308497" cy="190500"/>
          </a:xfrm>
          <a:prstGeom prst="rect">
            <a:avLst/>
          </a:prstGeom>
          <a:solidFill>
            <a:srgbClr val="FFF8E1"/>
          </a:solidFill>
          <a:ln w="9525">
            <a:solidFill>
              <a:srgbClr val="DDDDDD"/>
            </a:solidFill>
          </a:ln>
        </p:spPr>
        <p:txBody>
          <a:bodyPr wrap="square" rtlCol="0" anchor="ctr"/>
          <a:lstStyle/>
          <a:p>
            <a:pPr marL="0" indent="0">
              <a:buNone/>
            </a:pPr>
            <a:endParaRPr lang="en-US" dirty="0"/>
          </a:p>
        </p:txBody>
      </p:sp>
      <p:sp>
        <p:nvSpPr>
          <p:cNvPr id="75" name="Text 73"/>
          <p:cNvSpPr/>
          <p:nvPr/>
        </p:nvSpPr>
        <p:spPr>
          <a:xfrm>
            <a:off x="4935587" y="2396430"/>
            <a:ext cx="1185898" cy="95250"/>
          </a:xfrm>
          <a:prstGeom prst="rect">
            <a:avLst/>
          </a:prstGeom>
          <a:noFill/>
          <a:ln/>
        </p:spPr>
        <p:txBody>
          <a:bodyPr wrap="square" lIns="0" tIns="0" rIns="0" bIns="0" rtlCol="0" anchor="t"/>
          <a:lstStyle/>
          <a:p>
            <a:pPr marL="0" indent="0" algn="l">
              <a:buNone/>
            </a:pPr>
            <a:r>
              <a:rPr lang="en-US" sz="700" dirty="0">
                <a:solidFill>
                  <a:srgbClr val="F9A825"/>
                </a:solidFill>
                <a:latin typeface="Arial" pitchFamily="34" charset="0"/>
                <a:ea typeface="Arial" pitchFamily="34" charset="-122"/>
                <a:cs typeface="Arial" pitchFamily="34" charset="-120"/>
              </a:rPr>
              <a:t>4 types</a:t>
            </a:r>
            <a:endParaRPr lang="en-US" sz="700" dirty="0"/>
          </a:p>
        </p:txBody>
      </p:sp>
      <p:sp>
        <p:nvSpPr>
          <p:cNvPr id="76" name="Text 74"/>
          <p:cNvSpPr/>
          <p:nvPr/>
        </p:nvSpPr>
        <p:spPr>
          <a:xfrm>
            <a:off x="6171158" y="2348805"/>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77" name="Text 75"/>
          <p:cNvSpPr/>
          <p:nvPr/>
        </p:nvSpPr>
        <p:spPr>
          <a:xfrm>
            <a:off x="6244084" y="2396430"/>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9 types</a:t>
            </a:r>
            <a:endParaRPr lang="en-US" sz="700" dirty="0"/>
          </a:p>
        </p:txBody>
      </p:sp>
      <p:sp>
        <p:nvSpPr>
          <p:cNvPr id="78" name="Text 76"/>
          <p:cNvSpPr/>
          <p:nvPr/>
        </p:nvSpPr>
        <p:spPr>
          <a:xfrm>
            <a:off x="7479804" y="2348805"/>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79" name="Text 77"/>
          <p:cNvSpPr/>
          <p:nvPr/>
        </p:nvSpPr>
        <p:spPr>
          <a:xfrm>
            <a:off x="7552730" y="2396430"/>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7 families</a:t>
            </a:r>
            <a:endParaRPr lang="en-US" sz="700" dirty="0"/>
          </a:p>
        </p:txBody>
      </p:sp>
      <p:sp>
        <p:nvSpPr>
          <p:cNvPr id="80" name="Text 78"/>
          <p:cNvSpPr/>
          <p:nvPr/>
        </p:nvSpPr>
        <p:spPr>
          <a:xfrm>
            <a:off x="355550" y="2590056"/>
            <a:ext cx="1889968" cy="190500"/>
          </a:xfrm>
          <a:prstGeom prst="rect">
            <a:avLst/>
          </a:prstGeom>
          <a:noFill/>
          <a:ln w="9525">
            <a:solidFill>
              <a:srgbClr val="DDDDDD"/>
            </a:solidFill>
          </a:ln>
        </p:spPr>
        <p:txBody>
          <a:bodyPr wrap="square" rtlCol="0" anchor="ctr"/>
          <a:lstStyle/>
          <a:p>
            <a:pPr marL="0" indent="0">
              <a:buNone/>
            </a:pPr>
            <a:endParaRPr lang="en-US" dirty="0"/>
          </a:p>
        </p:txBody>
      </p:sp>
      <p:sp>
        <p:nvSpPr>
          <p:cNvPr id="81" name="Text 79"/>
          <p:cNvSpPr/>
          <p:nvPr/>
        </p:nvSpPr>
        <p:spPr>
          <a:xfrm>
            <a:off x="428476" y="2637681"/>
            <a:ext cx="1778999"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Feature Extraction Tool</a:t>
            </a:r>
            <a:endParaRPr lang="en-US" sz="700" dirty="0"/>
          </a:p>
        </p:txBody>
      </p:sp>
      <p:sp>
        <p:nvSpPr>
          <p:cNvPr id="82" name="Text 80"/>
          <p:cNvSpPr/>
          <p:nvPr/>
        </p:nvSpPr>
        <p:spPr>
          <a:xfrm>
            <a:off x="2245519" y="2590056"/>
            <a:ext cx="1308497" cy="190500"/>
          </a:xfrm>
          <a:prstGeom prst="rect">
            <a:avLst/>
          </a:prstGeom>
          <a:solidFill>
            <a:srgbClr val="FFF3E0"/>
          </a:solidFill>
          <a:ln w="9525">
            <a:solidFill>
              <a:srgbClr val="DDDDDD"/>
            </a:solidFill>
          </a:ln>
        </p:spPr>
        <p:txBody>
          <a:bodyPr wrap="square" rtlCol="0" anchor="ctr"/>
          <a:lstStyle/>
          <a:p>
            <a:pPr marL="0" indent="0">
              <a:buNone/>
            </a:pPr>
            <a:endParaRPr lang="en-US" dirty="0"/>
          </a:p>
        </p:txBody>
      </p:sp>
      <p:sp>
        <p:nvSpPr>
          <p:cNvPr id="83" name="Text 81"/>
          <p:cNvSpPr/>
          <p:nvPr/>
        </p:nvSpPr>
        <p:spPr>
          <a:xfrm>
            <a:off x="2318445" y="2637681"/>
            <a:ext cx="1185898" cy="95250"/>
          </a:xfrm>
          <a:prstGeom prst="rect">
            <a:avLst/>
          </a:prstGeom>
          <a:noFill/>
          <a:ln/>
        </p:spPr>
        <p:txBody>
          <a:bodyPr wrap="square" lIns="0" tIns="0" rIns="0" bIns="0" rtlCol="0" anchor="t"/>
          <a:lstStyle/>
          <a:p>
            <a:pPr marL="0" indent="0" algn="l">
              <a:buNone/>
            </a:pPr>
            <a:r>
              <a:rPr lang="en-US" sz="700" dirty="0">
                <a:solidFill>
                  <a:srgbClr val="E65100"/>
                </a:solidFill>
                <a:latin typeface="Arial" pitchFamily="34" charset="0"/>
                <a:ea typeface="Arial" pitchFamily="34" charset="-122"/>
                <a:cs typeface="Arial" pitchFamily="34" charset="-120"/>
              </a:rPr>
              <a:t>No</a:t>
            </a:r>
            <a:endParaRPr lang="en-US" sz="700" dirty="0"/>
          </a:p>
        </p:txBody>
      </p:sp>
      <p:sp>
        <p:nvSpPr>
          <p:cNvPr id="84" name="Text 82"/>
          <p:cNvSpPr/>
          <p:nvPr/>
        </p:nvSpPr>
        <p:spPr>
          <a:xfrm>
            <a:off x="3554016" y="2590056"/>
            <a:ext cx="1308646" cy="190500"/>
          </a:xfrm>
          <a:prstGeom prst="rect">
            <a:avLst/>
          </a:prstGeom>
          <a:solidFill>
            <a:srgbClr val="FFF3E0"/>
          </a:solidFill>
          <a:ln w="9525">
            <a:solidFill>
              <a:srgbClr val="DDDDDD"/>
            </a:solidFill>
          </a:ln>
        </p:spPr>
        <p:txBody>
          <a:bodyPr wrap="square" rtlCol="0" anchor="ctr"/>
          <a:lstStyle/>
          <a:p>
            <a:pPr marL="0" indent="0">
              <a:buNone/>
            </a:pPr>
            <a:endParaRPr lang="en-US" dirty="0"/>
          </a:p>
        </p:txBody>
      </p:sp>
      <p:sp>
        <p:nvSpPr>
          <p:cNvPr id="85" name="Text 83"/>
          <p:cNvSpPr/>
          <p:nvPr/>
        </p:nvSpPr>
        <p:spPr>
          <a:xfrm>
            <a:off x="3626941" y="2637681"/>
            <a:ext cx="1186050" cy="95250"/>
          </a:xfrm>
          <a:prstGeom prst="rect">
            <a:avLst/>
          </a:prstGeom>
          <a:noFill/>
          <a:ln/>
        </p:spPr>
        <p:txBody>
          <a:bodyPr wrap="square" lIns="0" tIns="0" rIns="0" bIns="0" rtlCol="0" anchor="t"/>
          <a:lstStyle/>
          <a:p>
            <a:pPr marL="0" indent="0" algn="l">
              <a:buNone/>
            </a:pPr>
            <a:r>
              <a:rPr lang="en-US" sz="700" dirty="0">
                <a:solidFill>
                  <a:srgbClr val="E65100"/>
                </a:solidFill>
                <a:latin typeface="Arial" pitchFamily="34" charset="0"/>
                <a:ea typeface="Arial" pitchFamily="34" charset="-122"/>
                <a:cs typeface="Arial" pitchFamily="34" charset="-120"/>
              </a:rPr>
              <a:t>No</a:t>
            </a:r>
            <a:endParaRPr lang="en-US" sz="700" dirty="0"/>
          </a:p>
        </p:txBody>
      </p:sp>
      <p:sp>
        <p:nvSpPr>
          <p:cNvPr id="86" name="Text 84"/>
          <p:cNvSpPr/>
          <p:nvPr/>
        </p:nvSpPr>
        <p:spPr>
          <a:xfrm>
            <a:off x="4862661" y="2590056"/>
            <a:ext cx="1308497" cy="190500"/>
          </a:xfrm>
          <a:prstGeom prst="rect">
            <a:avLst/>
          </a:prstGeom>
          <a:solidFill>
            <a:srgbClr val="FFF8E1"/>
          </a:solidFill>
          <a:ln w="9525">
            <a:solidFill>
              <a:srgbClr val="DDDDDD"/>
            </a:solidFill>
          </a:ln>
        </p:spPr>
        <p:txBody>
          <a:bodyPr wrap="square" rtlCol="0" anchor="ctr"/>
          <a:lstStyle/>
          <a:p>
            <a:pPr marL="0" indent="0">
              <a:buNone/>
            </a:pPr>
            <a:endParaRPr lang="en-US" dirty="0"/>
          </a:p>
        </p:txBody>
      </p:sp>
      <p:sp>
        <p:nvSpPr>
          <p:cNvPr id="87" name="Text 85"/>
          <p:cNvSpPr/>
          <p:nvPr/>
        </p:nvSpPr>
        <p:spPr>
          <a:xfrm>
            <a:off x="4935587" y="2637681"/>
            <a:ext cx="1185898" cy="95250"/>
          </a:xfrm>
          <a:prstGeom prst="rect">
            <a:avLst/>
          </a:prstGeom>
          <a:noFill/>
          <a:ln/>
        </p:spPr>
        <p:txBody>
          <a:bodyPr wrap="square" lIns="0" tIns="0" rIns="0" bIns="0" rtlCol="0" anchor="t"/>
          <a:lstStyle/>
          <a:p>
            <a:pPr marL="0" indent="0" algn="l">
              <a:buNone/>
            </a:pPr>
            <a:r>
              <a:rPr lang="en-US" sz="700" dirty="0">
                <a:solidFill>
                  <a:srgbClr val="F9A825"/>
                </a:solidFill>
                <a:latin typeface="Arial" pitchFamily="34" charset="0"/>
                <a:ea typeface="Arial" pitchFamily="34" charset="-122"/>
                <a:cs typeface="Arial" pitchFamily="34" charset="-120"/>
              </a:rPr>
              <a:t>ISCXFlowMeter</a:t>
            </a:r>
            <a:endParaRPr lang="en-US" sz="700" dirty="0"/>
          </a:p>
        </p:txBody>
      </p:sp>
      <p:sp>
        <p:nvSpPr>
          <p:cNvPr id="88" name="Text 86"/>
          <p:cNvSpPr/>
          <p:nvPr/>
        </p:nvSpPr>
        <p:spPr>
          <a:xfrm>
            <a:off x="6171158" y="2590056"/>
            <a:ext cx="1308646" cy="190500"/>
          </a:xfrm>
          <a:prstGeom prst="rect">
            <a:avLst/>
          </a:prstGeom>
          <a:solidFill>
            <a:srgbClr val="FFF8E1"/>
          </a:solidFill>
          <a:ln w="9525">
            <a:solidFill>
              <a:srgbClr val="DDDDDD"/>
            </a:solidFill>
          </a:ln>
        </p:spPr>
        <p:txBody>
          <a:bodyPr wrap="square" rtlCol="0" anchor="ctr"/>
          <a:lstStyle/>
          <a:p>
            <a:pPr marL="0" indent="0">
              <a:buNone/>
            </a:pPr>
            <a:endParaRPr lang="en-US" dirty="0"/>
          </a:p>
        </p:txBody>
      </p:sp>
      <p:sp>
        <p:nvSpPr>
          <p:cNvPr id="89" name="Text 87"/>
          <p:cNvSpPr/>
          <p:nvPr/>
        </p:nvSpPr>
        <p:spPr>
          <a:xfrm>
            <a:off x="6244084" y="2637681"/>
            <a:ext cx="1186050" cy="95250"/>
          </a:xfrm>
          <a:prstGeom prst="rect">
            <a:avLst/>
          </a:prstGeom>
          <a:noFill/>
          <a:ln/>
        </p:spPr>
        <p:txBody>
          <a:bodyPr wrap="square" lIns="0" tIns="0" rIns="0" bIns="0" rtlCol="0" anchor="t"/>
          <a:lstStyle/>
          <a:p>
            <a:pPr marL="0" indent="0" algn="l">
              <a:buNone/>
            </a:pPr>
            <a:r>
              <a:rPr lang="en-US" sz="700" dirty="0">
                <a:solidFill>
                  <a:srgbClr val="F9A825"/>
                </a:solidFill>
                <a:latin typeface="Arial" pitchFamily="34" charset="0"/>
                <a:ea typeface="Arial" pitchFamily="34" charset="-122"/>
                <a:cs typeface="Arial" pitchFamily="34" charset="-120"/>
              </a:rPr>
              <a:t>Argus</a:t>
            </a:r>
            <a:endParaRPr lang="en-US" sz="700" dirty="0"/>
          </a:p>
        </p:txBody>
      </p:sp>
      <p:sp>
        <p:nvSpPr>
          <p:cNvPr id="90" name="Text 88"/>
          <p:cNvSpPr/>
          <p:nvPr/>
        </p:nvSpPr>
        <p:spPr>
          <a:xfrm>
            <a:off x="7479804" y="2590056"/>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91" name="Text 89"/>
          <p:cNvSpPr/>
          <p:nvPr/>
        </p:nvSpPr>
        <p:spPr>
          <a:xfrm>
            <a:off x="7552730" y="2637681"/>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CICFlowMeter</a:t>
            </a:r>
            <a:endParaRPr lang="en-US" sz="700" dirty="0"/>
          </a:p>
        </p:txBody>
      </p:sp>
      <p:sp>
        <p:nvSpPr>
          <p:cNvPr id="92" name="Text 90"/>
          <p:cNvSpPr/>
          <p:nvPr/>
        </p:nvSpPr>
        <p:spPr>
          <a:xfrm>
            <a:off x="355550" y="2831306"/>
            <a:ext cx="1889968" cy="190500"/>
          </a:xfrm>
          <a:prstGeom prst="rect">
            <a:avLst/>
          </a:prstGeom>
          <a:noFill/>
          <a:ln w="9525">
            <a:solidFill>
              <a:srgbClr val="DDDDDD"/>
            </a:solidFill>
          </a:ln>
        </p:spPr>
        <p:txBody>
          <a:bodyPr wrap="square" rtlCol="0" anchor="ctr"/>
          <a:lstStyle/>
          <a:p>
            <a:pPr marL="0" indent="0">
              <a:buNone/>
            </a:pPr>
            <a:endParaRPr lang="en-US" dirty="0"/>
          </a:p>
        </p:txBody>
      </p:sp>
      <p:sp>
        <p:nvSpPr>
          <p:cNvPr id="93" name="Text 91"/>
          <p:cNvSpPr/>
          <p:nvPr/>
        </p:nvSpPr>
        <p:spPr>
          <a:xfrm>
            <a:off x="428476" y="2878931"/>
            <a:ext cx="1778999"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Publicly Available</a:t>
            </a:r>
            <a:endParaRPr lang="en-US" sz="700" dirty="0"/>
          </a:p>
        </p:txBody>
      </p:sp>
      <p:sp>
        <p:nvSpPr>
          <p:cNvPr id="94" name="Text 92"/>
          <p:cNvSpPr/>
          <p:nvPr/>
        </p:nvSpPr>
        <p:spPr>
          <a:xfrm>
            <a:off x="2245519" y="2831306"/>
            <a:ext cx="1308497"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95" name="Text 93"/>
          <p:cNvSpPr/>
          <p:nvPr/>
        </p:nvSpPr>
        <p:spPr>
          <a:xfrm>
            <a:off x="2318445" y="2878931"/>
            <a:ext cx="1185898"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96" name="Text 94"/>
          <p:cNvSpPr/>
          <p:nvPr/>
        </p:nvSpPr>
        <p:spPr>
          <a:xfrm>
            <a:off x="3554016" y="2831306"/>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97" name="Text 95"/>
          <p:cNvSpPr/>
          <p:nvPr/>
        </p:nvSpPr>
        <p:spPr>
          <a:xfrm>
            <a:off x="3626941" y="2878931"/>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98" name="Text 96"/>
          <p:cNvSpPr/>
          <p:nvPr/>
        </p:nvSpPr>
        <p:spPr>
          <a:xfrm>
            <a:off x="4862661" y="2831306"/>
            <a:ext cx="1308497"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99" name="Text 97"/>
          <p:cNvSpPr/>
          <p:nvPr/>
        </p:nvSpPr>
        <p:spPr>
          <a:xfrm>
            <a:off x="4935587" y="2878931"/>
            <a:ext cx="1185898"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100" name="Text 98"/>
          <p:cNvSpPr/>
          <p:nvPr/>
        </p:nvSpPr>
        <p:spPr>
          <a:xfrm>
            <a:off x="6171158" y="2831306"/>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101" name="Text 99"/>
          <p:cNvSpPr/>
          <p:nvPr/>
        </p:nvSpPr>
        <p:spPr>
          <a:xfrm>
            <a:off x="6244084" y="2878931"/>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102" name="Text 100"/>
          <p:cNvSpPr/>
          <p:nvPr/>
        </p:nvSpPr>
        <p:spPr>
          <a:xfrm>
            <a:off x="7479804" y="2831306"/>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103" name="Text 101"/>
          <p:cNvSpPr/>
          <p:nvPr/>
        </p:nvSpPr>
        <p:spPr>
          <a:xfrm>
            <a:off x="7552730" y="2878931"/>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104" name="Text 102"/>
          <p:cNvSpPr/>
          <p:nvPr/>
        </p:nvSpPr>
        <p:spPr>
          <a:xfrm>
            <a:off x="355550" y="3072557"/>
            <a:ext cx="1889968" cy="190500"/>
          </a:xfrm>
          <a:prstGeom prst="rect">
            <a:avLst/>
          </a:prstGeom>
          <a:noFill/>
          <a:ln w="9525">
            <a:solidFill>
              <a:srgbClr val="DDDDDD"/>
            </a:solidFill>
          </a:ln>
        </p:spPr>
        <p:txBody>
          <a:bodyPr wrap="square" rtlCol="0" anchor="ctr"/>
          <a:lstStyle/>
          <a:p>
            <a:pPr marL="0" indent="0">
              <a:buNone/>
            </a:pPr>
            <a:endParaRPr lang="en-US" dirty="0"/>
          </a:p>
        </p:txBody>
      </p:sp>
      <p:sp>
        <p:nvSpPr>
          <p:cNvPr id="105" name="Text 103"/>
          <p:cNvSpPr/>
          <p:nvPr/>
        </p:nvSpPr>
        <p:spPr>
          <a:xfrm>
            <a:off x="428476" y="3120182"/>
            <a:ext cx="1778999"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Benign Traffic Profile</a:t>
            </a:r>
            <a:endParaRPr lang="en-US" sz="700" dirty="0"/>
          </a:p>
        </p:txBody>
      </p:sp>
      <p:sp>
        <p:nvSpPr>
          <p:cNvPr id="106" name="Text 104"/>
          <p:cNvSpPr/>
          <p:nvPr/>
        </p:nvSpPr>
        <p:spPr>
          <a:xfrm>
            <a:off x="2245519" y="3072557"/>
            <a:ext cx="1308497" cy="190500"/>
          </a:xfrm>
          <a:prstGeom prst="rect">
            <a:avLst/>
          </a:prstGeom>
          <a:solidFill>
            <a:srgbClr val="FFF3E0"/>
          </a:solidFill>
          <a:ln w="9525">
            <a:solidFill>
              <a:srgbClr val="DDDDDD"/>
            </a:solidFill>
          </a:ln>
        </p:spPr>
        <p:txBody>
          <a:bodyPr wrap="square" rtlCol="0" anchor="ctr"/>
          <a:lstStyle/>
          <a:p>
            <a:pPr marL="0" indent="0">
              <a:buNone/>
            </a:pPr>
            <a:endParaRPr lang="en-US" dirty="0"/>
          </a:p>
        </p:txBody>
      </p:sp>
      <p:sp>
        <p:nvSpPr>
          <p:cNvPr id="107" name="Text 105"/>
          <p:cNvSpPr/>
          <p:nvPr/>
        </p:nvSpPr>
        <p:spPr>
          <a:xfrm>
            <a:off x="2318445" y="3120182"/>
            <a:ext cx="1185898" cy="95250"/>
          </a:xfrm>
          <a:prstGeom prst="rect">
            <a:avLst/>
          </a:prstGeom>
          <a:noFill/>
          <a:ln/>
        </p:spPr>
        <p:txBody>
          <a:bodyPr wrap="square" lIns="0" tIns="0" rIns="0" bIns="0" rtlCol="0" anchor="t"/>
          <a:lstStyle/>
          <a:p>
            <a:pPr marL="0" indent="0" algn="l">
              <a:buNone/>
            </a:pPr>
            <a:r>
              <a:rPr lang="en-US" sz="700" dirty="0">
                <a:solidFill>
                  <a:srgbClr val="E65100"/>
                </a:solidFill>
                <a:latin typeface="Arial" pitchFamily="34" charset="0"/>
                <a:ea typeface="Arial" pitchFamily="34" charset="-122"/>
                <a:cs typeface="Arial" pitchFamily="34" charset="-120"/>
              </a:rPr>
              <a:t>No</a:t>
            </a:r>
            <a:endParaRPr lang="en-US" sz="700" dirty="0"/>
          </a:p>
        </p:txBody>
      </p:sp>
      <p:sp>
        <p:nvSpPr>
          <p:cNvPr id="108" name="Text 106"/>
          <p:cNvSpPr/>
          <p:nvPr/>
        </p:nvSpPr>
        <p:spPr>
          <a:xfrm>
            <a:off x="3554016" y="3072557"/>
            <a:ext cx="1308646" cy="190500"/>
          </a:xfrm>
          <a:prstGeom prst="rect">
            <a:avLst/>
          </a:prstGeom>
          <a:solidFill>
            <a:srgbClr val="FFF3E0"/>
          </a:solidFill>
          <a:ln w="9525">
            <a:solidFill>
              <a:srgbClr val="DDDDDD"/>
            </a:solidFill>
          </a:ln>
        </p:spPr>
        <p:txBody>
          <a:bodyPr wrap="square" rtlCol="0" anchor="ctr"/>
          <a:lstStyle/>
          <a:p>
            <a:pPr marL="0" indent="0">
              <a:buNone/>
            </a:pPr>
            <a:endParaRPr lang="en-US" dirty="0"/>
          </a:p>
        </p:txBody>
      </p:sp>
      <p:sp>
        <p:nvSpPr>
          <p:cNvPr id="109" name="Text 107"/>
          <p:cNvSpPr/>
          <p:nvPr/>
        </p:nvSpPr>
        <p:spPr>
          <a:xfrm>
            <a:off x="3626941" y="3120182"/>
            <a:ext cx="1186050" cy="95250"/>
          </a:xfrm>
          <a:prstGeom prst="rect">
            <a:avLst/>
          </a:prstGeom>
          <a:noFill/>
          <a:ln/>
        </p:spPr>
        <p:txBody>
          <a:bodyPr wrap="square" lIns="0" tIns="0" rIns="0" bIns="0" rtlCol="0" anchor="t"/>
          <a:lstStyle/>
          <a:p>
            <a:pPr marL="0" indent="0" algn="l">
              <a:buNone/>
            </a:pPr>
            <a:r>
              <a:rPr lang="en-US" sz="700" dirty="0">
                <a:solidFill>
                  <a:srgbClr val="E65100"/>
                </a:solidFill>
                <a:latin typeface="Arial" pitchFamily="34" charset="0"/>
                <a:ea typeface="Arial" pitchFamily="34" charset="-122"/>
                <a:cs typeface="Arial" pitchFamily="34" charset="-120"/>
              </a:rPr>
              <a:t>No</a:t>
            </a:r>
            <a:endParaRPr lang="en-US" sz="700" dirty="0"/>
          </a:p>
        </p:txBody>
      </p:sp>
      <p:sp>
        <p:nvSpPr>
          <p:cNvPr id="110" name="Text 108"/>
          <p:cNvSpPr/>
          <p:nvPr/>
        </p:nvSpPr>
        <p:spPr>
          <a:xfrm>
            <a:off x="4862661" y="3072557"/>
            <a:ext cx="1308497"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111" name="Text 109"/>
          <p:cNvSpPr/>
          <p:nvPr/>
        </p:nvSpPr>
        <p:spPr>
          <a:xfrm>
            <a:off x="4935587" y="3120182"/>
            <a:ext cx="1185898"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Yes</a:t>
            </a:r>
            <a:endParaRPr lang="en-US" sz="700" dirty="0"/>
          </a:p>
        </p:txBody>
      </p:sp>
      <p:sp>
        <p:nvSpPr>
          <p:cNvPr id="112" name="Text 110"/>
          <p:cNvSpPr/>
          <p:nvPr/>
        </p:nvSpPr>
        <p:spPr>
          <a:xfrm>
            <a:off x="6171158" y="3072557"/>
            <a:ext cx="1308646" cy="190500"/>
          </a:xfrm>
          <a:prstGeom prst="rect">
            <a:avLst/>
          </a:prstGeom>
          <a:solidFill>
            <a:srgbClr val="FFF3E0"/>
          </a:solidFill>
          <a:ln w="9525">
            <a:solidFill>
              <a:srgbClr val="DDDDDD"/>
            </a:solidFill>
          </a:ln>
        </p:spPr>
        <p:txBody>
          <a:bodyPr wrap="square" rtlCol="0" anchor="ctr"/>
          <a:lstStyle/>
          <a:p>
            <a:pPr marL="0" indent="0">
              <a:buNone/>
            </a:pPr>
            <a:endParaRPr lang="en-US" dirty="0"/>
          </a:p>
        </p:txBody>
      </p:sp>
      <p:sp>
        <p:nvSpPr>
          <p:cNvPr id="113" name="Text 111"/>
          <p:cNvSpPr/>
          <p:nvPr/>
        </p:nvSpPr>
        <p:spPr>
          <a:xfrm>
            <a:off x="6244084" y="3120182"/>
            <a:ext cx="1186050" cy="95250"/>
          </a:xfrm>
          <a:prstGeom prst="rect">
            <a:avLst/>
          </a:prstGeom>
          <a:noFill/>
          <a:ln/>
        </p:spPr>
        <p:txBody>
          <a:bodyPr wrap="square" lIns="0" tIns="0" rIns="0" bIns="0" rtlCol="0" anchor="t"/>
          <a:lstStyle/>
          <a:p>
            <a:pPr marL="0" indent="0" algn="l">
              <a:buNone/>
            </a:pPr>
            <a:r>
              <a:rPr lang="en-US" sz="700" dirty="0">
                <a:solidFill>
                  <a:srgbClr val="E65100"/>
                </a:solidFill>
                <a:latin typeface="Arial" pitchFamily="34" charset="0"/>
                <a:ea typeface="Arial" pitchFamily="34" charset="-122"/>
                <a:cs typeface="Arial" pitchFamily="34" charset="-120"/>
              </a:rPr>
              <a:t>No</a:t>
            </a:r>
            <a:endParaRPr lang="en-US" sz="700" dirty="0"/>
          </a:p>
        </p:txBody>
      </p:sp>
      <p:sp>
        <p:nvSpPr>
          <p:cNvPr id="114" name="Text 112"/>
          <p:cNvSpPr/>
          <p:nvPr/>
        </p:nvSpPr>
        <p:spPr>
          <a:xfrm>
            <a:off x="7479804" y="3072557"/>
            <a:ext cx="1308646" cy="190500"/>
          </a:xfrm>
          <a:prstGeom prst="rect">
            <a:avLst/>
          </a:prstGeom>
          <a:solidFill>
            <a:srgbClr val="E8F5E9"/>
          </a:solidFill>
          <a:ln w="9525">
            <a:solidFill>
              <a:srgbClr val="DDDDDD"/>
            </a:solidFill>
          </a:ln>
        </p:spPr>
        <p:txBody>
          <a:bodyPr wrap="square" rtlCol="0" anchor="ctr"/>
          <a:lstStyle/>
          <a:p>
            <a:pPr marL="0" indent="0">
              <a:buNone/>
            </a:pPr>
            <a:endParaRPr lang="en-US" dirty="0"/>
          </a:p>
        </p:txBody>
      </p:sp>
      <p:sp>
        <p:nvSpPr>
          <p:cNvPr id="115" name="Text 113"/>
          <p:cNvSpPr/>
          <p:nvPr/>
        </p:nvSpPr>
        <p:spPr>
          <a:xfrm>
            <a:off x="7552730" y="3120182"/>
            <a:ext cx="118605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B-Profile</a:t>
            </a:r>
            <a:endParaRPr lang="en-US" sz="700" dirty="0"/>
          </a:p>
        </p:txBody>
      </p:sp>
      <p:sp>
        <p:nvSpPr>
          <p:cNvPr id="116" name="Text 114"/>
          <p:cNvSpPr/>
          <p:nvPr/>
        </p:nvSpPr>
        <p:spPr>
          <a:xfrm>
            <a:off x="0" y="4946749"/>
            <a:ext cx="9144000" cy="196751"/>
          </a:xfrm>
          <a:prstGeom prst="rect">
            <a:avLst/>
          </a:prstGeom>
          <a:solidFill>
            <a:srgbClr val="F0F2F5"/>
          </a:solidFill>
          <a:ln/>
        </p:spPr>
        <p:txBody>
          <a:bodyPr wrap="square" rtlCol="0" anchor="ctr"/>
          <a:lstStyle/>
          <a:p>
            <a:pPr marL="0" indent="0">
              <a:buNone/>
            </a:pPr>
            <a:endParaRPr lang="en-US" dirty="0"/>
          </a:p>
        </p:txBody>
      </p:sp>
      <p:sp>
        <p:nvSpPr>
          <p:cNvPr id="117" name="Text 115"/>
          <p:cNvSpPr/>
          <p:nvPr/>
        </p:nvSpPr>
        <p:spPr>
          <a:xfrm>
            <a:off x="355550" y="4997500"/>
            <a:ext cx="8601557" cy="95250"/>
          </a:xfrm>
          <a:prstGeom prst="rect">
            <a:avLst/>
          </a:prstGeom>
          <a:noFill/>
          <a:ln/>
        </p:spPr>
        <p:txBody>
          <a:bodyPr wrap="square" lIns="0" tIns="0" rIns="0" bIns="0" rtlCol="0" anchor="t"/>
          <a:lstStyle/>
          <a:p>
            <a:pPr marL="0" indent="0" algn="l">
              <a:buNone/>
            </a:pPr>
            <a:r>
              <a:rPr lang="en-US" sz="700" dirty="0">
                <a:solidFill>
                  <a:srgbClr val="888888"/>
                </a:solidFill>
                <a:latin typeface="Arial" pitchFamily="34" charset="0"/>
                <a:ea typeface="Arial" pitchFamily="34" charset="-122"/>
                <a:cs typeface="Arial" pitchFamily="34" charset="-120"/>
              </a:rPr>
              <a:t>Ring, M., Wunderlich, S., Scheuring, D., Landes, D., &amp; Hotho, A. (2019). A survey of network-based intrusion detection data sets. Computers &amp; Security, 86, 100-126.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4011894"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CIC-IDS2017: Dataset Architecture</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355550" y="749201"/>
            <a:ext cx="4197096" cy="152400"/>
          </a:xfrm>
          <a:prstGeom prst="rect">
            <a:avLst/>
          </a:prstGeom>
          <a:noFill/>
          <a:ln/>
        </p:spPr>
        <p:txBody>
          <a:bodyPr wrap="square" lIns="0" tIns="0" rIns="0" bIns="0" rtlCol="0" anchor="t"/>
          <a:lstStyle/>
          <a:p>
            <a:pPr marL="0" indent="0" algn="l">
              <a:spcAft>
                <a:spcPts val="400"/>
              </a:spcAft>
              <a:buNone/>
            </a:pPr>
            <a:r>
              <a:rPr lang="en-US" sz="1100" b="1" dirty="0">
                <a:solidFill>
                  <a:srgbClr val="003C71"/>
                </a:solidFill>
                <a:latin typeface="Arial" pitchFamily="34" charset="0"/>
                <a:ea typeface="Arial" pitchFamily="34" charset="-122"/>
                <a:cs typeface="Arial" pitchFamily="34" charset="-120"/>
              </a:rPr>
              <a:t>Attack Schedule (5-Day Capture, July 2017)</a:t>
            </a:r>
            <a:endParaRPr lang="en-US" sz="1100" dirty="0"/>
          </a:p>
        </p:txBody>
      </p:sp>
      <p:sp>
        <p:nvSpPr>
          <p:cNvPr id="7" name="Text 5"/>
          <p:cNvSpPr/>
          <p:nvPr/>
        </p:nvSpPr>
        <p:spPr>
          <a:xfrm>
            <a:off x="355550" y="1003102"/>
            <a:ext cx="1091952" cy="190500"/>
          </a:xfrm>
          <a:prstGeom prst="roundRect">
            <a:avLst>
              <a:gd name="adj" fmla="val 13333"/>
            </a:avLst>
          </a:prstGeom>
          <a:solidFill>
            <a:srgbClr val="E75113"/>
          </a:solidFill>
          <a:ln/>
        </p:spPr>
        <p:txBody>
          <a:bodyPr wrap="square" rtlCol="0" anchor="ctr"/>
          <a:lstStyle/>
          <a:p>
            <a:pPr marL="0" indent="0">
              <a:buNone/>
            </a:pPr>
            <a:endParaRPr lang="en-US" dirty="0"/>
          </a:p>
        </p:txBody>
      </p:sp>
      <p:sp>
        <p:nvSpPr>
          <p:cNvPr id="8" name="Text 6"/>
          <p:cNvSpPr/>
          <p:nvPr/>
        </p:nvSpPr>
        <p:spPr>
          <a:xfrm>
            <a:off x="457051" y="1041202"/>
            <a:ext cx="906729" cy="114300"/>
          </a:xfrm>
          <a:prstGeom prst="rect">
            <a:avLst/>
          </a:prstGeom>
          <a:noFill/>
          <a:ln/>
        </p:spPr>
        <p:txBody>
          <a:bodyPr wrap="square" lIns="0" tIns="0" rIns="0" bIns="0" rtlCol="0" anchor="t"/>
          <a:lstStyle/>
          <a:p>
            <a:pPr marL="0" indent="0" algn="l">
              <a:buNone/>
            </a:pPr>
            <a:r>
              <a:rPr lang="en-US" sz="800" b="1" dirty="0">
                <a:solidFill>
                  <a:srgbClr val="FFFFFF"/>
                </a:solidFill>
                <a:latin typeface="Arial" pitchFamily="34" charset="0"/>
                <a:ea typeface="Arial" pitchFamily="34" charset="-122"/>
                <a:cs typeface="Arial" pitchFamily="34" charset="-120"/>
              </a:rPr>
              <a:t>Monday</a:t>
            </a:r>
            <a:endParaRPr lang="en-US" sz="800" dirty="0"/>
          </a:p>
        </p:txBody>
      </p:sp>
      <p:sp>
        <p:nvSpPr>
          <p:cNvPr id="9" name="Text 7"/>
          <p:cNvSpPr/>
          <p:nvPr/>
        </p:nvSpPr>
        <p:spPr>
          <a:xfrm>
            <a:off x="1549003" y="1003102"/>
            <a:ext cx="1304913"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Benign traffic only (baseline)</a:t>
            </a:r>
            <a:endParaRPr lang="en-US" sz="800" dirty="0"/>
          </a:p>
        </p:txBody>
      </p:sp>
      <p:sp>
        <p:nvSpPr>
          <p:cNvPr id="10" name="Text 8"/>
          <p:cNvSpPr/>
          <p:nvPr/>
        </p:nvSpPr>
        <p:spPr>
          <a:xfrm>
            <a:off x="355550" y="1282452"/>
            <a:ext cx="1091952" cy="190500"/>
          </a:xfrm>
          <a:prstGeom prst="roundRect">
            <a:avLst>
              <a:gd name="adj" fmla="val 13333"/>
            </a:avLst>
          </a:prstGeom>
          <a:solidFill>
            <a:srgbClr val="E75113"/>
          </a:solidFill>
          <a:ln/>
        </p:spPr>
        <p:txBody>
          <a:bodyPr wrap="square" rtlCol="0" anchor="ctr"/>
          <a:lstStyle/>
          <a:p>
            <a:pPr marL="0" indent="0">
              <a:buNone/>
            </a:pPr>
            <a:endParaRPr lang="en-US" dirty="0"/>
          </a:p>
        </p:txBody>
      </p:sp>
      <p:sp>
        <p:nvSpPr>
          <p:cNvPr id="11" name="Text 9"/>
          <p:cNvSpPr/>
          <p:nvPr/>
        </p:nvSpPr>
        <p:spPr>
          <a:xfrm>
            <a:off x="457051" y="1320552"/>
            <a:ext cx="906729" cy="114300"/>
          </a:xfrm>
          <a:prstGeom prst="rect">
            <a:avLst/>
          </a:prstGeom>
          <a:noFill/>
          <a:ln/>
        </p:spPr>
        <p:txBody>
          <a:bodyPr wrap="square" lIns="0" tIns="0" rIns="0" bIns="0" rtlCol="0" anchor="t"/>
          <a:lstStyle/>
          <a:p>
            <a:pPr marL="0" indent="0" algn="l">
              <a:buNone/>
            </a:pPr>
            <a:r>
              <a:rPr lang="en-US" sz="800" b="1" dirty="0">
                <a:solidFill>
                  <a:srgbClr val="FFFFFF"/>
                </a:solidFill>
                <a:latin typeface="Arial" pitchFamily="34" charset="0"/>
                <a:ea typeface="Arial" pitchFamily="34" charset="-122"/>
                <a:cs typeface="Arial" pitchFamily="34" charset="-120"/>
              </a:rPr>
              <a:t>Tuesday</a:t>
            </a:r>
            <a:endParaRPr lang="en-US" sz="800" dirty="0"/>
          </a:p>
        </p:txBody>
      </p:sp>
      <p:sp>
        <p:nvSpPr>
          <p:cNvPr id="12" name="Text 10"/>
          <p:cNvSpPr/>
          <p:nvPr/>
        </p:nvSpPr>
        <p:spPr>
          <a:xfrm>
            <a:off x="1549003" y="1282452"/>
            <a:ext cx="1836078"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Brute Force (FTP-Patator, SSH-Patator)</a:t>
            </a:r>
            <a:endParaRPr lang="en-US" sz="800" dirty="0"/>
          </a:p>
        </p:txBody>
      </p:sp>
      <p:sp>
        <p:nvSpPr>
          <p:cNvPr id="13" name="Text 11"/>
          <p:cNvSpPr/>
          <p:nvPr/>
        </p:nvSpPr>
        <p:spPr>
          <a:xfrm>
            <a:off x="355550" y="1561802"/>
            <a:ext cx="1091952" cy="190500"/>
          </a:xfrm>
          <a:prstGeom prst="roundRect">
            <a:avLst>
              <a:gd name="adj" fmla="val 13333"/>
            </a:avLst>
          </a:prstGeom>
          <a:solidFill>
            <a:srgbClr val="E75113"/>
          </a:solidFill>
          <a:ln/>
        </p:spPr>
        <p:txBody>
          <a:bodyPr wrap="square" rtlCol="0" anchor="ctr"/>
          <a:lstStyle/>
          <a:p>
            <a:pPr marL="0" indent="0">
              <a:buNone/>
            </a:pPr>
            <a:endParaRPr lang="en-US" dirty="0"/>
          </a:p>
        </p:txBody>
      </p:sp>
      <p:sp>
        <p:nvSpPr>
          <p:cNvPr id="14" name="Text 12"/>
          <p:cNvSpPr/>
          <p:nvPr/>
        </p:nvSpPr>
        <p:spPr>
          <a:xfrm>
            <a:off x="457051" y="1599902"/>
            <a:ext cx="906729" cy="114300"/>
          </a:xfrm>
          <a:prstGeom prst="rect">
            <a:avLst/>
          </a:prstGeom>
          <a:noFill/>
          <a:ln/>
        </p:spPr>
        <p:txBody>
          <a:bodyPr wrap="square" lIns="0" tIns="0" rIns="0" bIns="0" rtlCol="0" anchor="t"/>
          <a:lstStyle/>
          <a:p>
            <a:pPr marL="0" indent="0" algn="l">
              <a:buNone/>
            </a:pPr>
            <a:r>
              <a:rPr lang="en-US" sz="800" b="1" dirty="0">
                <a:solidFill>
                  <a:srgbClr val="FFFFFF"/>
                </a:solidFill>
                <a:latin typeface="Arial" pitchFamily="34" charset="0"/>
                <a:ea typeface="Arial" pitchFamily="34" charset="-122"/>
                <a:cs typeface="Arial" pitchFamily="34" charset="-120"/>
              </a:rPr>
              <a:t>Wednesday</a:t>
            </a:r>
            <a:endParaRPr lang="en-US" sz="800" dirty="0"/>
          </a:p>
        </p:txBody>
      </p:sp>
      <p:sp>
        <p:nvSpPr>
          <p:cNvPr id="15" name="Text 13"/>
          <p:cNvSpPr/>
          <p:nvPr/>
        </p:nvSpPr>
        <p:spPr>
          <a:xfrm>
            <a:off x="1549003" y="1561802"/>
            <a:ext cx="2173084"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DoS (Slowloris, Hulk, GoldenEye) + Heartbleed</a:t>
            </a:r>
            <a:endParaRPr lang="en-US" sz="800" dirty="0"/>
          </a:p>
        </p:txBody>
      </p:sp>
      <p:sp>
        <p:nvSpPr>
          <p:cNvPr id="16" name="Text 14"/>
          <p:cNvSpPr/>
          <p:nvPr/>
        </p:nvSpPr>
        <p:spPr>
          <a:xfrm>
            <a:off x="355550" y="1841153"/>
            <a:ext cx="1091952" cy="190500"/>
          </a:xfrm>
          <a:prstGeom prst="roundRect">
            <a:avLst>
              <a:gd name="adj" fmla="val 13333"/>
            </a:avLst>
          </a:prstGeom>
          <a:solidFill>
            <a:srgbClr val="E75113"/>
          </a:solidFill>
          <a:ln/>
        </p:spPr>
        <p:txBody>
          <a:bodyPr wrap="square" rtlCol="0" anchor="ctr"/>
          <a:lstStyle/>
          <a:p>
            <a:pPr marL="0" indent="0">
              <a:buNone/>
            </a:pPr>
            <a:endParaRPr lang="en-US" dirty="0"/>
          </a:p>
        </p:txBody>
      </p:sp>
      <p:sp>
        <p:nvSpPr>
          <p:cNvPr id="17" name="Text 15"/>
          <p:cNvSpPr/>
          <p:nvPr/>
        </p:nvSpPr>
        <p:spPr>
          <a:xfrm>
            <a:off x="457051" y="1879253"/>
            <a:ext cx="906729" cy="114300"/>
          </a:xfrm>
          <a:prstGeom prst="rect">
            <a:avLst/>
          </a:prstGeom>
          <a:noFill/>
          <a:ln/>
        </p:spPr>
        <p:txBody>
          <a:bodyPr wrap="square" lIns="0" tIns="0" rIns="0" bIns="0" rtlCol="0" anchor="t"/>
          <a:lstStyle/>
          <a:p>
            <a:pPr marL="0" indent="0" algn="l">
              <a:buNone/>
            </a:pPr>
            <a:r>
              <a:rPr lang="en-US" sz="800" b="1" dirty="0">
                <a:solidFill>
                  <a:srgbClr val="FFFFFF"/>
                </a:solidFill>
                <a:latin typeface="Arial" pitchFamily="34" charset="0"/>
                <a:ea typeface="Arial" pitchFamily="34" charset="-122"/>
                <a:cs typeface="Arial" pitchFamily="34" charset="-120"/>
              </a:rPr>
              <a:t>Thursday</a:t>
            </a:r>
            <a:endParaRPr lang="en-US" sz="800" dirty="0"/>
          </a:p>
        </p:txBody>
      </p:sp>
      <p:sp>
        <p:nvSpPr>
          <p:cNvPr id="18" name="Text 16"/>
          <p:cNvSpPr/>
          <p:nvPr/>
        </p:nvSpPr>
        <p:spPr>
          <a:xfrm>
            <a:off x="1549003" y="1841153"/>
            <a:ext cx="1733610"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Web Attacks (SQLi, XSS) + Infiltration</a:t>
            </a:r>
            <a:endParaRPr lang="en-US" sz="800" dirty="0"/>
          </a:p>
        </p:txBody>
      </p:sp>
      <p:sp>
        <p:nvSpPr>
          <p:cNvPr id="19" name="Text 17"/>
          <p:cNvSpPr/>
          <p:nvPr/>
        </p:nvSpPr>
        <p:spPr>
          <a:xfrm>
            <a:off x="355550" y="2120503"/>
            <a:ext cx="1091952" cy="190500"/>
          </a:xfrm>
          <a:prstGeom prst="roundRect">
            <a:avLst>
              <a:gd name="adj" fmla="val 13333"/>
            </a:avLst>
          </a:prstGeom>
          <a:solidFill>
            <a:srgbClr val="E75113"/>
          </a:solidFill>
          <a:ln/>
        </p:spPr>
        <p:txBody>
          <a:bodyPr wrap="square" rtlCol="0" anchor="ctr"/>
          <a:lstStyle/>
          <a:p>
            <a:pPr marL="0" indent="0">
              <a:buNone/>
            </a:pPr>
            <a:endParaRPr lang="en-US" dirty="0"/>
          </a:p>
        </p:txBody>
      </p:sp>
      <p:sp>
        <p:nvSpPr>
          <p:cNvPr id="20" name="Text 18"/>
          <p:cNvSpPr/>
          <p:nvPr/>
        </p:nvSpPr>
        <p:spPr>
          <a:xfrm>
            <a:off x="457051" y="2158603"/>
            <a:ext cx="906729" cy="114300"/>
          </a:xfrm>
          <a:prstGeom prst="rect">
            <a:avLst/>
          </a:prstGeom>
          <a:noFill/>
          <a:ln/>
        </p:spPr>
        <p:txBody>
          <a:bodyPr wrap="square" lIns="0" tIns="0" rIns="0" bIns="0" rtlCol="0" anchor="t"/>
          <a:lstStyle/>
          <a:p>
            <a:pPr marL="0" indent="0" algn="l">
              <a:buNone/>
            </a:pPr>
            <a:r>
              <a:rPr lang="en-US" sz="800" b="1" dirty="0">
                <a:solidFill>
                  <a:srgbClr val="FFFFFF"/>
                </a:solidFill>
                <a:latin typeface="Arial" pitchFamily="34" charset="0"/>
                <a:ea typeface="Arial" pitchFamily="34" charset="-122"/>
                <a:cs typeface="Arial" pitchFamily="34" charset="-120"/>
              </a:rPr>
              <a:t>Friday</a:t>
            </a:r>
            <a:endParaRPr lang="en-US" sz="800" dirty="0"/>
          </a:p>
        </p:txBody>
      </p:sp>
      <p:sp>
        <p:nvSpPr>
          <p:cNvPr id="21" name="Text 19"/>
          <p:cNvSpPr/>
          <p:nvPr/>
        </p:nvSpPr>
        <p:spPr>
          <a:xfrm>
            <a:off x="1549003" y="2120503"/>
            <a:ext cx="1974372"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Botnet (ARES) + Port Scan + DDoS (LOIT)</a:t>
            </a:r>
            <a:endParaRPr lang="en-US" sz="800" dirty="0"/>
          </a:p>
        </p:txBody>
      </p:sp>
      <p:sp>
        <p:nvSpPr>
          <p:cNvPr id="22" name="Text 20"/>
          <p:cNvSpPr/>
          <p:nvPr/>
        </p:nvSpPr>
        <p:spPr>
          <a:xfrm>
            <a:off x="4730598" y="3049759"/>
            <a:ext cx="4197096" cy="152400"/>
          </a:xfrm>
          <a:prstGeom prst="rect">
            <a:avLst/>
          </a:prstGeom>
          <a:noFill/>
          <a:ln/>
        </p:spPr>
        <p:txBody>
          <a:bodyPr wrap="square" lIns="0" tIns="0" rIns="0" bIns="0" rtlCol="0" anchor="t"/>
          <a:lstStyle/>
          <a:p>
            <a:pPr marL="0" indent="0" algn="l">
              <a:spcAft>
                <a:spcPts val="400"/>
              </a:spcAft>
              <a:buNone/>
            </a:pPr>
            <a:r>
              <a:rPr lang="en-US" sz="1100" b="1" dirty="0">
                <a:solidFill>
                  <a:srgbClr val="003C71"/>
                </a:solidFill>
                <a:latin typeface="Arial" pitchFamily="34" charset="0"/>
                <a:ea typeface="Arial" pitchFamily="34" charset="-122"/>
                <a:cs typeface="Arial" pitchFamily="34" charset="-120"/>
              </a:rPr>
              <a:t>7 Attack Families</a:t>
            </a:r>
            <a:endParaRPr lang="en-US" sz="1100" dirty="0"/>
          </a:p>
        </p:txBody>
      </p:sp>
      <p:sp>
        <p:nvSpPr>
          <p:cNvPr id="23" name="Text 21"/>
          <p:cNvSpPr/>
          <p:nvPr/>
        </p:nvSpPr>
        <p:spPr>
          <a:xfrm>
            <a:off x="4656328" y="3353726"/>
            <a:ext cx="4114800" cy="864691"/>
          </a:xfrm>
          <a:prstGeom prst="rect">
            <a:avLst/>
          </a:prstGeom>
          <a:noFill/>
          <a:ln/>
        </p:spPr>
        <p:txBody>
          <a:bodyPr wrap="square" lIns="88900" tIns="0" rIns="0" bIns="0" rtlCol="0" anchor="t"/>
          <a:lstStyle/>
          <a:p>
            <a:pPr marL="88900" indent="-88900" algn="l">
              <a:lnSpc>
                <a:spcPts val="1063"/>
              </a:lnSpc>
              <a:spcAft>
                <a:spcPts val="300"/>
              </a:spcAft>
              <a:buSzPct val="100000"/>
              <a:buChar char="•"/>
            </a:pPr>
            <a:r>
              <a:rPr lang="en-US" sz="850" b="1" dirty="0">
                <a:solidFill>
                  <a:srgbClr val="333333"/>
                </a:solidFill>
                <a:latin typeface="Arial" pitchFamily="34" charset="0"/>
                <a:ea typeface="Arial" pitchFamily="34" charset="-122"/>
                <a:cs typeface="Arial" pitchFamily="34" charset="-120"/>
              </a:rPr>
              <a:t>DoS/DDoS</a:t>
            </a:r>
            <a:r>
              <a:rPr lang="en-US" sz="850" dirty="0">
                <a:solidFill>
                  <a:srgbClr val="333333"/>
                </a:solidFill>
                <a:latin typeface="Arial" pitchFamily="34" charset="0"/>
                <a:ea typeface="Arial" pitchFamily="34" charset="-122"/>
                <a:cs typeface="Arial" pitchFamily="34" charset="-120"/>
              </a:rPr>
              <a:t>: Slowloris, Slowhttptest, Hulk, GoldenEye, LOIT</a:t>
            </a:r>
            <a:endParaRPr lang="en-US" sz="850" dirty="0"/>
          </a:p>
          <a:p>
            <a:pPr marL="88900" indent="-88900" algn="l">
              <a:lnSpc>
                <a:spcPts val="1063"/>
              </a:lnSpc>
              <a:spcAft>
                <a:spcPts val="300"/>
              </a:spcAft>
              <a:buSzPct val="100000"/>
              <a:buChar char="•"/>
            </a:pPr>
            <a:r>
              <a:rPr lang="en-US" sz="850" b="1" dirty="0">
                <a:solidFill>
                  <a:srgbClr val="333333"/>
                </a:solidFill>
                <a:latin typeface="Arial" pitchFamily="34" charset="0"/>
                <a:ea typeface="Arial" pitchFamily="34" charset="-122"/>
                <a:cs typeface="Arial" pitchFamily="34" charset="-120"/>
              </a:rPr>
              <a:t>Brute Force</a:t>
            </a:r>
            <a:r>
              <a:rPr lang="en-US" sz="850" dirty="0">
                <a:solidFill>
                  <a:srgbClr val="333333"/>
                </a:solidFill>
                <a:latin typeface="Arial" pitchFamily="34" charset="0"/>
                <a:ea typeface="Arial" pitchFamily="34" charset="-122"/>
                <a:cs typeface="Arial" pitchFamily="34" charset="-120"/>
              </a:rPr>
              <a:t>: FTP-Patator, SSH-Patator</a:t>
            </a:r>
            <a:endParaRPr lang="en-US" sz="850" dirty="0"/>
          </a:p>
          <a:p>
            <a:pPr marL="88900" indent="-88900" algn="l">
              <a:lnSpc>
                <a:spcPts val="1063"/>
              </a:lnSpc>
              <a:spcAft>
                <a:spcPts val="300"/>
              </a:spcAft>
              <a:buSzPct val="100000"/>
              <a:buChar char="•"/>
            </a:pPr>
            <a:r>
              <a:rPr lang="en-US" sz="850" b="1" dirty="0">
                <a:solidFill>
                  <a:srgbClr val="333333"/>
                </a:solidFill>
                <a:latin typeface="Arial" pitchFamily="34" charset="0"/>
                <a:ea typeface="Arial" pitchFamily="34" charset="-122"/>
                <a:cs typeface="Arial" pitchFamily="34" charset="-120"/>
              </a:rPr>
              <a:t>Web Attacks</a:t>
            </a:r>
            <a:r>
              <a:rPr lang="en-US" sz="850" dirty="0">
                <a:solidFill>
                  <a:srgbClr val="333333"/>
                </a:solidFill>
                <a:latin typeface="Arial" pitchFamily="34" charset="0"/>
                <a:ea typeface="Arial" pitchFamily="34" charset="-122"/>
                <a:cs typeface="Arial" pitchFamily="34" charset="-120"/>
              </a:rPr>
              <a:t>: SQL Injection, XSS, Web Brute Force</a:t>
            </a:r>
            <a:endParaRPr lang="en-US" sz="850" dirty="0"/>
          </a:p>
          <a:p>
            <a:pPr marL="88900" indent="-88900" algn="l">
              <a:lnSpc>
                <a:spcPts val="1063"/>
              </a:lnSpc>
              <a:spcAft>
                <a:spcPts val="300"/>
              </a:spcAft>
              <a:buSzPct val="100000"/>
              <a:buChar char="•"/>
            </a:pPr>
            <a:r>
              <a:rPr lang="en-US" sz="850" b="1" dirty="0">
                <a:solidFill>
                  <a:srgbClr val="333333"/>
                </a:solidFill>
                <a:latin typeface="Arial" pitchFamily="34" charset="0"/>
                <a:ea typeface="Arial" pitchFamily="34" charset="-122"/>
                <a:cs typeface="Arial" pitchFamily="34" charset="-120"/>
              </a:rPr>
              <a:t>Other</a:t>
            </a:r>
            <a:r>
              <a:rPr lang="en-US" sz="850" dirty="0">
                <a:solidFill>
                  <a:srgbClr val="333333"/>
                </a:solidFill>
                <a:latin typeface="Arial" pitchFamily="34" charset="0"/>
                <a:ea typeface="Arial" pitchFamily="34" charset="-122"/>
                <a:cs typeface="Arial" pitchFamily="34" charset="-120"/>
              </a:rPr>
              <a:t>: Botnet (ARES), Port Scan, Infiltration, Heartbleed</a:t>
            </a:r>
            <a:endParaRPr lang="en-US" sz="850" dirty="0"/>
          </a:p>
          <a:p>
            <a:pPr marL="88900" indent="-88900" algn="l">
              <a:lnSpc>
                <a:spcPts val="1063"/>
              </a:lnSpc>
              <a:spcAft>
                <a:spcPts val="300"/>
              </a:spcAft>
              <a:buSzPct val="100000"/>
              <a:buChar char="•"/>
            </a:pPr>
            <a:r>
              <a:rPr lang="en-US" sz="850" b="1" dirty="0">
                <a:solidFill>
                  <a:srgbClr val="333333"/>
                </a:solidFill>
                <a:latin typeface="Arial" pitchFamily="34" charset="0"/>
                <a:ea typeface="Arial" pitchFamily="34" charset="-122"/>
                <a:cs typeface="Arial" pitchFamily="34" charset="-120"/>
              </a:rPr>
              <a:t>Benign</a:t>
            </a:r>
            <a:r>
              <a:rPr lang="en-US" sz="850" dirty="0">
                <a:solidFill>
                  <a:srgbClr val="333333"/>
                </a:solidFill>
                <a:latin typeface="Arial" pitchFamily="34" charset="0"/>
                <a:ea typeface="Arial" pitchFamily="34" charset="-122"/>
                <a:cs typeface="Arial" pitchFamily="34" charset="-120"/>
              </a:rPr>
              <a:t>: B-Profile synthetic realistic traffic</a:t>
            </a:r>
            <a:endParaRPr lang="en-US" sz="850" dirty="0"/>
          </a:p>
        </p:txBody>
      </p:sp>
      <p:sp>
        <p:nvSpPr>
          <p:cNvPr id="24" name="Text 22"/>
          <p:cNvSpPr/>
          <p:nvPr/>
        </p:nvSpPr>
        <p:spPr>
          <a:xfrm>
            <a:off x="4673501" y="749201"/>
            <a:ext cx="4197248" cy="152400"/>
          </a:xfrm>
          <a:prstGeom prst="rect">
            <a:avLst/>
          </a:prstGeom>
          <a:noFill/>
          <a:ln/>
        </p:spPr>
        <p:txBody>
          <a:bodyPr wrap="square" lIns="0" tIns="0" rIns="0" bIns="0" rtlCol="0" anchor="t"/>
          <a:lstStyle/>
          <a:p>
            <a:pPr marL="0" indent="0" algn="l">
              <a:spcAft>
                <a:spcPts val="400"/>
              </a:spcAft>
              <a:buNone/>
            </a:pPr>
            <a:r>
              <a:rPr lang="en-US" sz="1100" b="1" dirty="0">
                <a:solidFill>
                  <a:srgbClr val="003C71"/>
                </a:solidFill>
                <a:latin typeface="Arial" pitchFamily="34" charset="0"/>
                <a:ea typeface="Arial" pitchFamily="34" charset="-122"/>
                <a:cs typeface="Arial" pitchFamily="34" charset="-120"/>
              </a:rPr>
              <a:t>Testbed and Data Pipeline</a:t>
            </a:r>
            <a:endParaRPr lang="en-US" sz="1100" dirty="0"/>
          </a:p>
        </p:txBody>
      </p:sp>
      <p:sp>
        <p:nvSpPr>
          <p:cNvPr id="25" name="Text 23"/>
          <p:cNvSpPr/>
          <p:nvPr/>
        </p:nvSpPr>
        <p:spPr>
          <a:xfrm>
            <a:off x="4673501" y="1003102"/>
            <a:ext cx="4114949" cy="826591"/>
          </a:xfrm>
          <a:prstGeom prst="rect">
            <a:avLst/>
          </a:prstGeom>
          <a:noFill/>
          <a:ln/>
        </p:spPr>
        <p:txBody>
          <a:bodyPr wrap="square" lIns="88900" tIns="0" rIns="0" bIns="0" rtlCol="0" anchor="t"/>
          <a:lstStyle/>
          <a:p>
            <a:pPr marL="88900" indent="-88900" algn="l">
              <a:lnSpc>
                <a:spcPts val="1063"/>
              </a:lnSpc>
              <a:spcAft>
                <a:spcPts val="300"/>
              </a:spcAft>
              <a:buSzPct val="100000"/>
              <a:buChar char="•"/>
            </a:pPr>
            <a:r>
              <a:rPr lang="en-US" sz="850" b="1" dirty="0">
                <a:solidFill>
                  <a:srgbClr val="333333"/>
                </a:solidFill>
                <a:latin typeface="Arial" pitchFamily="34" charset="0"/>
                <a:ea typeface="Arial" pitchFamily="34" charset="-122"/>
                <a:cs typeface="Arial" pitchFamily="34" charset="-120"/>
              </a:rPr>
              <a:t>B-Profile System</a:t>
            </a:r>
            <a:r>
              <a:rPr lang="en-US" sz="850" dirty="0">
                <a:solidFill>
                  <a:srgbClr val="333333"/>
                </a:solidFill>
                <a:latin typeface="Arial" pitchFamily="34" charset="0"/>
                <a:ea typeface="Arial" pitchFamily="34" charset="-122"/>
                <a:cs typeface="Arial" pitchFamily="34" charset="-120"/>
              </a:rPr>
              <a:t>: Generates realistic benign traffic (HTTP, HTTPS, FTP, SSH, Email)</a:t>
            </a:r>
            <a:endParaRPr lang="en-US" sz="850" dirty="0"/>
          </a:p>
          <a:p>
            <a:pPr marL="88900" indent="-88900" algn="l">
              <a:lnSpc>
                <a:spcPts val="1063"/>
              </a:lnSpc>
              <a:spcAft>
                <a:spcPts val="300"/>
              </a:spcAft>
              <a:buSzPct val="100000"/>
              <a:buChar char="•"/>
            </a:pPr>
            <a:r>
              <a:rPr lang="en-US" sz="850" b="1" dirty="0">
                <a:solidFill>
                  <a:srgbClr val="333333"/>
                </a:solidFill>
                <a:latin typeface="Arial" pitchFamily="34" charset="0"/>
                <a:ea typeface="Arial" pitchFamily="34" charset="-122"/>
                <a:cs typeface="Arial" pitchFamily="34" charset="-120"/>
              </a:rPr>
              <a:t>CICFlowMeter</a:t>
            </a:r>
            <a:r>
              <a:rPr lang="en-US" sz="850" dirty="0">
                <a:solidFill>
                  <a:srgbClr val="333333"/>
                </a:solidFill>
                <a:latin typeface="Arial" pitchFamily="34" charset="0"/>
                <a:ea typeface="Arial" pitchFamily="34" charset="-122"/>
                <a:cs typeface="Arial" pitchFamily="34" charset="-120"/>
              </a:rPr>
              <a:t>: Extracts 80 bidirectional flow features from PCAP</a:t>
            </a:r>
            <a:endParaRPr lang="en-US" sz="850" dirty="0"/>
          </a:p>
          <a:p>
            <a:pPr marL="88900" indent="-88900" algn="l">
              <a:lnSpc>
                <a:spcPts val="1063"/>
              </a:lnSpc>
              <a:spcAft>
                <a:spcPts val="300"/>
              </a:spcAft>
              <a:buSzPct val="100000"/>
              <a:buChar char="•"/>
            </a:pPr>
            <a:r>
              <a:rPr lang="en-US" sz="850" b="1" dirty="0">
                <a:solidFill>
                  <a:srgbClr val="333333"/>
                </a:solidFill>
                <a:latin typeface="Arial" pitchFamily="34" charset="0"/>
                <a:ea typeface="Arial" pitchFamily="34" charset="-122"/>
                <a:cs typeface="Arial" pitchFamily="34" charset="-120"/>
              </a:rPr>
              <a:t>Labeling</a:t>
            </a:r>
            <a:r>
              <a:rPr lang="en-US" sz="850" dirty="0">
                <a:solidFill>
                  <a:srgbClr val="333333"/>
                </a:solidFill>
                <a:latin typeface="Arial" pitchFamily="34" charset="0"/>
                <a:ea typeface="Arial" pitchFamily="34" charset="-122"/>
                <a:cs typeface="Arial" pitchFamily="34" charset="-120"/>
              </a:rPr>
              <a:t>: Flow-level + packet-level ground truth via timestamps and IP/Port</a:t>
            </a:r>
            <a:endParaRPr lang="en-US" sz="850" dirty="0"/>
          </a:p>
          <a:p>
            <a:pPr marL="88900" indent="-88900" algn="l">
              <a:lnSpc>
                <a:spcPts val="1063"/>
              </a:lnSpc>
              <a:spcAft>
                <a:spcPts val="300"/>
              </a:spcAft>
              <a:buSzPct val="100000"/>
              <a:buChar char="•"/>
            </a:pPr>
            <a:r>
              <a:rPr lang="en-US" sz="850" b="1" dirty="0">
                <a:solidFill>
                  <a:srgbClr val="333333"/>
                </a:solidFill>
                <a:latin typeface="Arial" pitchFamily="34" charset="0"/>
                <a:ea typeface="Arial" pitchFamily="34" charset="-122"/>
                <a:cs typeface="Arial" pitchFamily="34" charset="-120"/>
              </a:rPr>
              <a:t>Network</a:t>
            </a:r>
            <a:r>
              <a:rPr lang="en-US" sz="850" dirty="0">
                <a:solidFill>
                  <a:srgbClr val="333333"/>
                </a:solidFill>
                <a:latin typeface="Arial" pitchFamily="34" charset="0"/>
                <a:ea typeface="Arial" pitchFamily="34" charset="-122"/>
                <a:cs typeface="Arial" pitchFamily="34" charset="-120"/>
              </a:rPr>
              <a:t>: 4 attacker machines, victim server, firewall, switch</a:t>
            </a:r>
            <a:endParaRPr lang="en-US" sz="850" dirty="0"/>
          </a:p>
        </p:txBody>
      </p:sp>
      <p:sp>
        <p:nvSpPr>
          <p:cNvPr id="26" name="Text 24"/>
          <p:cNvSpPr/>
          <p:nvPr/>
        </p:nvSpPr>
        <p:spPr>
          <a:xfrm>
            <a:off x="4673501" y="1832134"/>
            <a:ext cx="1320850" cy="485477"/>
          </a:xfrm>
          <a:prstGeom prst="roundRect">
            <a:avLst>
              <a:gd name="adj" fmla="val 7848"/>
            </a:avLst>
          </a:prstGeom>
          <a:solidFill>
            <a:srgbClr val="F0F2F5"/>
          </a:solidFill>
          <a:ln/>
        </p:spPr>
        <p:txBody>
          <a:bodyPr wrap="square" rtlCol="0" anchor="ctr"/>
          <a:lstStyle/>
          <a:p>
            <a:pPr marL="0" indent="0">
              <a:buNone/>
            </a:pPr>
            <a:endParaRPr lang="en-US" dirty="0"/>
          </a:p>
        </p:txBody>
      </p:sp>
      <p:sp>
        <p:nvSpPr>
          <p:cNvPr id="27" name="Shape 25"/>
          <p:cNvSpPr/>
          <p:nvPr/>
        </p:nvSpPr>
        <p:spPr>
          <a:xfrm>
            <a:off x="4673501" y="1851184"/>
            <a:ext cx="1320850" cy="0"/>
          </a:xfrm>
          <a:prstGeom prst="line">
            <a:avLst/>
          </a:prstGeom>
          <a:noFill/>
          <a:ln w="38100">
            <a:solidFill>
              <a:srgbClr val="E75113"/>
            </a:solidFill>
            <a:prstDash val="solid"/>
          </a:ln>
        </p:spPr>
      </p:sp>
      <p:sp>
        <p:nvSpPr>
          <p:cNvPr id="28" name="Text 26"/>
          <p:cNvSpPr/>
          <p:nvPr/>
        </p:nvSpPr>
        <p:spPr>
          <a:xfrm>
            <a:off x="4749701" y="1933635"/>
            <a:ext cx="1191819" cy="200025"/>
          </a:xfrm>
          <a:prstGeom prst="rect">
            <a:avLst/>
          </a:prstGeom>
          <a:noFill/>
          <a:ln/>
        </p:spPr>
        <p:txBody>
          <a:bodyPr wrap="square" lIns="0" tIns="0" rIns="0" bIns="0" rtlCol="0" anchor="t"/>
          <a:lstStyle/>
          <a:p>
            <a:pPr marL="0" indent="0" algn="l">
              <a:buNone/>
            </a:pPr>
            <a:r>
              <a:rPr lang="en-US" sz="1300" b="1" dirty="0">
                <a:solidFill>
                  <a:srgbClr val="003C71"/>
                </a:solidFill>
                <a:latin typeface="Arial" pitchFamily="34" charset="0"/>
                <a:ea typeface="Arial" pitchFamily="34" charset="-122"/>
                <a:cs typeface="Arial" pitchFamily="34" charset="-120"/>
              </a:rPr>
              <a:t>2.83M</a:t>
            </a:r>
            <a:endParaRPr lang="en-US" sz="1300" dirty="0"/>
          </a:p>
        </p:txBody>
      </p:sp>
      <p:sp>
        <p:nvSpPr>
          <p:cNvPr id="29" name="Text 27"/>
          <p:cNvSpPr/>
          <p:nvPr/>
        </p:nvSpPr>
        <p:spPr>
          <a:xfrm>
            <a:off x="4749701" y="2158960"/>
            <a:ext cx="1191819" cy="95250"/>
          </a:xfrm>
          <a:prstGeom prst="rect">
            <a:avLst/>
          </a:prstGeom>
          <a:noFill/>
          <a:ln/>
        </p:spPr>
        <p:txBody>
          <a:bodyPr wrap="square" lIns="0" tIns="0" rIns="0" bIns="0" rtlCol="0" anchor="t"/>
          <a:lstStyle/>
          <a:p>
            <a:pPr marL="0" indent="0" algn="l">
              <a:spcBef>
                <a:spcPts val="200"/>
              </a:spcBef>
              <a:buNone/>
            </a:pPr>
            <a:r>
              <a:rPr lang="en-US" sz="650" dirty="0">
                <a:solidFill>
                  <a:srgbClr val="666666"/>
                </a:solidFill>
                <a:latin typeface="Arial" pitchFamily="34" charset="0"/>
                <a:ea typeface="Arial" pitchFamily="34" charset="-122"/>
                <a:cs typeface="Arial" pitchFamily="34" charset="-120"/>
              </a:rPr>
              <a:t>Total Flows</a:t>
            </a:r>
            <a:endParaRPr lang="en-US" sz="650" dirty="0"/>
          </a:p>
        </p:txBody>
      </p:sp>
      <p:sp>
        <p:nvSpPr>
          <p:cNvPr id="30" name="Text 28"/>
          <p:cNvSpPr/>
          <p:nvPr/>
        </p:nvSpPr>
        <p:spPr>
          <a:xfrm>
            <a:off x="6070550" y="1832134"/>
            <a:ext cx="1320850" cy="485477"/>
          </a:xfrm>
          <a:prstGeom prst="roundRect">
            <a:avLst>
              <a:gd name="adj" fmla="val 7848"/>
            </a:avLst>
          </a:prstGeom>
          <a:solidFill>
            <a:srgbClr val="F0F2F5"/>
          </a:solidFill>
          <a:ln/>
        </p:spPr>
        <p:txBody>
          <a:bodyPr wrap="square" rtlCol="0" anchor="ctr"/>
          <a:lstStyle/>
          <a:p>
            <a:pPr marL="0" indent="0">
              <a:buNone/>
            </a:pPr>
            <a:endParaRPr lang="en-US" dirty="0"/>
          </a:p>
        </p:txBody>
      </p:sp>
      <p:sp>
        <p:nvSpPr>
          <p:cNvPr id="31" name="Shape 29"/>
          <p:cNvSpPr/>
          <p:nvPr/>
        </p:nvSpPr>
        <p:spPr>
          <a:xfrm>
            <a:off x="6070550" y="1851184"/>
            <a:ext cx="1320850" cy="0"/>
          </a:xfrm>
          <a:prstGeom prst="line">
            <a:avLst/>
          </a:prstGeom>
          <a:noFill/>
          <a:ln w="38100">
            <a:solidFill>
              <a:srgbClr val="E75113"/>
            </a:solidFill>
            <a:prstDash val="solid"/>
          </a:ln>
        </p:spPr>
      </p:sp>
      <p:sp>
        <p:nvSpPr>
          <p:cNvPr id="32" name="Text 30"/>
          <p:cNvSpPr/>
          <p:nvPr/>
        </p:nvSpPr>
        <p:spPr>
          <a:xfrm>
            <a:off x="6146750" y="1933635"/>
            <a:ext cx="1191819" cy="200025"/>
          </a:xfrm>
          <a:prstGeom prst="rect">
            <a:avLst/>
          </a:prstGeom>
          <a:noFill/>
          <a:ln/>
        </p:spPr>
        <p:txBody>
          <a:bodyPr wrap="square" lIns="0" tIns="0" rIns="0" bIns="0" rtlCol="0" anchor="t"/>
          <a:lstStyle/>
          <a:p>
            <a:pPr marL="0" indent="0" algn="l">
              <a:buNone/>
            </a:pPr>
            <a:r>
              <a:rPr lang="en-US" sz="1300" b="1" dirty="0">
                <a:solidFill>
                  <a:srgbClr val="003C71"/>
                </a:solidFill>
                <a:latin typeface="Arial" pitchFamily="34" charset="0"/>
                <a:ea typeface="Arial" pitchFamily="34" charset="-122"/>
                <a:cs typeface="Arial" pitchFamily="34" charset="-120"/>
              </a:rPr>
              <a:t>80</a:t>
            </a:r>
            <a:endParaRPr lang="en-US" sz="1300" dirty="0"/>
          </a:p>
        </p:txBody>
      </p:sp>
      <p:sp>
        <p:nvSpPr>
          <p:cNvPr id="33" name="Text 31"/>
          <p:cNvSpPr/>
          <p:nvPr/>
        </p:nvSpPr>
        <p:spPr>
          <a:xfrm>
            <a:off x="6146750" y="2158960"/>
            <a:ext cx="1191819" cy="95250"/>
          </a:xfrm>
          <a:prstGeom prst="rect">
            <a:avLst/>
          </a:prstGeom>
          <a:noFill/>
          <a:ln/>
        </p:spPr>
        <p:txBody>
          <a:bodyPr wrap="square" lIns="0" tIns="0" rIns="0" bIns="0" rtlCol="0" anchor="t"/>
          <a:lstStyle/>
          <a:p>
            <a:pPr marL="0" indent="0" algn="l">
              <a:spcBef>
                <a:spcPts val="200"/>
              </a:spcBef>
              <a:buNone/>
            </a:pPr>
            <a:r>
              <a:rPr lang="en-US" sz="650" dirty="0">
                <a:solidFill>
                  <a:srgbClr val="666666"/>
                </a:solidFill>
                <a:latin typeface="Arial" pitchFamily="34" charset="0"/>
                <a:ea typeface="Arial" pitchFamily="34" charset="-122"/>
                <a:cs typeface="Arial" pitchFamily="34" charset="-120"/>
              </a:rPr>
              <a:t>Flow Features</a:t>
            </a:r>
            <a:endParaRPr lang="en-US" sz="650" dirty="0"/>
          </a:p>
        </p:txBody>
      </p:sp>
      <p:sp>
        <p:nvSpPr>
          <p:cNvPr id="34" name="Text 32"/>
          <p:cNvSpPr/>
          <p:nvPr/>
        </p:nvSpPr>
        <p:spPr>
          <a:xfrm>
            <a:off x="7467600" y="1832134"/>
            <a:ext cx="1320850" cy="485477"/>
          </a:xfrm>
          <a:prstGeom prst="roundRect">
            <a:avLst>
              <a:gd name="adj" fmla="val 7848"/>
            </a:avLst>
          </a:prstGeom>
          <a:solidFill>
            <a:srgbClr val="F0F2F5"/>
          </a:solidFill>
          <a:ln/>
        </p:spPr>
        <p:txBody>
          <a:bodyPr wrap="square" rtlCol="0" anchor="ctr"/>
          <a:lstStyle/>
          <a:p>
            <a:pPr marL="0" indent="0">
              <a:buNone/>
            </a:pPr>
            <a:endParaRPr lang="en-US" dirty="0"/>
          </a:p>
        </p:txBody>
      </p:sp>
      <p:sp>
        <p:nvSpPr>
          <p:cNvPr id="35" name="Shape 33"/>
          <p:cNvSpPr/>
          <p:nvPr/>
        </p:nvSpPr>
        <p:spPr>
          <a:xfrm>
            <a:off x="7467600" y="1851184"/>
            <a:ext cx="1320850" cy="0"/>
          </a:xfrm>
          <a:prstGeom prst="line">
            <a:avLst/>
          </a:prstGeom>
          <a:noFill/>
          <a:ln w="38100">
            <a:solidFill>
              <a:srgbClr val="E75113"/>
            </a:solidFill>
            <a:prstDash val="solid"/>
          </a:ln>
        </p:spPr>
      </p:sp>
      <p:sp>
        <p:nvSpPr>
          <p:cNvPr id="36" name="Text 34"/>
          <p:cNvSpPr/>
          <p:nvPr/>
        </p:nvSpPr>
        <p:spPr>
          <a:xfrm>
            <a:off x="7543800" y="1933635"/>
            <a:ext cx="1191819" cy="200025"/>
          </a:xfrm>
          <a:prstGeom prst="rect">
            <a:avLst/>
          </a:prstGeom>
          <a:noFill/>
          <a:ln/>
        </p:spPr>
        <p:txBody>
          <a:bodyPr wrap="square" lIns="0" tIns="0" rIns="0" bIns="0" rtlCol="0" anchor="t"/>
          <a:lstStyle/>
          <a:p>
            <a:pPr marL="0" indent="0" algn="l">
              <a:buNone/>
            </a:pPr>
            <a:r>
              <a:rPr lang="en-US" sz="1300" b="1" dirty="0">
                <a:solidFill>
                  <a:srgbClr val="003C71"/>
                </a:solidFill>
                <a:latin typeface="Arial" pitchFamily="34" charset="0"/>
                <a:ea typeface="Arial" pitchFamily="34" charset="-122"/>
                <a:cs typeface="Arial" pitchFamily="34" charset="-120"/>
              </a:rPr>
              <a:t>15</a:t>
            </a:r>
            <a:endParaRPr lang="en-US" sz="1300" dirty="0"/>
          </a:p>
        </p:txBody>
      </p:sp>
      <p:sp>
        <p:nvSpPr>
          <p:cNvPr id="37" name="Text 35"/>
          <p:cNvSpPr/>
          <p:nvPr/>
        </p:nvSpPr>
        <p:spPr>
          <a:xfrm>
            <a:off x="7543800" y="2158960"/>
            <a:ext cx="1191819" cy="95250"/>
          </a:xfrm>
          <a:prstGeom prst="rect">
            <a:avLst/>
          </a:prstGeom>
          <a:noFill/>
          <a:ln/>
        </p:spPr>
        <p:txBody>
          <a:bodyPr wrap="square" lIns="0" tIns="0" rIns="0" bIns="0" rtlCol="0" anchor="t"/>
          <a:lstStyle/>
          <a:p>
            <a:pPr marL="0" indent="0" algn="l">
              <a:spcBef>
                <a:spcPts val="200"/>
              </a:spcBef>
              <a:buNone/>
            </a:pPr>
            <a:r>
              <a:rPr lang="en-US" sz="650" dirty="0">
                <a:solidFill>
                  <a:srgbClr val="666666"/>
                </a:solidFill>
                <a:latin typeface="Arial" pitchFamily="34" charset="0"/>
                <a:ea typeface="Arial" pitchFamily="34" charset="-122"/>
                <a:cs typeface="Arial" pitchFamily="34" charset="-120"/>
              </a:rPr>
              <a:t>Classes</a:t>
            </a:r>
            <a:endParaRPr lang="en-US" sz="650" dirty="0"/>
          </a:p>
        </p:txBody>
      </p:sp>
      <p:sp>
        <p:nvSpPr>
          <p:cNvPr id="38" name="Text 36"/>
          <p:cNvSpPr/>
          <p:nvPr/>
        </p:nvSpPr>
        <p:spPr>
          <a:xfrm>
            <a:off x="4673501" y="2419112"/>
            <a:ext cx="1320850" cy="485477"/>
          </a:xfrm>
          <a:prstGeom prst="roundRect">
            <a:avLst>
              <a:gd name="adj" fmla="val 7848"/>
            </a:avLst>
          </a:prstGeom>
          <a:solidFill>
            <a:srgbClr val="F0F2F5"/>
          </a:solidFill>
          <a:ln/>
        </p:spPr>
        <p:txBody>
          <a:bodyPr wrap="square" rtlCol="0" anchor="ctr"/>
          <a:lstStyle/>
          <a:p>
            <a:pPr marL="0" indent="0">
              <a:buNone/>
            </a:pPr>
            <a:endParaRPr lang="en-US" dirty="0"/>
          </a:p>
        </p:txBody>
      </p:sp>
      <p:sp>
        <p:nvSpPr>
          <p:cNvPr id="39" name="Shape 37"/>
          <p:cNvSpPr/>
          <p:nvPr/>
        </p:nvSpPr>
        <p:spPr>
          <a:xfrm>
            <a:off x="4673501" y="2438162"/>
            <a:ext cx="1320850" cy="0"/>
          </a:xfrm>
          <a:prstGeom prst="line">
            <a:avLst/>
          </a:prstGeom>
          <a:noFill/>
          <a:ln w="38100">
            <a:solidFill>
              <a:srgbClr val="E75113"/>
            </a:solidFill>
            <a:prstDash val="solid"/>
          </a:ln>
        </p:spPr>
      </p:sp>
      <p:sp>
        <p:nvSpPr>
          <p:cNvPr id="40" name="Text 38"/>
          <p:cNvSpPr/>
          <p:nvPr/>
        </p:nvSpPr>
        <p:spPr>
          <a:xfrm>
            <a:off x="4749701" y="2520613"/>
            <a:ext cx="1191819" cy="200025"/>
          </a:xfrm>
          <a:prstGeom prst="rect">
            <a:avLst/>
          </a:prstGeom>
          <a:noFill/>
          <a:ln/>
        </p:spPr>
        <p:txBody>
          <a:bodyPr wrap="square" lIns="0" tIns="0" rIns="0" bIns="0" rtlCol="0" anchor="t"/>
          <a:lstStyle/>
          <a:p>
            <a:pPr marL="0" indent="0" algn="l">
              <a:buNone/>
            </a:pPr>
            <a:r>
              <a:rPr lang="en-US" sz="1300" b="1" dirty="0">
                <a:solidFill>
                  <a:srgbClr val="003C71"/>
                </a:solidFill>
                <a:latin typeface="Arial" pitchFamily="34" charset="0"/>
                <a:ea typeface="Arial" pitchFamily="34" charset="-122"/>
                <a:cs typeface="Arial" pitchFamily="34" charset="-120"/>
              </a:rPr>
              <a:t>5 Days</a:t>
            </a:r>
            <a:endParaRPr lang="en-US" sz="1300" dirty="0"/>
          </a:p>
        </p:txBody>
      </p:sp>
      <p:sp>
        <p:nvSpPr>
          <p:cNvPr id="41" name="Text 39"/>
          <p:cNvSpPr/>
          <p:nvPr/>
        </p:nvSpPr>
        <p:spPr>
          <a:xfrm>
            <a:off x="4749701" y="2745938"/>
            <a:ext cx="1191819" cy="95250"/>
          </a:xfrm>
          <a:prstGeom prst="rect">
            <a:avLst/>
          </a:prstGeom>
          <a:noFill/>
          <a:ln/>
        </p:spPr>
        <p:txBody>
          <a:bodyPr wrap="square" lIns="0" tIns="0" rIns="0" bIns="0" rtlCol="0" anchor="t"/>
          <a:lstStyle/>
          <a:p>
            <a:pPr marL="0" indent="0" algn="l">
              <a:spcBef>
                <a:spcPts val="200"/>
              </a:spcBef>
              <a:buNone/>
            </a:pPr>
            <a:r>
              <a:rPr lang="en-US" sz="650" dirty="0">
                <a:solidFill>
                  <a:srgbClr val="666666"/>
                </a:solidFill>
                <a:latin typeface="Arial" pitchFamily="34" charset="0"/>
                <a:ea typeface="Arial" pitchFamily="34" charset="-122"/>
                <a:cs typeface="Arial" pitchFamily="34" charset="-120"/>
              </a:rPr>
              <a:t>Capture Duration</a:t>
            </a:r>
            <a:endParaRPr lang="en-US" sz="650" dirty="0"/>
          </a:p>
        </p:txBody>
      </p:sp>
      <p:sp>
        <p:nvSpPr>
          <p:cNvPr id="42" name="Text 40"/>
          <p:cNvSpPr/>
          <p:nvPr/>
        </p:nvSpPr>
        <p:spPr>
          <a:xfrm>
            <a:off x="6070550" y="2419112"/>
            <a:ext cx="1320850" cy="485477"/>
          </a:xfrm>
          <a:prstGeom prst="roundRect">
            <a:avLst>
              <a:gd name="adj" fmla="val 7848"/>
            </a:avLst>
          </a:prstGeom>
          <a:solidFill>
            <a:srgbClr val="F0F2F5"/>
          </a:solidFill>
          <a:ln/>
        </p:spPr>
        <p:txBody>
          <a:bodyPr wrap="square" rtlCol="0" anchor="ctr"/>
          <a:lstStyle/>
          <a:p>
            <a:pPr marL="0" indent="0">
              <a:buNone/>
            </a:pPr>
            <a:endParaRPr lang="en-US" dirty="0"/>
          </a:p>
        </p:txBody>
      </p:sp>
      <p:sp>
        <p:nvSpPr>
          <p:cNvPr id="43" name="Shape 41"/>
          <p:cNvSpPr/>
          <p:nvPr/>
        </p:nvSpPr>
        <p:spPr>
          <a:xfrm>
            <a:off x="6070550" y="2438162"/>
            <a:ext cx="1320850" cy="0"/>
          </a:xfrm>
          <a:prstGeom prst="line">
            <a:avLst/>
          </a:prstGeom>
          <a:noFill/>
          <a:ln w="38100">
            <a:solidFill>
              <a:srgbClr val="E75113"/>
            </a:solidFill>
            <a:prstDash val="solid"/>
          </a:ln>
        </p:spPr>
      </p:sp>
      <p:sp>
        <p:nvSpPr>
          <p:cNvPr id="44" name="Text 42"/>
          <p:cNvSpPr/>
          <p:nvPr/>
        </p:nvSpPr>
        <p:spPr>
          <a:xfrm>
            <a:off x="6146750" y="2520613"/>
            <a:ext cx="1191819" cy="200025"/>
          </a:xfrm>
          <a:prstGeom prst="rect">
            <a:avLst/>
          </a:prstGeom>
          <a:noFill/>
          <a:ln/>
        </p:spPr>
        <p:txBody>
          <a:bodyPr wrap="square" lIns="0" tIns="0" rIns="0" bIns="0" rtlCol="0" anchor="t"/>
          <a:lstStyle/>
          <a:p>
            <a:pPr marL="0" indent="0" algn="l">
              <a:buNone/>
            </a:pPr>
            <a:r>
              <a:rPr lang="en-US" sz="1300" b="1" dirty="0">
                <a:solidFill>
                  <a:srgbClr val="003C71"/>
                </a:solidFill>
                <a:latin typeface="Arial" pitchFamily="34" charset="0"/>
                <a:ea typeface="Arial" pitchFamily="34" charset="-122"/>
                <a:cs typeface="Arial" pitchFamily="34" charset="-120"/>
              </a:rPr>
              <a:t>7</a:t>
            </a:r>
            <a:endParaRPr lang="en-US" sz="1300" dirty="0"/>
          </a:p>
        </p:txBody>
      </p:sp>
      <p:sp>
        <p:nvSpPr>
          <p:cNvPr id="45" name="Text 43"/>
          <p:cNvSpPr/>
          <p:nvPr/>
        </p:nvSpPr>
        <p:spPr>
          <a:xfrm>
            <a:off x="6146750" y="2745938"/>
            <a:ext cx="1191819" cy="95250"/>
          </a:xfrm>
          <a:prstGeom prst="rect">
            <a:avLst/>
          </a:prstGeom>
          <a:noFill/>
          <a:ln/>
        </p:spPr>
        <p:txBody>
          <a:bodyPr wrap="square" lIns="0" tIns="0" rIns="0" bIns="0" rtlCol="0" anchor="t"/>
          <a:lstStyle/>
          <a:p>
            <a:pPr marL="0" indent="0" algn="l">
              <a:spcBef>
                <a:spcPts val="200"/>
              </a:spcBef>
              <a:buNone/>
            </a:pPr>
            <a:r>
              <a:rPr lang="en-US" sz="650" dirty="0">
                <a:solidFill>
                  <a:srgbClr val="666666"/>
                </a:solidFill>
                <a:latin typeface="Arial" pitchFamily="34" charset="0"/>
                <a:ea typeface="Arial" pitchFamily="34" charset="-122"/>
                <a:cs typeface="Arial" pitchFamily="34" charset="-120"/>
              </a:rPr>
              <a:t>Attack Families</a:t>
            </a:r>
            <a:endParaRPr lang="en-US" sz="650" dirty="0"/>
          </a:p>
        </p:txBody>
      </p:sp>
      <p:sp>
        <p:nvSpPr>
          <p:cNvPr id="46" name="Text 44"/>
          <p:cNvSpPr/>
          <p:nvPr/>
        </p:nvSpPr>
        <p:spPr>
          <a:xfrm>
            <a:off x="7467600" y="2419112"/>
            <a:ext cx="1320850" cy="485477"/>
          </a:xfrm>
          <a:prstGeom prst="roundRect">
            <a:avLst>
              <a:gd name="adj" fmla="val 7848"/>
            </a:avLst>
          </a:prstGeom>
          <a:solidFill>
            <a:srgbClr val="F0F2F5"/>
          </a:solidFill>
          <a:ln/>
        </p:spPr>
        <p:txBody>
          <a:bodyPr wrap="square" rtlCol="0" anchor="ctr"/>
          <a:lstStyle/>
          <a:p>
            <a:pPr marL="0" indent="0">
              <a:buNone/>
            </a:pPr>
            <a:endParaRPr lang="en-US" dirty="0"/>
          </a:p>
        </p:txBody>
      </p:sp>
      <p:sp>
        <p:nvSpPr>
          <p:cNvPr id="47" name="Shape 45"/>
          <p:cNvSpPr/>
          <p:nvPr/>
        </p:nvSpPr>
        <p:spPr>
          <a:xfrm>
            <a:off x="7467600" y="2438162"/>
            <a:ext cx="1320850" cy="0"/>
          </a:xfrm>
          <a:prstGeom prst="line">
            <a:avLst/>
          </a:prstGeom>
          <a:noFill/>
          <a:ln w="38100">
            <a:solidFill>
              <a:srgbClr val="E75113"/>
            </a:solidFill>
            <a:prstDash val="solid"/>
          </a:ln>
        </p:spPr>
      </p:sp>
      <p:sp>
        <p:nvSpPr>
          <p:cNvPr id="48" name="Text 46"/>
          <p:cNvSpPr/>
          <p:nvPr/>
        </p:nvSpPr>
        <p:spPr>
          <a:xfrm>
            <a:off x="7543800" y="2520613"/>
            <a:ext cx="1191819" cy="200025"/>
          </a:xfrm>
          <a:prstGeom prst="rect">
            <a:avLst/>
          </a:prstGeom>
          <a:noFill/>
          <a:ln/>
        </p:spPr>
        <p:txBody>
          <a:bodyPr wrap="square" lIns="0" tIns="0" rIns="0" bIns="0" rtlCol="0" anchor="t"/>
          <a:lstStyle/>
          <a:p>
            <a:pPr marL="0" indent="0" algn="l">
              <a:buNone/>
            </a:pPr>
            <a:r>
              <a:rPr lang="en-US" sz="1300" b="1" dirty="0">
                <a:solidFill>
                  <a:srgbClr val="003C71"/>
                </a:solidFill>
                <a:latin typeface="Arial" pitchFamily="34" charset="0"/>
                <a:ea typeface="Arial" pitchFamily="34" charset="-122"/>
                <a:cs typeface="Arial" pitchFamily="34" charset="-120"/>
              </a:rPr>
              <a:t>Public</a:t>
            </a:r>
            <a:endParaRPr lang="en-US" sz="1300" dirty="0"/>
          </a:p>
        </p:txBody>
      </p:sp>
      <p:sp>
        <p:nvSpPr>
          <p:cNvPr id="49" name="Text 47"/>
          <p:cNvSpPr/>
          <p:nvPr/>
        </p:nvSpPr>
        <p:spPr>
          <a:xfrm>
            <a:off x="7543800" y="2745938"/>
            <a:ext cx="1191819" cy="95250"/>
          </a:xfrm>
          <a:prstGeom prst="rect">
            <a:avLst/>
          </a:prstGeom>
          <a:noFill/>
          <a:ln/>
        </p:spPr>
        <p:txBody>
          <a:bodyPr wrap="square" lIns="0" tIns="0" rIns="0" bIns="0" rtlCol="0" anchor="t"/>
          <a:lstStyle/>
          <a:p>
            <a:pPr marL="0" indent="0" algn="l">
              <a:spcBef>
                <a:spcPts val="200"/>
              </a:spcBef>
              <a:buNone/>
            </a:pPr>
            <a:r>
              <a:rPr lang="en-US" sz="650" dirty="0">
                <a:solidFill>
                  <a:srgbClr val="666666"/>
                </a:solidFill>
                <a:latin typeface="Arial" pitchFamily="34" charset="0"/>
                <a:ea typeface="Arial" pitchFamily="34" charset="-122"/>
                <a:cs typeface="Arial" pitchFamily="34" charset="-120"/>
              </a:rPr>
              <a:t>UNB Available</a:t>
            </a:r>
            <a:endParaRPr lang="en-US" sz="650" dirty="0"/>
          </a:p>
        </p:txBody>
      </p:sp>
      <p:sp>
        <p:nvSpPr>
          <p:cNvPr id="50" name="Text 48"/>
          <p:cNvSpPr/>
          <p:nvPr/>
        </p:nvSpPr>
        <p:spPr>
          <a:xfrm>
            <a:off x="0" y="4946749"/>
            <a:ext cx="9144000" cy="196751"/>
          </a:xfrm>
          <a:prstGeom prst="rect">
            <a:avLst/>
          </a:prstGeom>
          <a:solidFill>
            <a:srgbClr val="F0F2F5"/>
          </a:solidFill>
          <a:ln/>
        </p:spPr>
        <p:txBody>
          <a:bodyPr wrap="square" rtlCol="0" anchor="ctr"/>
          <a:lstStyle/>
          <a:p>
            <a:pPr marL="0" indent="0">
              <a:buNone/>
            </a:pPr>
            <a:endParaRPr lang="en-US" dirty="0"/>
          </a:p>
        </p:txBody>
      </p:sp>
      <p:sp>
        <p:nvSpPr>
          <p:cNvPr id="51" name="Text 49"/>
          <p:cNvSpPr/>
          <p:nvPr/>
        </p:nvSpPr>
        <p:spPr>
          <a:xfrm>
            <a:off x="355550" y="4997500"/>
            <a:ext cx="8601557" cy="95250"/>
          </a:xfrm>
          <a:prstGeom prst="rect">
            <a:avLst/>
          </a:prstGeom>
          <a:noFill/>
          <a:ln/>
        </p:spPr>
        <p:txBody>
          <a:bodyPr wrap="square" lIns="0" tIns="0" rIns="0" bIns="0" rtlCol="0" anchor="t"/>
          <a:lstStyle/>
          <a:p>
            <a:pPr marL="0" indent="0" algn="l">
              <a:buNone/>
            </a:pPr>
            <a:r>
              <a:rPr lang="en-US" sz="700" dirty="0">
                <a:solidFill>
                  <a:srgbClr val="888888"/>
                </a:solidFill>
                <a:latin typeface="Arial" pitchFamily="34" charset="0"/>
                <a:ea typeface="Arial" pitchFamily="34" charset="-122"/>
                <a:cs typeface="Arial" pitchFamily="34" charset="-120"/>
              </a:rPr>
              <a:t>Sharafaldin, I., Lashkari, A. H., &amp; Ghorbani, A. A. (2018). Toward generating a new intrusion detection dataset. ICISSP.</a:t>
            </a:r>
            <a:endParaRPr lang="en-US" sz="700" dirty="0"/>
          </a:p>
        </p:txBody>
      </p:sp>
      <p:pic>
        <p:nvPicPr>
          <p:cNvPr id="53" name="图片 52">
            <a:extLst>
              <a:ext uri="{FF2B5EF4-FFF2-40B4-BE49-F238E27FC236}">
                <a16:creationId xmlns:a16="http://schemas.microsoft.com/office/drawing/2014/main" id="{395DEA8F-F8C2-418C-B718-8FFDBB56ECE4}"/>
              </a:ext>
            </a:extLst>
          </p:cNvPr>
          <p:cNvPicPr>
            <a:picLocks noChangeAspect="1"/>
          </p:cNvPicPr>
          <p:nvPr/>
        </p:nvPicPr>
        <p:blipFill>
          <a:blip r:embed="rId3"/>
          <a:stretch>
            <a:fillRect/>
          </a:stretch>
        </p:blipFill>
        <p:spPr>
          <a:xfrm>
            <a:off x="68482" y="2427215"/>
            <a:ext cx="4335101" cy="1931213"/>
          </a:xfrm>
          <a:prstGeom prst="rect">
            <a:avLst/>
          </a:prstGeom>
        </p:spPr>
      </p:pic>
      <p:sp>
        <p:nvSpPr>
          <p:cNvPr id="55" name="文本框 54">
            <a:extLst>
              <a:ext uri="{FF2B5EF4-FFF2-40B4-BE49-F238E27FC236}">
                <a16:creationId xmlns:a16="http://schemas.microsoft.com/office/drawing/2014/main" id="{B46CCA52-2941-ED74-E559-CEF68D348376}"/>
              </a:ext>
            </a:extLst>
          </p:cNvPr>
          <p:cNvSpPr txBox="1"/>
          <p:nvPr/>
        </p:nvSpPr>
        <p:spPr>
          <a:xfrm>
            <a:off x="129808" y="4323395"/>
            <a:ext cx="4572000" cy="630942"/>
          </a:xfrm>
          <a:prstGeom prst="rect">
            <a:avLst/>
          </a:prstGeom>
          <a:noFill/>
        </p:spPr>
        <p:txBody>
          <a:bodyPr wrap="square">
            <a:spAutoFit/>
          </a:bodyPr>
          <a:lstStyle/>
          <a:p>
            <a:r>
              <a:rPr lang="zh-CN" altLang="en-US" sz="700" dirty="0"/>
              <a:t>Note. This diagram illustrates the network topology of the testbed environment, which is separated into a victim network and an attack network. GW = gateway; IP = Internet Protocol. From "Toward Generating a New Intrusion Detection Dataset and Intrusion Traffic Characterization," by I. Sharafaldin, A. H. Lashkari, and A. A. Ghorbani, 2018, Proceedings of the 4th International Conference on Information Systems Security and Privacy (ICISSP), p. 110. Copyright 2018 by SCITEPRESS.</a:t>
            </a:r>
          </a:p>
        </p:txBody>
      </p:sp>
      <p:sp>
        <p:nvSpPr>
          <p:cNvPr id="57" name="文本框 56">
            <a:extLst>
              <a:ext uri="{FF2B5EF4-FFF2-40B4-BE49-F238E27FC236}">
                <a16:creationId xmlns:a16="http://schemas.microsoft.com/office/drawing/2014/main" id="{2C72FC2E-2032-5E47-A790-0331BC129271}"/>
              </a:ext>
            </a:extLst>
          </p:cNvPr>
          <p:cNvSpPr txBox="1"/>
          <p:nvPr/>
        </p:nvSpPr>
        <p:spPr>
          <a:xfrm>
            <a:off x="129808" y="2320263"/>
            <a:ext cx="4572000" cy="261610"/>
          </a:xfrm>
          <a:prstGeom prst="rect">
            <a:avLst/>
          </a:prstGeom>
          <a:noFill/>
        </p:spPr>
        <p:txBody>
          <a:bodyPr wrap="square">
            <a:spAutoFit/>
          </a:bodyPr>
          <a:lstStyle/>
          <a:p>
            <a:r>
              <a:rPr lang="zh-CN" altLang="en-US" sz="1100" b="1" dirty="0"/>
              <a:t>Figure </a:t>
            </a:r>
            <a:r>
              <a:rPr lang="en-US" altLang="zh-CN" sz="1100" b="1" dirty="0"/>
              <a:t>1</a:t>
            </a:r>
            <a:r>
              <a:rPr lang="zh-CN" altLang="en-US" sz="1100" dirty="0"/>
              <a:t>: Testbed Architecture.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3186684"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Our Project: Dataset Usage</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355550" y="749201"/>
            <a:ext cx="8601557" cy="114300"/>
          </a:xfrm>
          <a:prstGeom prst="rect">
            <a:avLst/>
          </a:prstGeom>
          <a:noFill/>
          <a:ln/>
        </p:spPr>
        <p:txBody>
          <a:bodyPr wrap="square" lIns="0" tIns="0" rIns="0" bIns="0" rtlCol="0" anchor="t"/>
          <a:lstStyle/>
          <a:p>
            <a:pPr marL="0" indent="0" algn="l">
              <a:spcAft>
                <a:spcPts val="100"/>
              </a:spcAft>
              <a:buNone/>
            </a:pPr>
            <a:r>
              <a:rPr lang="en-US" sz="800" b="1" dirty="0">
                <a:solidFill>
                  <a:srgbClr val="333333"/>
                </a:solidFill>
                <a:latin typeface="Arial" pitchFamily="34" charset="0"/>
                <a:ea typeface="Arial" pitchFamily="34" charset="-122"/>
                <a:cs typeface="Arial" pitchFamily="34" charset="-120"/>
              </a:rPr>
              <a:t>Table 2</a:t>
            </a:r>
            <a:endParaRPr lang="en-US" sz="800" dirty="0"/>
          </a:p>
        </p:txBody>
      </p:sp>
      <p:sp>
        <p:nvSpPr>
          <p:cNvPr id="7" name="Text 5"/>
          <p:cNvSpPr/>
          <p:nvPr/>
        </p:nvSpPr>
        <p:spPr>
          <a:xfrm>
            <a:off x="355550" y="977652"/>
            <a:ext cx="8601557" cy="114300"/>
          </a:xfrm>
          <a:prstGeom prst="rect">
            <a:avLst/>
          </a:prstGeom>
          <a:noFill/>
          <a:ln/>
        </p:spPr>
        <p:txBody>
          <a:bodyPr wrap="square" lIns="0" tIns="0" rIns="0" bIns="0" rtlCol="0" anchor="t"/>
          <a:lstStyle/>
          <a:p>
            <a:pPr marL="0" indent="0" algn="l">
              <a:spcAft>
                <a:spcPts val="300"/>
              </a:spcAft>
              <a:buNone/>
            </a:pPr>
            <a:r>
              <a:rPr lang="en-US" sz="800" i="1" dirty="0">
                <a:solidFill>
                  <a:srgbClr val="333333"/>
                </a:solidFill>
                <a:latin typeface="Arial" pitchFamily="34" charset="0"/>
                <a:ea typeface="Arial" pitchFamily="34" charset="-122"/>
                <a:cs typeface="Arial" pitchFamily="34" charset="-120"/>
              </a:rPr>
              <a:t>Dataset Configuration and Sample Distribution</a:t>
            </a:r>
            <a:endParaRPr lang="en-US" sz="800" dirty="0"/>
          </a:p>
        </p:txBody>
      </p:sp>
      <p:sp>
        <p:nvSpPr>
          <p:cNvPr id="8" name="Text 6"/>
          <p:cNvSpPr/>
          <p:nvPr/>
        </p:nvSpPr>
        <p:spPr>
          <a:xfrm>
            <a:off x="355550" y="1231553"/>
            <a:ext cx="1686520" cy="260152"/>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9" name="Text 7"/>
          <p:cNvSpPr/>
          <p:nvPr/>
        </p:nvSpPr>
        <p:spPr>
          <a:xfrm>
            <a:off x="441275" y="1304479"/>
            <a:ext cx="1545372" cy="114300"/>
          </a:xfrm>
          <a:prstGeom prst="rect">
            <a:avLst/>
          </a:prstGeom>
          <a:noFill/>
          <a:ln/>
        </p:spPr>
        <p:txBody>
          <a:bodyPr wrap="square" lIns="0" tIns="0" rIns="0" bIns="0" rtlCol="0" anchor="t"/>
          <a:lstStyle/>
          <a:p>
            <a:pPr marL="0" indent="0" algn="l">
              <a:buNone/>
            </a:pPr>
            <a:r>
              <a:rPr lang="en-US" sz="800" b="1" dirty="0">
                <a:solidFill>
                  <a:srgbClr val="FFFFFF"/>
                </a:solidFill>
                <a:latin typeface="Arial" pitchFamily="34" charset="0"/>
                <a:ea typeface="Arial" pitchFamily="34" charset="-122"/>
                <a:cs typeface="Arial" pitchFamily="34" charset="-120"/>
              </a:rPr>
              <a:t>Dataset</a:t>
            </a:r>
            <a:endParaRPr lang="en-US" sz="800" dirty="0"/>
          </a:p>
        </p:txBody>
      </p:sp>
      <p:sp>
        <p:nvSpPr>
          <p:cNvPr id="10" name="Text 8"/>
          <p:cNvSpPr/>
          <p:nvPr/>
        </p:nvSpPr>
        <p:spPr>
          <a:xfrm>
            <a:off x="2042071" y="1231553"/>
            <a:ext cx="1686669" cy="260152"/>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1" name="Text 9"/>
          <p:cNvSpPr/>
          <p:nvPr/>
        </p:nvSpPr>
        <p:spPr>
          <a:xfrm>
            <a:off x="2127796" y="1304479"/>
            <a:ext cx="1545524" cy="114300"/>
          </a:xfrm>
          <a:prstGeom prst="rect">
            <a:avLst/>
          </a:prstGeom>
          <a:noFill/>
          <a:ln/>
        </p:spPr>
        <p:txBody>
          <a:bodyPr wrap="square" lIns="0" tIns="0" rIns="0" bIns="0" rtlCol="0" anchor="t"/>
          <a:lstStyle/>
          <a:p>
            <a:pPr marL="0" indent="0" algn="l">
              <a:buNone/>
            </a:pPr>
            <a:r>
              <a:rPr lang="en-US" sz="800" b="1" dirty="0">
                <a:solidFill>
                  <a:srgbClr val="FFFFFF"/>
                </a:solidFill>
                <a:latin typeface="Arial" pitchFamily="34" charset="0"/>
                <a:ea typeface="Arial" pitchFamily="34" charset="-122"/>
                <a:cs typeface="Arial" pitchFamily="34" charset="-120"/>
              </a:rPr>
              <a:t>Purpose</a:t>
            </a:r>
            <a:endParaRPr lang="en-US" sz="800" dirty="0"/>
          </a:p>
        </p:txBody>
      </p:sp>
      <p:sp>
        <p:nvSpPr>
          <p:cNvPr id="12" name="Text 10"/>
          <p:cNvSpPr/>
          <p:nvPr/>
        </p:nvSpPr>
        <p:spPr>
          <a:xfrm>
            <a:off x="3728740" y="1231553"/>
            <a:ext cx="1686520" cy="260152"/>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3" name="Text 11"/>
          <p:cNvSpPr/>
          <p:nvPr/>
        </p:nvSpPr>
        <p:spPr>
          <a:xfrm>
            <a:off x="3814465" y="1304479"/>
            <a:ext cx="1545372" cy="114300"/>
          </a:xfrm>
          <a:prstGeom prst="rect">
            <a:avLst/>
          </a:prstGeom>
          <a:noFill/>
          <a:ln/>
        </p:spPr>
        <p:txBody>
          <a:bodyPr wrap="square" lIns="0" tIns="0" rIns="0" bIns="0" rtlCol="0" anchor="t"/>
          <a:lstStyle/>
          <a:p>
            <a:pPr marL="0" indent="0" algn="l">
              <a:buNone/>
            </a:pPr>
            <a:r>
              <a:rPr lang="en-US" sz="800" b="1" dirty="0">
                <a:solidFill>
                  <a:srgbClr val="FFFFFF"/>
                </a:solidFill>
                <a:latin typeface="Arial" pitchFamily="34" charset="0"/>
                <a:ea typeface="Arial" pitchFamily="34" charset="-122"/>
                <a:cs typeface="Arial" pitchFamily="34" charset="-120"/>
              </a:rPr>
              <a:t>Samples</a:t>
            </a:r>
            <a:endParaRPr lang="en-US" sz="800" dirty="0"/>
          </a:p>
        </p:txBody>
      </p:sp>
      <p:sp>
        <p:nvSpPr>
          <p:cNvPr id="14" name="Text 12"/>
          <p:cNvSpPr/>
          <p:nvPr/>
        </p:nvSpPr>
        <p:spPr>
          <a:xfrm>
            <a:off x="5415260" y="1231553"/>
            <a:ext cx="1686669" cy="260152"/>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5" name="Text 13"/>
          <p:cNvSpPr/>
          <p:nvPr/>
        </p:nvSpPr>
        <p:spPr>
          <a:xfrm>
            <a:off x="5500985" y="1304479"/>
            <a:ext cx="1545524" cy="114300"/>
          </a:xfrm>
          <a:prstGeom prst="rect">
            <a:avLst/>
          </a:prstGeom>
          <a:noFill/>
          <a:ln/>
        </p:spPr>
        <p:txBody>
          <a:bodyPr wrap="square" lIns="0" tIns="0" rIns="0" bIns="0" rtlCol="0" anchor="t"/>
          <a:lstStyle/>
          <a:p>
            <a:pPr marL="0" indent="0" algn="l">
              <a:buNone/>
            </a:pPr>
            <a:r>
              <a:rPr lang="en-US" sz="800" b="1" dirty="0">
                <a:solidFill>
                  <a:srgbClr val="FFFFFF"/>
                </a:solidFill>
                <a:latin typeface="Arial" pitchFamily="34" charset="0"/>
                <a:ea typeface="Arial" pitchFamily="34" charset="-122"/>
                <a:cs typeface="Arial" pitchFamily="34" charset="-120"/>
              </a:rPr>
              <a:t>Features</a:t>
            </a:r>
            <a:endParaRPr lang="en-US" sz="800" dirty="0"/>
          </a:p>
        </p:txBody>
      </p:sp>
      <p:sp>
        <p:nvSpPr>
          <p:cNvPr id="16" name="Text 14"/>
          <p:cNvSpPr/>
          <p:nvPr/>
        </p:nvSpPr>
        <p:spPr>
          <a:xfrm>
            <a:off x="7101929" y="1231553"/>
            <a:ext cx="1686520" cy="260152"/>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7" name="Text 15"/>
          <p:cNvSpPr/>
          <p:nvPr/>
        </p:nvSpPr>
        <p:spPr>
          <a:xfrm>
            <a:off x="7187654" y="1304479"/>
            <a:ext cx="1545372" cy="114300"/>
          </a:xfrm>
          <a:prstGeom prst="rect">
            <a:avLst/>
          </a:prstGeom>
          <a:noFill/>
          <a:ln/>
        </p:spPr>
        <p:txBody>
          <a:bodyPr wrap="square" lIns="0" tIns="0" rIns="0" bIns="0" rtlCol="0" anchor="t"/>
          <a:lstStyle/>
          <a:p>
            <a:pPr marL="0" indent="0" algn="l">
              <a:buNone/>
            </a:pPr>
            <a:r>
              <a:rPr lang="en-US" sz="800" b="1" dirty="0">
                <a:solidFill>
                  <a:srgbClr val="FFFFFF"/>
                </a:solidFill>
                <a:latin typeface="Arial" pitchFamily="34" charset="0"/>
                <a:ea typeface="Arial" pitchFamily="34" charset="-122"/>
                <a:cs typeface="Arial" pitchFamily="34" charset="-120"/>
              </a:rPr>
              <a:t>Classes</a:t>
            </a:r>
            <a:endParaRPr lang="en-US" sz="800" dirty="0"/>
          </a:p>
        </p:txBody>
      </p:sp>
      <p:sp>
        <p:nvSpPr>
          <p:cNvPr id="18" name="Text 16"/>
          <p:cNvSpPr/>
          <p:nvPr/>
        </p:nvSpPr>
        <p:spPr>
          <a:xfrm>
            <a:off x="355550" y="1593205"/>
            <a:ext cx="1686520" cy="234851"/>
          </a:xfrm>
          <a:prstGeom prst="rect">
            <a:avLst/>
          </a:prstGeom>
          <a:solidFill>
            <a:srgbClr val="F0F8FF"/>
          </a:solidFill>
          <a:ln w="9525">
            <a:solidFill>
              <a:srgbClr val="DDDDDD"/>
            </a:solidFill>
          </a:ln>
        </p:spPr>
        <p:txBody>
          <a:bodyPr wrap="square" rtlCol="0" anchor="ctr"/>
          <a:lstStyle/>
          <a:p>
            <a:pPr marL="0" indent="0">
              <a:buNone/>
            </a:pPr>
            <a:endParaRPr lang="en-US" dirty="0"/>
          </a:p>
        </p:txBody>
      </p:sp>
      <p:sp>
        <p:nvSpPr>
          <p:cNvPr id="19" name="Text 17"/>
          <p:cNvSpPr/>
          <p:nvPr/>
        </p:nvSpPr>
        <p:spPr>
          <a:xfrm>
            <a:off x="441275" y="1653480"/>
            <a:ext cx="1545372" cy="114300"/>
          </a:xfrm>
          <a:prstGeom prst="rect">
            <a:avLst/>
          </a:prstGeom>
          <a:noFill/>
          <a:ln/>
        </p:spPr>
        <p:txBody>
          <a:bodyPr wrap="square" lIns="0" tIns="0" rIns="0" bIns="0" rtlCol="0" anchor="t"/>
          <a:lstStyle/>
          <a:p>
            <a:pPr marL="0" indent="0" algn="l">
              <a:buNone/>
            </a:pPr>
            <a:r>
              <a:rPr lang="en-US" sz="800" b="1" dirty="0">
                <a:solidFill>
                  <a:srgbClr val="003C71"/>
                </a:solidFill>
                <a:latin typeface="Arial" pitchFamily="34" charset="0"/>
                <a:ea typeface="Arial" pitchFamily="34" charset="-122"/>
                <a:cs typeface="Arial" pitchFamily="34" charset="-120"/>
              </a:rPr>
              <a:t>CIC-IDS2017</a:t>
            </a:r>
            <a:endParaRPr lang="en-US" sz="800" dirty="0"/>
          </a:p>
        </p:txBody>
      </p:sp>
      <p:sp>
        <p:nvSpPr>
          <p:cNvPr id="20" name="Text 18"/>
          <p:cNvSpPr/>
          <p:nvPr/>
        </p:nvSpPr>
        <p:spPr>
          <a:xfrm>
            <a:off x="2042071" y="1593205"/>
            <a:ext cx="1686669" cy="234851"/>
          </a:xfrm>
          <a:prstGeom prst="rect">
            <a:avLst/>
          </a:prstGeom>
          <a:solidFill>
            <a:srgbClr val="F0F8FF"/>
          </a:solidFill>
          <a:ln w="9525">
            <a:solidFill>
              <a:srgbClr val="DDDDDD"/>
            </a:solidFill>
          </a:ln>
        </p:spPr>
        <p:txBody>
          <a:bodyPr wrap="square" rtlCol="0" anchor="ctr"/>
          <a:lstStyle/>
          <a:p>
            <a:pPr marL="0" indent="0">
              <a:buNone/>
            </a:pPr>
            <a:endParaRPr lang="en-US" dirty="0"/>
          </a:p>
        </p:txBody>
      </p:sp>
      <p:sp>
        <p:nvSpPr>
          <p:cNvPr id="21" name="Text 19"/>
          <p:cNvSpPr/>
          <p:nvPr/>
        </p:nvSpPr>
        <p:spPr>
          <a:xfrm>
            <a:off x="2127796" y="1653480"/>
            <a:ext cx="1545524"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Primary training/testing</a:t>
            </a:r>
            <a:endParaRPr lang="en-US" sz="800" dirty="0"/>
          </a:p>
        </p:txBody>
      </p:sp>
      <p:sp>
        <p:nvSpPr>
          <p:cNvPr id="22" name="Text 20"/>
          <p:cNvSpPr/>
          <p:nvPr/>
        </p:nvSpPr>
        <p:spPr>
          <a:xfrm>
            <a:off x="3728740" y="1593205"/>
            <a:ext cx="1686520" cy="234851"/>
          </a:xfrm>
          <a:prstGeom prst="rect">
            <a:avLst/>
          </a:prstGeom>
          <a:solidFill>
            <a:srgbClr val="F0F8FF"/>
          </a:solidFill>
          <a:ln w="9525">
            <a:solidFill>
              <a:srgbClr val="DDDDDD"/>
            </a:solidFill>
          </a:ln>
        </p:spPr>
        <p:txBody>
          <a:bodyPr wrap="square" rtlCol="0" anchor="ctr"/>
          <a:lstStyle/>
          <a:p>
            <a:pPr marL="0" indent="0">
              <a:buNone/>
            </a:pPr>
            <a:endParaRPr lang="en-US" dirty="0"/>
          </a:p>
        </p:txBody>
      </p:sp>
      <p:sp>
        <p:nvSpPr>
          <p:cNvPr id="23" name="Text 21"/>
          <p:cNvSpPr/>
          <p:nvPr/>
        </p:nvSpPr>
        <p:spPr>
          <a:xfrm>
            <a:off x="3814465" y="1653480"/>
            <a:ext cx="1545372"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2.3M</a:t>
            </a:r>
            <a:endParaRPr lang="en-US" sz="800" dirty="0"/>
          </a:p>
        </p:txBody>
      </p:sp>
      <p:sp>
        <p:nvSpPr>
          <p:cNvPr id="24" name="Text 22"/>
          <p:cNvSpPr/>
          <p:nvPr/>
        </p:nvSpPr>
        <p:spPr>
          <a:xfrm>
            <a:off x="5415260" y="1593205"/>
            <a:ext cx="1686669" cy="234851"/>
          </a:xfrm>
          <a:prstGeom prst="rect">
            <a:avLst/>
          </a:prstGeom>
          <a:solidFill>
            <a:srgbClr val="F0F8FF"/>
          </a:solidFill>
          <a:ln w="9525">
            <a:solidFill>
              <a:srgbClr val="DDDDDD"/>
            </a:solidFill>
          </a:ln>
        </p:spPr>
        <p:txBody>
          <a:bodyPr wrap="square" rtlCol="0" anchor="ctr"/>
          <a:lstStyle/>
          <a:p>
            <a:pPr marL="0" indent="0">
              <a:buNone/>
            </a:pPr>
            <a:endParaRPr lang="en-US" dirty="0"/>
          </a:p>
        </p:txBody>
      </p:sp>
      <p:sp>
        <p:nvSpPr>
          <p:cNvPr id="25" name="Text 23"/>
          <p:cNvSpPr/>
          <p:nvPr/>
        </p:nvSpPr>
        <p:spPr>
          <a:xfrm>
            <a:off x="5500985" y="1653480"/>
            <a:ext cx="1545524"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80 to 76</a:t>
            </a:r>
            <a:endParaRPr lang="en-US" sz="800" dirty="0"/>
          </a:p>
        </p:txBody>
      </p:sp>
      <p:sp>
        <p:nvSpPr>
          <p:cNvPr id="26" name="Text 24"/>
          <p:cNvSpPr/>
          <p:nvPr/>
        </p:nvSpPr>
        <p:spPr>
          <a:xfrm>
            <a:off x="7101929" y="1593205"/>
            <a:ext cx="1686520" cy="234851"/>
          </a:xfrm>
          <a:prstGeom prst="rect">
            <a:avLst/>
          </a:prstGeom>
          <a:solidFill>
            <a:srgbClr val="F0F8FF"/>
          </a:solidFill>
          <a:ln w="9525">
            <a:solidFill>
              <a:srgbClr val="DDDDDD"/>
            </a:solidFill>
          </a:ln>
        </p:spPr>
        <p:txBody>
          <a:bodyPr wrap="square" rtlCol="0" anchor="ctr"/>
          <a:lstStyle/>
          <a:p>
            <a:pPr marL="0" indent="0">
              <a:buNone/>
            </a:pPr>
            <a:endParaRPr lang="en-US" dirty="0"/>
          </a:p>
        </p:txBody>
      </p:sp>
      <p:sp>
        <p:nvSpPr>
          <p:cNvPr id="27" name="Text 25"/>
          <p:cNvSpPr/>
          <p:nvPr/>
        </p:nvSpPr>
        <p:spPr>
          <a:xfrm>
            <a:off x="7187654" y="1653480"/>
            <a:ext cx="1545372"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15</a:t>
            </a:r>
            <a:endParaRPr lang="en-US" sz="800" dirty="0"/>
          </a:p>
        </p:txBody>
      </p:sp>
      <p:sp>
        <p:nvSpPr>
          <p:cNvPr id="28" name="Text 26"/>
          <p:cNvSpPr/>
          <p:nvPr/>
        </p:nvSpPr>
        <p:spPr>
          <a:xfrm>
            <a:off x="355550" y="1929557"/>
            <a:ext cx="1686520" cy="234851"/>
          </a:xfrm>
          <a:prstGeom prst="rect">
            <a:avLst/>
          </a:prstGeom>
          <a:solidFill>
            <a:srgbClr val="F0F8FF"/>
          </a:solidFill>
          <a:ln w="9525">
            <a:solidFill>
              <a:srgbClr val="DDDDDD"/>
            </a:solidFill>
          </a:ln>
        </p:spPr>
        <p:txBody>
          <a:bodyPr wrap="square" rtlCol="0" anchor="ctr"/>
          <a:lstStyle/>
          <a:p>
            <a:pPr marL="0" indent="0">
              <a:buNone/>
            </a:pPr>
            <a:endParaRPr lang="en-US" dirty="0"/>
          </a:p>
        </p:txBody>
      </p:sp>
      <p:sp>
        <p:nvSpPr>
          <p:cNvPr id="29" name="Text 27"/>
          <p:cNvSpPr/>
          <p:nvPr/>
        </p:nvSpPr>
        <p:spPr>
          <a:xfrm>
            <a:off x="441275" y="1989832"/>
            <a:ext cx="1545372" cy="114300"/>
          </a:xfrm>
          <a:prstGeom prst="rect">
            <a:avLst/>
          </a:prstGeom>
          <a:noFill/>
          <a:ln/>
        </p:spPr>
        <p:txBody>
          <a:bodyPr wrap="square" lIns="0" tIns="0" rIns="0" bIns="0" rtlCol="0" anchor="t"/>
          <a:lstStyle/>
          <a:p>
            <a:pPr marL="0" indent="0" algn="l">
              <a:buNone/>
            </a:pPr>
            <a:r>
              <a:rPr lang="en-US" sz="800" b="1" dirty="0">
                <a:solidFill>
                  <a:srgbClr val="003C71"/>
                </a:solidFill>
                <a:latin typeface="Arial" pitchFamily="34" charset="0"/>
                <a:ea typeface="Arial" pitchFamily="34" charset="-122"/>
                <a:cs typeface="Arial" pitchFamily="34" charset="-120"/>
              </a:rPr>
              <a:t>CIC-IDS2017 S2</a:t>
            </a:r>
            <a:endParaRPr lang="en-US" sz="800" dirty="0"/>
          </a:p>
        </p:txBody>
      </p:sp>
      <p:sp>
        <p:nvSpPr>
          <p:cNvPr id="30" name="Text 28"/>
          <p:cNvSpPr/>
          <p:nvPr/>
        </p:nvSpPr>
        <p:spPr>
          <a:xfrm>
            <a:off x="2042071" y="1929557"/>
            <a:ext cx="1686669" cy="234851"/>
          </a:xfrm>
          <a:prstGeom prst="rect">
            <a:avLst/>
          </a:prstGeom>
          <a:solidFill>
            <a:srgbClr val="F0F8FF"/>
          </a:solidFill>
          <a:ln w="9525">
            <a:solidFill>
              <a:srgbClr val="DDDDDD"/>
            </a:solidFill>
          </a:ln>
        </p:spPr>
        <p:txBody>
          <a:bodyPr wrap="square" rtlCol="0" anchor="ctr"/>
          <a:lstStyle/>
          <a:p>
            <a:pPr marL="0" indent="0">
              <a:buNone/>
            </a:pPr>
            <a:endParaRPr lang="en-US" dirty="0"/>
          </a:p>
        </p:txBody>
      </p:sp>
      <p:sp>
        <p:nvSpPr>
          <p:cNvPr id="31" name="Text 29"/>
          <p:cNvSpPr/>
          <p:nvPr/>
        </p:nvSpPr>
        <p:spPr>
          <a:xfrm>
            <a:off x="2127796" y="1989832"/>
            <a:ext cx="1545524"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S2 train/val/test</a:t>
            </a:r>
            <a:endParaRPr lang="en-US" sz="800" dirty="0"/>
          </a:p>
        </p:txBody>
      </p:sp>
      <p:sp>
        <p:nvSpPr>
          <p:cNvPr id="32" name="Text 30"/>
          <p:cNvSpPr/>
          <p:nvPr/>
        </p:nvSpPr>
        <p:spPr>
          <a:xfrm>
            <a:off x="3728740" y="1929557"/>
            <a:ext cx="1686520" cy="234851"/>
          </a:xfrm>
          <a:prstGeom prst="rect">
            <a:avLst/>
          </a:prstGeom>
          <a:solidFill>
            <a:srgbClr val="F0F8FF"/>
          </a:solidFill>
          <a:ln w="9525">
            <a:solidFill>
              <a:srgbClr val="DDDDDD"/>
            </a:solidFill>
          </a:ln>
        </p:spPr>
        <p:txBody>
          <a:bodyPr wrap="square" rtlCol="0" anchor="ctr"/>
          <a:lstStyle/>
          <a:p>
            <a:pPr marL="0" indent="0">
              <a:buNone/>
            </a:pPr>
            <a:endParaRPr lang="en-US" dirty="0"/>
          </a:p>
        </p:txBody>
      </p:sp>
      <p:sp>
        <p:nvSpPr>
          <p:cNvPr id="33" name="Text 31"/>
          <p:cNvSpPr/>
          <p:nvPr/>
        </p:nvSpPr>
        <p:spPr>
          <a:xfrm>
            <a:off x="3814465" y="1989832"/>
            <a:ext cx="1545372"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235K/33K/67K</a:t>
            </a:r>
            <a:endParaRPr lang="en-US" sz="800" dirty="0"/>
          </a:p>
        </p:txBody>
      </p:sp>
      <p:sp>
        <p:nvSpPr>
          <p:cNvPr id="34" name="Text 32"/>
          <p:cNvSpPr/>
          <p:nvPr/>
        </p:nvSpPr>
        <p:spPr>
          <a:xfrm>
            <a:off x="5415260" y="1929557"/>
            <a:ext cx="1686669" cy="234851"/>
          </a:xfrm>
          <a:prstGeom prst="rect">
            <a:avLst/>
          </a:prstGeom>
          <a:solidFill>
            <a:srgbClr val="F0F8FF"/>
          </a:solidFill>
          <a:ln w="9525">
            <a:solidFill>
              <a:srgbClr val="DDDDDD"/>
            </a:solidFill>
          </a:ln>
        </p:spPr>
        <p:txBody>
          <a:bodyPr wrap="square" rtlCol="0" anchor="ctr"/>
          <a:lstStyle/>
          <a:p>
            <a:pPr marL="0" indent="0">
              <a:buNone/>
            </a:pPr>
            <a:endParaRPr lang="en-US" dirty="0"/>
          </a:p>
        </p:txBody>
      </p:sp>
      <p:sp>
        <p:nvSpPr>
          <p:cNvPr id="35" name="Text 33"/>
          <p:cNvSpPr/>
          <p:nvPr/>
        </p:nvSpPr>
        <p:spPr>
          <a:xfrm>
            <a:off x="5500985" y="1989832"/>
            <a:ext cx="1545524"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76</a:t>
            </a:r>
            <a:endParaRPr lang="en-US" sz="800" dirty="0"/>
          </a:p>
        </p:txBody>
      </p:sp>
      <p:sp>
        <p:nvSpPr>
          <p:cNvPr id="36" name="Text 34"/>
          <p:cNvSpPr/>
          <p:nvPr/>
        </p:nvSpPr>
        <p:spPr>
          <a:xfrm>
            <a:off x="7101929" y="1929557"/>
            <a:ext cx="1686520" cy="234851"/>
          </a:xfrm>
          <a:prstGeom prst="rect">
            <a:avLst/>
          </a:prstGeom>
          <a:solidFill>
            <a:srgbClr val="F0F8FF"/>
          </a:solidFill>
          <a:ln w="9525">
            <a:solidFill>
              <a:srgbClr val="DDDDDD"/>
            </a:solidFill>
          </a:ln>
        </p:spPr>
        <p:txBody>
          <a:bodyPr wrap="square" rtlCol="0" anchor="ctr"/>
          <a:lstStyle/>
          <a:p>
            <a:pPr marL="0" indent="0">
              <a:buNone/>
            </a:pPr>
            <a:endParaRPr lang="en-US" dirty="0"/>
          </a:p>
        </p:txBody>
      </p:sp>
      <p:sp>
        <p:nvSpPr>
          <p:cNvPr id="37" name="Text 35"/>
          <p:cNvSpPr/>
          <p:nvPr/>
        </p:nvSpPr>
        <p:spPr>
          <a:xfrm>
            <a:off x="7187654" y="1989832"/>
            <a:ext cx="1545372"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15</a:t>
            </a:r>
            <a:endParaRPr lang="en-US" sz="800" dirty="0"/>
          </a:p>
        </p:txBody>
      </p:sp>
      <p:sp>
        <p:nvSpPr>
          <p:cNvPr id="38" name="Text 36"/>
          <p:cNvSpPr/>
          <p:nvPr/>
        </p:nvSpPr>
        <p:spPr>
          <a:xfrm>
            <a:off x="355550" y="2265908"/>
            <a:ext cx="1686520" cy="234851"/>
          </a:xfrm>
          <a:prstGeom prst="rect">
            <a:avLst/>
          </a:prstGeom>
          <a:solidFill>
            <a:srgbClr val="FFF8F0"/>
          </a:solidFill>
          <a:ln w="9525">
            <a:solidFill>
              <a:srgbClr val="DDDDDD"/>
            </a:solidFill>
          </a:ln>
        </p:spPr>
        <p:txBody>
          <a:bodyPr wrap="square" rtlCol="0" anchor="ctr"/>
          <a:lstStyle/>
          <a:p>
            <a:pPr marL="0" indent="0">
              <a:buNone/>
            </a:pPr>
            <a:endParaRPr lang="en-US" dirty="0"/>
          </a:p>
        </p:txBody>
      </p:sp>
      <p:sp>
        <p:nvSpPr>
          <p:cNvPr id="39" name="Text 37"/>
          <p:cNvSpPr/>
          <p:nvPr/>
        </p:nvSpPr>
        <p:spPr>
          <a:xfrm>
            <a:off x="441275" y="2326184"/>
            <a:ext cx="1545372" cy="114300"/>
          </a:xfrm>
          <a:prstGeom prst="rect">
            <a:avLst/>
          </a:prstGeom>
          <a:noFill/>
          <a:ln/>
        </p:spPr>
        <p:txBody>
          <a:bodyPr wrap="square" lIns="0" tIns="0" rIns="0" bIns="0" rtlCol="0" anchor="t"/>
          <a:lstStyle/>
          <a:p>
            <a:pPr marL="0" indent="0" algn="l">
              <a:buNone/>
            </a:pPr>
            <a:r>
              <a:rPr lang="en-US" sz="800" b="1" dirty="0">
                <a:solidFill>
                  <a:srgbClr val="003C71"/>
                </a:solidFill>
                <a:latin typeface="Arial" pitchFamily="34" charset="0"/>
                <a:ea typeface="Arial" pitchFamily="34" charset="-122"/>
                <a:cs typeface="Arial" pitchFamily="34" charset="-120"/>
              </a:rPr>
              <a:t>UNSW-NB15</a:t>
            </a:r>
            <a:endParaRPr lang="en-US" sz="800" dirty="0"/>
          </a:p>
        </p:txBody>
      </p:sp>
      <p:sp>
        <p:nvSpPr>
          <p:cNvPr id="40" name="Text 38"/>
          <p:cNvSpPr/>
          <p:nvPr/>
        </p:nvSpPr>
        <p:spPr>
          <a:xfrm>
            <a:off x="2042071" y="2265908"/>
            <a:ext cx="1686669" cy="234851"/>
          </a:xfrm>
          <a:prstGeom prst="rect">
            <a:avLst/>
          </a:prstGeom>
          <a:solidFill>
            <a:srgbClr val="FFF8F0"/>
          </a:solidFill>
          <a:ln w="9525">
            <a:solidFill>
              <a:srgbClr val="DDDDDD"/>
            </a:solidFill>
          </a:ln>
        </p:spPr>
        <p:txBody>
          <a:bodyPr wrap="square" rtlCol="0" anchor="ctr"/>
          <a:lstStyle/>
          <a:p>
            <a:pPr marL="0" indent="0">
              <a:buNone/>
            </a:pPr>
            <a:endParaRPr lang="en-US" dirty="0"/>
          </a:p>
        </p:txBody>
      </p:sp>
      <p:sp>
        <p:nvSpPr>
          <p:cNvPr id="41" name="Text 39"/>
          <p:cNvSpPr/>
          <p:nvPr/>
        </p:nvSpPr>
        <p:spPr>
          <a:xfrm>
            <a:off x="2127796" y="2326184"/>
            <a:ext cx="1545524"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Generalization test</a:t>
            </a:r>
            <a:endParaRPr lang="en-US" sz="800" dirty="0"/>
          </a:p>
        </p:txBody>
      </p:sp>
      <p:sp>
        <p:nvSpPr>
          <p:cNvPr id="42" name="Text 40"/>
          <p:cNvSpPr/>
          <p:nvPr/>
        </p:nvSpPr>
        <p:spPr>
          <a:xfrm>
            <a:off x="3728740" y="2265908"/>
            <a:ext cx="1686520" cy="234851"/>
          </a:xfrm>
          <a:prstGeom prst="rect">
            <a:avLst/>
          </a:prstGeom>
          <a:solidFill>
            <a:srgbClr val="FFF8F0"/>
          </a:solidFill>
          <a:ln w="9525">
            <a:solidFill>
              <a:srgbClr val="DDDDDD"/>
            </a:solidFill>
          </a:ln>
        </p:spPr>
        <p:txBody>
          <a:bodyPr wrap="square" rtlCol="0" anchor="ctr"/>
          <a:lstStyle/>
          <a:p>
            <a:pPr marL="0" indent="0">
              <a:buNone/>
            </a:pPr>
            <a:endParaRPr lang="en-US" dirty="0"/>
          </a:p>
        </p:txBody>
      </p:sp>
      <p:sp>
        <p:nvSpPr>
          <p:cNvPr id="43" name="Text 41"/>
          <p:cNvSpPr/>
          <p:nvPr/>
        </p:nvSpPr>
        <p:spPr>
          <a:xfrm>
            <a:off x="3814465" y="2326184"/>
            <a:ext cx="1545372"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149K/26K/82K</a:t>
            </a:r>
            <a:endParaRPr lang="en-US" sz="800" dirty="0"/>
          </a:p>
        </p:txBody>
      </p:sp>
      <p:sp>
        <p:nvSpPr>
          <p:cNvPr id="44" name="Text 42"/>
          <p:cNvSpPr/>
          <p:nvPr/>
        </p:nvSpPr>
        <p:spPr>
          <a:xfrm>
            <a:off x="5415260" y="2265908"/>
            <a:ext cx="1686669" cy="234851"/>
          </a:xfrm>
          <a:prstGeom prst="rect">
            <a:avLst/>
          </a:prstGeom>
          <a:solidFill>
            <a:srgbClr val="FFF8F0"/>
          </a:solidFill>
          <a:ln w="9525">
            <a:solidFill>
              <a:srgbClr val="DDDDDD"/>
            </a:solidFill>
          </a:ln>
        </p:spPr>
        <p:txBody>
          <a:bodyPr wrap="square" rtlCol="0" anchor="ctr"/>
          <a:lstStyle/>
          <a:p>
            <a:pPr marL="0" indent="0">
              <a:buNone/>
            </a:pPr>
            <a:endParaRPr lang="en-US" dirty="0"/>
          </a:p>
        </p:txBody>
      </p:sp>
      <p:sp>
        <p:nvSpPr>
          <p:cNvPr id="45" name="Text 43"/>
          <p:cNvSpPr/>
          <p:nvPr/>
        </p:nvSpPr>
        <p:spPr>
          <a:xfrm>
            <a:off x="5500985" y="2326184"/>
            <a:ext cx="1545524"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186</a:t>
            </a:r>
            <a:endParaRPr lang="en-US" sz="800" dirty="0"/>
          </a:p>
        </p:txBody>
      </p:sp>
      <p:sp>
        <p:nvSpPr>
          <p:cNvPr id="46" name="Text 44"/>
          <p:cNvSpPr/>
          <p:nvPr/>
        </p:nvSpPr>
        <p:spPr>
          <a:xfrm>
            <a:off x="7101929" y="2265908"/>
            <a:ext cx="1686520" cy="234851"/>
          </a:xfrm>
          <a:prstGeom prst="rect">
            <a:avLst/>
          </a:prstGeom>
          <a:solidFill>
            <a:srgbClr val="FFF8F0"/>
          </a:solidFill>
          <a:ln w="9525">
            <a:solidFill>
              <a:srgbClr val="DDDDDD"/>
            </a:solidFill>
          </a:ln>
        </p:spPr>
        <p:txBody>
          <a:bodyPr wrap="square" rtlCol="0" anchor="ctr"/>
          <a:lstStyle/>
          <a:p>
            <a:pPr marL="0" indent="0">
              <a:buNone/>
            </a:pPr>
            <a:endParaRPr lang="en-US" dirty="0"/>
          </a:p>
        </p:txBody>
      </p:sp>
      <p:sp>
        <p:nvSpPr>
          <p:cNvPr id="47" name="Text 45"/>
          <p:cNvSpPr/>
          <p:nvPr/>
        </p:nvSpPr>
        <p:spPr>
          <a:xfrm>
            <a:off x="7187654" y="2326184"/>
            <a:ext cx="1545372" cy="114300"/>
          </a:xfrm>
          <a:prstGeom prst="rect">
            <a:avLst/>
          </a:prstGeom>
          <a:noFill/>
          <a:ln/>
        </p:spPr>
        <p:txBody>
          <a:bodyPr wrap="square" lIns="0" tIns="0" rIns="0" bIns="0" rtlCol="0" anchor="t"/>
          <a:lstStyle/>
          <a:p>
            <a:pPr marL="0" indent="0" algn="l">
              <a:buNone/>
            </a:pPr>
            <a:r>
              <a:rPr lang="en-US" sz="800" dirty="0">
                <a:solidFill>
                  <a:srgbClr val="333333"/>
                </a:solidFill>
                <a:latin typeface="Arial" pitchFamily="34" charset="0"/>
                <a:ea typeface="Arial" pitchFamily="34" charset="-122"/>
                <a:cs typeface="Arial" pitchFamily="34" charset="-120"/>
              </a:rPr>
              <a:t>10</a:t>
            </a:r>
            <a:endParaRPr lang="en-US" sz="800" dirty="0"/>
          </a:p>
        </p:txBody>
      </p:sp>
      <p:sp>
        <p:nvSpPr>
          <p:cNvPr id="48" name="Text 46"/>
          <p:cNvSpPr/>
          <p:nvPr/>
        </p:nvSpPr>
        <p:spPr>
          <a:xfrm>
            <a:off x="355550" y="2602260"/>
            <a:ext cx="8601557" cy="152400"/>
          </a:xfrm>
          <a:prstGeom prst="rect">
            <a:avLst/>
          </a:prstGeom>
          <a:noFill/>
          <a:ln/>
        </p:spPr>
        <p:txBody>
          <a:bodyPr wrap="square" lIns="0" tIns="0" rIns="0" bIns="0" rtlCol="0" anchor="t"/>
          <a:lstStyle/>
          <a:p>
            <a:pPr marL="0" indent="0" algn="l">
              <a:spcAft>
                <a:spcPts val="400"/>
              </a:spcAft>
              <a:buNone/>
            </a:pPr>
            <a:r>
              <a:rPr lang="en-US" sz="1100" b="1" dirty="0">
                <a:solidFill>
                  <a:srgbClr val="003C71"/>
                </a:solidFill>
                <a:latin typeface="Arial" pitchFamily="34" charset="0"/>
                <a:ea typeface="Arial" pitchFamily="34" charset="-122"/>
                <a:cs typeface="Arial" pitchFamily="34" charset="-120"/>
              </a:rPr>
              <a:t>Preprocessing Pipeline</a:t>
            </a:r>
            <a:endParaRPr lang="en-US" sz="1100" dirty="0"/>
          </a:p>
        </p:txBody>
      </p:sp>
      <p:sp>
        <p:nvSpPr>
          <p:cNvPr id="49" name="Text 47"/>
          <p:cNvSpPr/>
          <p:nvPr/>
        </p:nvSpPr>
        <p:spPr>
          <a:xfrm>
            <a:off x="355550" y="2906911"/>
            <a:ext cx="2032099" cy="600373"/>
          </a:xfrm>
          <a:prstGeom prst="roundRect">
            <a:avLst>
              <a:gd name="adj" fmla="val 6346"/>
            </a:avLst>
          </a:prstGeom>
          <a:solidFill>
            <a:srgbClr val="F0F2F5"/>
          </a:solidFill>
          <a:ln/>
        </p:spPr>
        <p:txBody>
          <a:bodyPr wrap="square" rtlCol="0" anchor="ctr"/>
          <a:lstStyle/>
          <a:p>
            <a:pPr marL="0" indent="0">
              <a:buNone/>
            </a:pPr>
            <a:endParaRPr lang="en-US" dirty="0"/>
          </a:p>
        </p:txBody>
      </p:sp>
      <p:sp>
        <p:nvSpPr>
          <p:cNvPr id="50" name="Shape 48"/>
          <p:cNvSpPr/>
          <p:nvPr/>
        </p:nvSpPr>
        <p:spPr>
          <a:xfrm>
            <a:off x="355550" y="2925961"/>
            <a:ext cx="2032099" cy="0"/>
          </a:xfrm>
          <a:prstGeom prst="line">
            <a:avLst/>
          </a:prstGeom>
          <a:noFill/>
          <a:ln w="38100">
            <a:solidFill>
              <a:srgbClr val="E75113"/>
            </a:solidFill>
            <a:prstDash val="solid"/>
          </a:ln>
        </p:spPr>
      </p:sp>
      <p:sp>
        <p:nvSpPr>
          <p:cNvPr id="51" name="Text 49"/>
          <p:cNvSpPr/>
          <p:nvPr/>
        </p:nvSpPr>
        <p:spPr>
          <a:xfrm>
            <a:off x="469850" y="3033861"/>
            <a:ext cx="1839569" cy="133350"/>
          </a:xfrm>
          <a:prstGeom prst="rect">
            <a:avLst/>
          </a:prstGeom>
          <a:noFill/>
          <a:ln/>
        </p:spPr>
        <p:txBody>
          <a:bodyPr wrap="square" lIns="0" tIns="0" rIns="0" bIns="0" rtlCol="0" anchor="t"/>
          <a:lstStyle/>
          <a:p>
            <a:pPr marL="0" indent="0" algn="l">
              <a:spcAft>
                <a:spcPts val="300"/>
              </a:spcAft>
              <a:buNone/>
            </a:pPr>
            <a:r>
              <a:rPr lang="en-US" sz="900" b="1" dirty="0">
                <a:solidFill>
                  <a:srgbClr val="003C71"/>
                </a:solidFill>
                <a:latin typeface="Arial" pitchFamily="34" charset="0"/>
                <a:ea typeface="Arial" pitchFamily="34" charset="-122"/>
                <a:cs typeface="Arial" pitchFamily="34" charset="-120"/>
              </a:rPr>
              <a:t>1. Feature Cleaning</a:t>
            </a:r>
            <a:endParaRPr lang="en-US" sz="900" dirty="0"/>
          </a:p>
        </p:txBody>
      </p:sp>
      <p:sp>
        <p:nvSpPr>
          <p:cNvPr id="52" name="Text 50"/>
          <p:cNvSpPr/>
          <p:nvPr/>
        </p:nvSpPr>
        <p:spPr>
          <a:xfrm>
            <a:off x="469850" y="3205311"/>
            <a:ext cx="1839569" cy="213122"/>
          </a:xfrm>
          <a:prstGeom prst="rect">
            <a:avLst/>
          </a:prstGeom>
          <a:noFill/>
          <a:ln/>
        </p:spPr>
        <p:txBody>
          <a:bodyPr wrap="square" lIns="0" tIns="0" rIns="0" bIns="0" rtlCol="0" anchor="t"/>
          <a:lstStyle/>
          <a:p>
            <a:pPr marL="0" indent="0" algn="l">
              <a:lnSpc>
                <a:spcPts val="840"/>
              </a:lnSpc>
              <a:buNone/>
            </a:pPr>
            <a:r>
              <a:rPr lang="en-US" sz="700" dirty="0">
                <a:solidFill>
                  <a:srgbClr val="555555"/>
                </a:solidFill>
                <a:latin typeface="Arial" pitchFamily="34" charset="0"/>
                <a:ea typeface="Arial" pitchFamily="34" charset="-122"/>
                <a:cs typeface="Arial" pitchFamily="34" charset="-120"/>
              </a:rPr>
              <a:t>Removed 4 constant/infinite-value columns (80 to 76)</a:t>
            </a:r>
            <a:endParaRPr lang="en-US" sz="700" dirty="0"/>
          </a:p>
        </p:txBody>
      </p:sp>
      <p:sp>
        <p:nvSpPr>
          <p:cNvPr id="53" name="Text 51"/>
          <p:cNvSpPr/>
          <p:nvPr/>
        </p:nvSpPr>
        <p:spPr>
          <a:xfrm>
            <a:off x="2489150" y="2906911"/>
            <a:ext cx="2032099" cy="600373"/>
          </a:xfrm>
          <a:prstGeom prst="roundRect">
            <a:avLst>
              <a:gd name="adj" fmla="val 6346"/>
            </a:avLst>
          </a:prstGeom>
          <a:solidFill>
            <a:srgbClr val="F0F2F5"/>
          </a:solidFill>
          <a:ln/>
        </p:spPr>
        <p:txBody>
          <a:bodyPr wrap="square" rtlCol="0" anchor="ctr"/>
          <a:lstStyle/>
          <a:p>
            <a:pPr marL="0" indent="0">
              <a:buNone/>
            </a:pPr>
            <a:endParaRPr lang="en-US" dirty="0"/>
          </a:p>
        </p:txBody>
      </p:sp>
      <p:sp>
        <p:nvSpPr>
          <p:cNvPr id="54" name="Shape 52"/>
          <p:cNvSpPr/>
          <p:nvPr/>
        </p:nvSpPr>
        <p:spPr>
          <a:xfrm>
            <a:off x="2489150" y="2925961"/>
            <a:ext cx="2032099" cy="0"/>
          </a:xfrm>
          <a:prstGeom prst="line">
            <a:avLst/>
          </a:prstGeom>
          <a:noFill/>
          <a:ln w="38100">
            <a:solidFill>
              <a:srgbClr val="E75113"/>
            </a:solidFill>
            <a:prstDash val="solid"/>
          </a:ln>
        </p:spPr>
      </p:sp>
      <p:sp>
        <p:nvSpPr>
          <p:cNvPr id="55" name="Text 53"/>
          <p:cNvSpPr/>
          <p:nvPr/>
        </p:nvSpPr>
        <p:spPr>
          <a:xfrm>
            <a:off x="2603450" y="3033861"/>
            <a:ext cx="1839569" cy="133350"/>
          </a:xfrm>
          <a:prstGeom prst="rect">
            <a:avLst/>
          </a:prstGeom>
          <a:noFill/>
          <a:ln/>
        </p:spPr>
        <p:txBody>
          <a:bodyPr wrap="square" lIns="0" tIns="0" rIns="0" bIns="0" rtlCol="0" anchor="t"/>
          <a:lstStyle/>
          <a:p>
            <a:pPr marL="0" indent="0" algn="l">
              <a:spcAft>
                <a:spcPts val="300"/>
              </a:spcAft>
              <a:buNone/>
            </a:pPr>
            <a:r>
              <a:rPr lang="en-US" sz="900" b="1" dirty="0">
                <a:solidFill>
                  <a:srgbClr val="003C71"/>
                </a:solidFill>
                <a:latin typeface="Arial" pitchFamily="34" charset="0"/>
                <a:ea typeface="Arial" pitchFamily="34" charset="-122"/>
                <a:cs typeface="Arial" pitchFamily="34" charset="-120"/>
              </a:rPr>
              <a:t>2. Stratified Split</a:t>
            </a:r>
            <a:endParaRPr lang="en-US" sz="900" dirty="0"/>
          </a:p>
        </p:txBody>
      </p:sp>
      <p:sp>
        <p:nvSpPr>
          <p:cNvPr id="56" name="Text 54"/>
          <p:cNvSpPr/>
          <p:nvPr/>
        </p:nvSpPr>
        <p:spPr>
          <a:xfrm>
            <a:off x="2603450" y="3205311"/>
            <a:ext cx="1839569" cy="213122"/>
          </a:xfrm>
          <a:prstGeom prst="rect">
            <a:avLst/>
          </a:prstGeom>
          <a:noFill/>
          <a:ln/>
        </p:spPr>
        <p:txBody>
          <a:bodyPr wrap="square" lIns="0" tIns="0" rIns="0" bIns="0" rtlCol="0" anchor="t"/>
          <a:lstStyle/>
          <a:p>
            <a:pPr marL="0" indent="0" algn="l">
              <a:lnSpc>
                <a:spcPts val="840"/>
              </a:lnSpc>
              <a:buNone/>
            </a:pPr>
            <a:r>
              <a:rPr lang="en-US" sz="700" dirty="0">
                <a:solidFill>
                  <a:srgbClr val="555555"/>
                </a:solidFill>
                <a:latin typeface="Arial" pitchFamily="34" charset="0"/>
                <a:ea typeface="Arial" pitchFamily="34" charset="-122"/>
                <a:cs typeface="Arial" pitchFamily="34" charset="-120"/>
              </a:rPr>
              <a:t>Time-aware split preserving temporal order; 80/20</a:t>
            </a:r>
            <a:endParaRPr lang="en-US" sz="700" dirty="0"/>
          </a:p>
        </p:txBody>
      </p:sp>
      <p:sp>
        <p:nvSpPr>
          <p:cNvPr id="57" name="Text 55"/>
          <p:cNvSpPr/>
          <p:nvPr/>
        </p:nvSpPr>
        <p:spPr>
          <a:xfrm>
            <a:off x="4622750" y="2906911"/>
            <a:ext cx="2032099" cy="600373"/>
          </a:xfrm>
          <a:prstGeom prst="roundRect">
            <a:avLst>
              <a:gd name="adj" fmla="val 6346"/>
            </a:avLst>
          </a:prstGeom>
          <a:solidFill>
            <a:srgbClr val="F0F2F5"/>
          </a:solidFill>
          <a:ln/>
        </p:spPr>
        <p:txBody>
          <a:bodyPr wrap="square" rtlCol="0" anchor="ctr"/>
          <a:lstStyle/>
          <a:p>
            <a:pPr marL="0" indent="0">
              <a:buNone/>
            </a:pPr>
            <a:endParaRPr lang="en-US" dirty="0"/>
          </a:p>
        </p:txBody>
      </p:sp>
      <p:sp>
        <p:nvSpPr>
          <p:cNvPr id="58" name="Shape 56"/>
          <p:cNvSpPr/>
          <p:nvPr/>
        </p:nvSpPr>
        <p:spPr>
          <a:xfrm>
            <a:off x="4622750" y="2925961"/>
            <a:ext cx="2032099" cy="0"/>
          </a:xfrm>
          <a:prstGeom prst="line">
            <a:avLst/>
          </a:prstGeom>
          <a:noFill/>
          <a:ln w="38100">
            <a:solidFill>
              <a:srgbClr val="E75113"/>
            </a:solidFill>
            <a:prstDash val="solid"/>
          </a:ln>
        </p:spPr>
      </p:sp>
      <p:sp>
        <p:nvSpPr>
          <p:cNvPr id="59" name="Text 57"/>
          <p:cNvSpPr/>
          <p:nvPr/>
        </p:nvSpPr>
        <p:spPr>
          <a:xfrm>
            <a:off x="4737050" y="3033861"/>
            <a:ext cx="1839569" cy="133350"/>
          </a:xfrm>
          <a:prstGeom prst="rect">
            <a:avLst/>
          </a:prstGeom>
          <a:noFill/>
          <a:ln/>
        </p:spPr>
        <p:txBody>
          <a:bodyPr wrap="square" lIns="0" tIns="0" rIns="0" bIns="0" rtlCol="0" anchor="t"/>
          <a:lstStyle/>
          <a:p>
            <a:pPr marL="0" indent="0" algn="l">
              <a:spcAft>
                <a:spcPts val="300"/>
              </a:spcAft>
              <a:buNone/>
            </a:pPr>
            <a:r>
              <a:rPr lang="en-US" sz="900" b="1" dirty="0">
                <a:solidFill>
                  <a:srgbClr val="003C71"/>
                </a:solidFill>
                <a:latin typeface="Arial" pitchFamily="34" charset="0"/>
                <a:ea typeface="Arial" pitchFamily="34" charset="-122"/>
                <a:cs typeface="Arial" pitchFamily="34" charset="-120"/>
              </a:rPr>
              <a:t>3. Stage 2 Mining</a:t>
            </a:r>
            <a:endParaRPr lang="en-US" sz="900" dirty="0"/>
          </a:p>
        </p:txBody>
      </p:sp>
      <p:sp>
        <p:nvSpPr>
          <p:cNvPr id="60" name="Text 58"/>
          <p:cNvSpPr/>
          <p:nvPr/>
        </p:nvSpPr>
        <p:spPr>
          <a:xfrm>
            <a:off x="4737050" y="3205311"/>
            <a:ext cx="1839569" cy="213122"/>
          </a:xfrm>
          <a:prstGeom prst="rect">
            <a:avLst/>
          </a:prstGeom>
          <a:noFill/>
          <a:ln/>
        </p:spPr>
        <p:txBody>
          <a:bodyPr wrap="square" lIns="0" tIns="0" rIns="0" bIns="0" rtlCol="0" anchor="t"/>
          <a:lstStyle/>
          <a:p>
            <a:pPr marL="0" indent="0" algn="l">
              <a:lnSpc>
                <a:spcPts val="840"/>
              </a:lnSpc>
              <a:buNone/>
            </a:pPr>
            <a:r>
              <a:rPr lang="en-US" sz="700" dirty="0">
                <a:solidFill>
                  <a:srgbClr val="555555"/>
                </a:solidFill>
                <a:latin typeface="Arial" pitchFamily="34" charset="0"/>
                <a:ea typeface="Arial" pitchFamily="34" charset="-122"/>
                <a:cs typeface="Arial" pitchFamily="34" charset="-120"/>
              </a:rPr>
              <a:t>5-Fold CV Mining extracts 235K hard examples</a:t>
            </a:r>
            <a:endParaRPr lang="en-US" sz="700" dirty="0"/>
          </a:p>
        </p:txBody>
      </p:sp>
      <p:sp>
        <p:nvSpPr>
          <p:cNvPr id="61" name="Text 59"/>
          <p:cNvSpPr/>
          <p:nvPr/>
        </p:nvSpPr>
        <p:spPr>
          <a:xfrm>
            <a:off x="6756350" y="2906911"/>
            <a:ext cx="2032099" cy="600373"/>
          </a:xfrm>
          <a:prstGeom prst="roundRect">
            <a:avLst>
              <a:gd name="adj" fmla="val 6346"/>
            </a:avLst>
          </a:prstGeom>
          <a:solidFill>
            <a:srgbClr val="F0F2F5"/>
          </a:solidFill>
          <a:ln/>
        </p:spPr>
        <p:txBody>
          <a:bodyPr wrap="square" rtlCol="0" anchor="ctr"/>
          <a:lstStyle/>
          <a:p>
            <a:pPr marL="0" indent="0">
              <a:buNone/>
            </a:pPr>
            <a:endParaRPr lang="en-US" dirty="0"/>
          </a:p>
        </p:txBody>
      </p:sp>
      <p:sp>
        <p:nvSpPr>
          <p:cNvPr id="62" name="Shape 60"/>
          <p:cNvSpPr/>
          <p:nvPr/>
        </p:nvSpPr>
        <p:spPr>
          <a:xfrm>
            <a:off x="6756350" y="2925961"/>
            <a:ext cx="2032099" cy="0"/>
          </a:xfrm>
          <a:prstGeom prst="line">
            <a:avLst/>
          </a:prstGeom>
          <a:noFill/>
          <a:ln w="38100">
            <a:solidFill>
              <a:srgbClr val="E75113"/>
            </a:solidFill>
            <a:prstDash val="solid"/>
          </a:ln>
        </p:spPr>
      </p:sp>
      <p:sp>
        <p:nvSpPr>
          <p:cNvPr id="63" name="Text 61"/>
          <p:cNvSpPr/>
          <p:nvPr/>
        </p:nvSpPr>
        <p:spPr>
          <a:xfrm>
            <a:off x="6870650" y="3033861"/>
            <a:ext cx="1839569" cy="133350"/>
          </a:xfrm>
          <a:prstGeom prst="rect">
            <a:avLst/>
          </a:prstGeom>
          <a:noFill/>
          <a:ln/>
        </p:spPr>
        <p:txBody>
          <a:bodyPr wrap="square" lIns="0" tIns="0" rIns="0" bIns="0" rtlCol="0" anchor="t"/>
          <a:lstStyle/>
          <a:p>
            <a:pPr marL="0" indent="0" algn="l">
              <a:spcAft>
                <a:spcPts val="300"/>
              </a:spcAft>
              <a:buNone/>
            </a:pPr>
            <a:r>
              <a:rPr lang="en-US" sz="900" b="1" dirty="0">
                <a:solidFill>
                  <a:srgbClr val="003C71"/>
                </a:solidFill>
                <a:latin typeface="Arial" pitchFamily="34" charset="0"/>
                <a:ea typeface="Arial" pitchFamily="34" charset="-122"/>
                <a:cs typeface="Arial" pitchFamily="34" charset="-120"/>
              </a:rPr>
              <a:t>4. Normalization</a:t>
            </a:r>
            <a:endParaRPr lang="en-US" sz="900" dirty="0"/>
          </a:p>
        </p:txBody>
      </p:sp>
      <p:sp>
        <p:nvSpPr>
          <p:cNvPr id="64" name="Text 62"/>
          <p:cNvSpPr/>
          <p:nvPr/>
        </p:nvSpPr>
        <p:spPr>
          <a:xfrm>
            <a:off x="6870650" y="3205311"/>
            <a:ext cx="1839569" cy="106561"/>
          </a:xfrm>
          <a:prstGeom prst="rect">
            <a:avLst/>
          </a:prstGeom>
          <a:noFill/>
          <a:ln/>
        </p:spPr>
        <p:txBody>
          <a:bodyPr wrap="square" lIns="0" tIns="0" rIns="0" bIns="0" rtlCol="0" anchor="t"/>
          <a:lstStyle/>
          <a:p>
            <a:pPr marL="0" indent="0" algn="l">
              <a:lnSpc>
                <a:spcPts val="840"/>
              </a:lnSpc>
              <a:buNone/>
            </a:pPr>
            <a:r>
              <a:rPr lang="en-US" sz="700" dirty="0">
                <a:solidFill>
                  <a:srgbClr val="555555"/>
                </a:solidFill>
                <a:latin typeface="Arial" pitchFamily="34" charset="0"/>
                <a:ea typeface="Arial" pitchFamily="34" charset="-122"/>
                <a:cs typeface="Arial" pitchFamily="34" charset="-120"/>
              </a:rPr>
              <a:t>StandardScaler on train; applied to val/test</a:t>
            </a:r>
            <a:endParaRPr lang="en-US" sz="700" dirty="0"/>
          </a:p>
        </p:txBody>
      </p:sp>
      <p:sp>
        <p:nvSpPr>
          <p:cNvPr id="65" name="Text 63"/>
          <p:cNvSpPr/>
          <p:nvPr/>
        </p:nvSpPr>
        <p:spPr>
          <a:xfrm>
            <a:off x="355550" y="3608784"/>
            <a:ext cx="8601557" cy="129480"/>
          </a:xfrm>
          <a:prstGeom prst="rect">
            <a:avLst/>
          </a:prstGeom>
          <a:noFill/>
          <a:ln/>
        </p:spPr>
        <p:txBody>
          <a:bodyPr wrap="square" lIns="0" tIns="0" rIns="0" bIns="0" rtlCol="0" anchor="t"/>
          <a:lstStyle/>
          <a:p>
            <a:pPr marL="0" indent="0" algn="l">
              <a:lnSpc>
                <a:spcPts val="1020"/>
              </a:lnSpc>
              <a:buNone/>
            </a:pPr>
            <a:r>
              <a:rPr lang="en-US" sz="850" dirty="0">
                <a:solidFill>
                  <a:srgbClr val="555555"/>
                </a:solidFill>
                <a:latin typeface="Arial" pitchFamily="34" charset="0"/>
                <a:ea typeface="Arial" pitchFamily="34" charset="-122"/>
                <a:cs typeface="Arial" pitchFamily="34" charset="-120"/>
              </a:rPr>
              <a:t>Dataset selection follows Ring et al. (2019) 15-criteria framework. CIC-IDS2017 outperforms all prior datasets.</a:t>
            </a:r>
            <a:endParaRPr lang="en-US" sz="850" dirty="0"/>
          </a:p>
        </p:txBody>
      </p:sp>
      <p:sp>
        <p:nvSpPr>
          <p:cNvPr id="66" name="Text 64"/>
          <p:cNvSpPr/>
          <p:nvPr/>
        </p:nvSpPr>
        <p:spPr>
          <a:xfrm>
            <a:off x="0" y="4946749"/>
            <a:ext cx="9144000" cy="196751"/>
          </a:xfrm>
          <a:prstGeom prst="rect">
            <a:avLst/>
          </a:prstGeom>
          <a:solidFill>
            <a:srgbClr val="F0F2F5"/>
          </a:solidFill>
          <a:ln/>
        </p:spPr>
        <p:txBody>
          <a:bodyPr wrap="square" rtlCol="0" anchor="ctr"/>
          <a:lstStyle/>
          <a:p>
            <a:pPr marL="0" indent="0">
              <a:buNone/>
            </a:pPr>
            <a:endParaRPr lang="en-US" dirty="0"/>
          </a:p>
        </p:txBody>
      </p:sp>
      <p:sp>
        <p:nvSpPr>
          <p:cNvPr id="67" name="Text 65"/>
          <p:cNvSpPr/>
          <p:nvPr/>
        </p:nvSpPr>
        <p:spPr>
          <a:xfrm>
            <a:off x="355550" y="4997500"/>
            <a:ext cx="8601557" cy="95250"/>
          </a:xfrm>
          <a:prstGeom prst="rect">
            <a:avLst/>
          </a:prstGeom>
          <a:noFill/>
          <a:ln/>
        </p:spPr>
        <p:txBody>
          <a:bodyPr wrap="square" lIns="0" tIns="0" rIns="0" bIns="0" rtlCol="0" anchor="t"/>
          <a:lstStyle/>
          <a:p>
            <a:pPr marL="0" indent="0" algn="l">
              <a:buNone/>
            </a:pPr>
            <a:r>
              <a:rPr lang="en-US" sz="700" dirty="0">
                <a:solidFill>
                  <a:srgbClr val="888888"/>
                </a:solidFill>
                <a:latin typeface="Arial" pitchFamily="34" charset="0"/>
                <a:ea typeface="Arial" pitchFamily="34" charset="-122"/>
                <a:cs typeface="Arial" pitchFamily="34" charset="-120"/>
              </a:rPr>
              <a:t>Ring, M., et al. (2019). Computers &amp; Security, 86. | Hardware: Intel ARC 130T GPU (16GB), PyTorch 2.10.0+xpu</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5898675"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Hierarchical IDS Architecture: RF to TransECA-Net</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635050" y="847576"/>
            <a:ext cx="1282601" cy="450652"/>
          </a:xfrm>
          <a:prstGeom prst="roundRect">
            <a:avLst>
              <a:gd name="adj" fmla="val 14091"/>
            </a:avLst>
          </a:prstGeom>
          <a:solidFill>
            <a:srgbClr val="F0F2F5"/>
          </a:solidFill>
          <a:ln w="19050">
            <a:solidFill>
              <a:srgbClr val="999999"/>
            </a:solidFill>
          </a:ln>
        </p:spPr>
        <p:txBody>
          <a:bodyPr wrap="square" rtlCol="0" anchor="ctr"/>
          <a:lstStyle/>
          <a:p>
            <a:pPr marL="0" indent="0">
              <a:buNone/>
            </a:pPr>
            <a:endParaRPr lang="en-US" dirty="0"/>
          </a:p>
        </p:txBody>
      </p:sp>
      <p:sp>
        <p:nvSpPr>
          <p:cNvPr id="7" name="Text 5"/>
          <p:cNvSpPr/>
          <p:nvPr/>
        </p:nvSpPr>
        <p:spPr>
          <a:xfrm>
            <a:off x="758241" y="955477"/>
            <a:ext cx="1036219" cy="114300"/>
          </a:xfrm>
          <a:prstGeom prst="rect">
            <a:avLst/>
          </a:prstGeom>
          <a:noFill/>
          <a:ln/>
        </p:spPr>
        <p:txBody>
          <a:bodyPr wrap="square" lIns="0" tIns="0" rIns="0" bIns="0" rtlCol="0" anchor="t"/>
          <a:lstStyle/>
          <a:p>
            <a:pPr marL="0" indent="0" algn="ctr">
              <a:spcAft>
                <a:spcPts val="200"/>
              </a:spcAft>
              <a:buNone/>
            </a:pPr>
            <a:r>
              <a:rPr lang="en-US" sz="800" b="1" dirty="0">
                <a:solidFill>
                  <a:srgbClr val="003C71"/>
                </a:solidFill>
                <a:latin typeface="Arial" pitchFamily="34" charset="0"/>
                <a:ea typeface="Arial" pitchFamily="34" charset="-122"/>
                <a:cs typeface="Arial" pitchFamily="34" charset="-120"/>
              </a:rPr>
              <a:t>Input Traffic</a:t>
            </a:r>
            <a:endParaRPr lang="en-US" sz="800" dirty="0"/>
          </a:p>
        </p:txBody>
      </p:sp>
      <p:sp>
        <p:nvSpPr>
          <p:cNvPr id="8" name="Text 6"/>
          <p:cNvSpPr/>
          <p:nvPr/>
        </p:nvSpPr>
        <p:spPr>
          <a:xfrm>
            <a:off x="758241" y="1095077"/>
            <a:ext cx="1036219" cy="95250"/>
          </a:xfrm>
          <a:prstGeom prst="rect">
            <a:avLst/>
          </a:prstGeom>
          <a:noFill/>
          <a:ln/>
        </p:spPr>
        <p:txBody>
          <a:bodyPr wrap="square" lIns="0" tIns="0" rIns="0" bIns="0" rtlCol="0" anchor="t"/>
          <a:lstStyle/>
          <a:p>
            <a:pPr marL="0" indent="0" algn="ctr">
              <a:buNone/>
            </a:pPr>
            <a:r>
              <a:rPr lang="en-US" sz="700" dirty="0">
                <a:solidFill>
                  <a:srgbClr val="555555"/>
                </a:solidFill>
                <a:latin typeface="Arial" pitchFamily="34" charset="0"/>
                <a:ea typeface="Arial" pitchFamily="34" charset="-122"/>
                <a:cs typeface="Arial" pitchFamily="34" charset="-120"/>
              </a:rPr>
              <a:t>76 features</a:t>
            </a:r>
            <a:endParaRPr lang="en-US" sz="700" dirty="0"/>
          </a:p>
        </p:txBody>
      </p:sp>
      <p:sp>
        <p:nvSpPr>
          <p:cNvPr id="9" name="Text 7"/>
          <p:cNvSpPr/>
          <p:nvPr/>
        </p:nvSpPr>
        <p:spPr>
          <a:xfrm>
            <a:off x="1981051" y="968127"/>
            <a:ext cx="181407" cy="209550"/>
          </a:xfrm>
          <a:prstGeom prst="rect">
            <a:avLst/>
          </a:prstGeom>
          <a:noFill/>
          <a:ln/>
        </p:spPr>
        <p:txBody>
          <a:bodyPr wrap="square" lIns="0" tIns="0" rIns="0" bIns="0" rtlCol="0" anchor="t"/>
          <a:lstStyle/>
          <a:p>
            <a:pPr marL="0" indent="0" algn="l">
              <a:buNone/>
            </a:pPr>
            <a:r>
              <a:rPr lang="en-US" sz="1400" dirty="0">
                <a:solidFill>
                  <a:srgbClr val="E75113"/>
                </a:solidFill>
                <a:latin typeface="Arial" pitchFamily="34" charset="0"/>
                <a:ea typeface="Arial" pitchFamily="34" charset="-122"/>
                <a:cs typeface="Arial" pitchFamily="34" charset="-120"/>
              </a:rPr>
              <a:t>→</a:t>
            </a:r>
            <a:endParaRPr lang="en-US" sz="1400" dirty="0"/>
          </a:p>
        </p:txBody>
      </p:sp>
      <p:sp>
        <p:nvSpPr>
          <p:cNvPr id="10" name="Text 8"/>
          <p:cNvSpPr/>
          <p:nvPr/>
        </p:nvSpPr>
        <p:spPr>
          <a:xfrm>
            <a:off x="2222302" y="799951"/>
            <a:ext cx="1434703" cy="545902"/>
          </a:xfrm>
          <a:prstGeom prst="roundRect">
            <a:avLst>
              <a:gd name="adj" fmla="val 11632"/>
            </a:avLst>
          </a:prstGeom>
          <a:solidFill>
            <a:srgbClr val="003C71"/>
          </a:solidFill>
          <a:ln w="19050">
            <a:solidFill>
              <a:srgbClr val="003C71"/>
            </a:solidFill>
          </a:ln>
        </p:spPr>
        <p:txBody>
          <a:bodyPr wrap="square" rtlCol="0" anchor="ctr"/>
          <a:lstStyle/>
          <a:p>
            <a:pPr marL="0" indent="0">
              <a:buNone/>
            </a:pPr>
            <a:endParaRPr lang="en-US" dirty="0"/>
          </a:p>
        </p:txBody>
      </p:sp>
      <p:sp>
        <p:nvSpPr>
          <p:cNvPr id="11" name="Text 9"/>
          <p:cNvSpPr/>
          <p:nvPr/>
        </p:nvSpPr>
        <p:spPr>
          <a:xfrm>
            <a:off x="2343972" y="907852"/>
            <a:ext cx="1191363" cy="114300"/>
          </a:xfrm>
          <a:prstGeom prst="rect">
            <a:avLst/>
          </a:prstGeom>
          <a:noFill/>
          <a:ln/>
        </p:spPr>
        <p:txBody>
          <a:bodyPr wrap="square" lIns="0" tIns="0" rIns="0" bIns="0" rtlCol="0" anchor="t"/>
          <a:lstStyle/>
          <a:p>
            <a:pPr marL="0" indent="0" algn="ctr">
              <a:spcAft>
                <a:spcPts val="200"/>
              </a:spcAft>
              <a:buNone/>
            </a:pPr>
            <a:r>
              <a:rPr lang="en-US" sz="800" b="1" dirty="0">
                <a:solidFill>
                  <a:schemeClr val="accent2">
                    <a:lumMod val="75000"/>
                  </a:schemeClr>
                </a:solidFill>
                <a:latin typeface="Arial" pitchFamily="34" charset="0"/>
                <a:ea typeface="Arial" pitchFamily="34" charset="-122"/>
                <a:cs typeface="Arial" pitchFamily="34" charset="-120"/>
              </a:rPr>
              <a:t>Stage 1: Random Forest</a:t>
            </a:r>
            <a:endParaRPr lang="en-US" sz="800" dirty="0">
              <a:solidFill>
                <a:schemeClr val="accent2">
                  <a:lumMod val="75000"/>
                </a:schemeClr>
              </a:solidFill>
            </a:endParaRPr>
          </a:p>
        </p:txBody>
      </p:sp>
      <p:sp>
        <p:nvSpPr>
          <p:cNvPr id="12" name="Text 10"/>
          <p:cNvSpPr/>
          <p:nvPr/>
        </p:nvSpPr>
        <p:spPr>
          <a:xfrm>
            <a:off x="2343972" y="1047452"/>
            <a:ext cx="1191363" cy="95250"/>
          </a:xfrm>
          <a:prstGeom prst="rect">
            <a:avLst/>
          </a:prstGeom>
          <a:noFill/>
          <a:ln/>
        </p:spPr>
        <p:txBody>
          <a:bodyPr wrap="square" lIns="0" tIns="0" rIns="0" bIns="0" rtlCol="0" anchor="t"/>
          <a:lstStyle/>
          <a:p>
            <a:pPr marL="0" indent="0" algn="ctr">
              <a:buNone/>
            </a:pPr>
            <a:r>
              <a:rPr lang="en-US" sz="700" dirty="0">
                <a:solidFill>
                  <a:schemeClr val="accent2">
                    <a:lumMod val="75000"/>
                  </a:schemeClr>
                </a:solidFill>
                <a:latin typeface="Arial" pitchFamily="34" charset="0"/>
                <a:ea typeface="Arial" pitchFamily="34" charset="-122"/>
                <a:cs typeface="Arial" pitchFamily="34" charset="-120"/>
              </a:rPr>
              <a:t>Binary: Benign vs Attack</a:t>
            </a:r>
            <a:endParaRPr lang="en-US" sz="700" dirty="0">
              <a:solidFill>
                <a:schemeClr val="accent2">
                  <a:lumMod val="75000"/>
                </a:schemeClr>
              </a:solidFill>
            </a:endParaRPr>
          </a:p>
        </p:txBody>
      </p:sp>
      <p:sp>
        <p:nvSpPr>
          <p:cNvPr id="13" name="Text 11"/>
          <p:cNvSpPr/>
          <p:nvPr/>
        </p:nvSpPr>
        <p:spPr>
          <a:xfrm>
            <a:off x="2343972" y="1142702"/>
            <a:ext cx="1191363" cy="95250"/>
          </a:xfrm>
          <a:prstGeom prst="rect">
            <a:avLst/>
          </a:prstGeom>
          <a:noFill/>
          <a:ln/>
        </p:spPr>
        <p:txBody>
          <a:bodyPr wrap="square" lIns="0" tIns="0" rIns="0" bIns="0" rtlCol="0" anchor="t"/>
          <a:lstStyle/>
          <a:p>
            <a:pPr marL="0" indent="0" algn="ctr">
              <a:buNone/>
            </a:pPr>
            <a:r>
              <a:rPr lang="en-US" sz="700" dirty="0">
                <a:solidFill>
                  <a:schemeClr val="accent2">
                    <a:lumMod val="75000"/>
                  </a:schemeClr>
                </a:solidFill>
                <a:latin typeface="Arial" pitchFamily="34" charset="0"/>
                <a:ea typeface="Arial" pitchFamily="34" charset="-122"/>
                <a:cs typeface="Arial" pitchFamily="34" charset="-120"/>
              </a:rPr>
              <a:t>50 trees, tau=0.06</a:t>
            </a:r>
            <a:endParaRPr lang="en-US" sz="700" dirty="0">
              <a:solidFill>
                <a:schemeClr val="accent2">
                  <a:lumMod val="75000"/>
                </a:schemeClr>
              </a:solidFill>
            </a:endParaRPr>
          </a:p>
        </p:txBody>
      </p:sp>
      <p:sp>
        <p:nvSpPr>
          <p:cNvPr id="14" name="Text 12"/>
          <p:cNvSpPr/>
          <p:nvPr/>
        </p:nvSpPr>
        <p:spPr>
          <a:xfrm>
            <a:off x="3720405" y="968127"/>
            <a:ext cx="181407" cy="209550"/>
          </a:xfrm>
          <a:prstGeom prst="rect">
            <a:avLst/>
          </a:prstGeom>
          <a:noFill/>
          <a:ln/>
        </p:spPr>
        <p:txBody>
          <a:bodyPr wrap="square" lIns="0" tIns="0" rIns="0" bIns="0" rtlCol="0" anchor="t"/>
          <a:lstStyle/>
          <a:p>
            <a:pPr marL="0" indent="0" algn="l">
              <a:buNone/>
            </a:pPr>
            <a:r>
              <a:rPr lang="en-US" sz="1400" dirty="0">
                <a:solidFill>
                  <a:srgbClr val="E75113"/>
                </a:solidFill>
                <a:latin typeface="Arial" pitchFamily="34" charset="0"/>
                <a:ea typeface="Arial" pitchFamily="34" charset="-122"/>
                <a:cs typeface="Arial" pitchFamily="34" charset="-120"/>
              </a:rPr>
              <a:t>→</a:t>
            </a:r>
            <a:endParaRPr lang="en-US" sz="1400" dirty="0"/>
          </a:p>
        </p:txBody>
      </p:sp>
      <p:sp>
        <p:nvSpPr>
          <p:cNvPr id="15" name="Text 13"/>
          <p:cNvSpPr/>
          <p:nvPr/>
        </p:nvSpPr>
        <p:spPr>
          <a:xfrm>
            <a:off x="3961656" y="799951"/>
            <a:ext cx="1282601" cy="545902"/>
          </a:xfrm>
          <a:prstGeom prst="roundRect">
            <a:avLst>
              <a:gd name="adj" fmla="val 11632"/>
            </a:avLst>
          </a:prstGeom>
          <a:solidFill>
            <a:srgbClr val="FFF3EE"/>
          </a:solidFill>
          <a:ln w="19050">
            <a:solidFill>
              <a:srgbClr val="E75113"/>
            </a:solidFill>
          </a:ln>
        </p:spPr>
        <p:txBody>
          <a:bodyPr wrap="square" rtlCol="0" anchor="ctr"/>
          <a:lstStyle/>
          <a:p>
            <a:pPr marL="0" indent="0">
              <a:buNone/>
            </a:pPr>
            <a:endParaRPr lang="en-US" dirty="0"/>
          </a:p>
        </p:txBody>
      </p:sp>
      <p:sp>
        <p:nvSpPr>
          <p:cNvPr id="16" name="Text 14"/>
          <p:cNvSpPr/>
          <p:nvPr/>
        </p:nvSpPr>
        <p:spPr>
          <a:xfrm>
            <a:off x="4084847" y="907852"/>
            <a:ext cx="1036219" cy="114300"/>
          </a:xfrm>
          <a:prstGeom prst="rect">
            <a:avLst/>
          </a:prstGeom>
          <a:noFill/>
          <a:ln/>
        </p:spPr>
        <p:txBody>
          <a:bodyPr wrap="square" lIns="0" tIns="0" rIns="0" bIns="0" rtlCol="0" anchor="t"/>
          <a:lstStyle/>
          <a:p>
            <a:pPr marL="0" indent="0" algn="ctr">
              <a:spcAft>
                <a:spcPts val="200"/>
              </a:spcAft>
              <a:buNone/>
            </a:pPr>
            <a:r>
              <a:rPr lang="en-US" sz="800" b="1" dirty="0">
                <a:solidFill>
                  <a:srgbClr val="003C71"/>
                </a:solidFill>
                <a:latin typeface="Arial" pitchFamily="34" charset="0"/>
                <a:ea typeface="Arial" pitchFamily="34" charset="-122"/>
                <a:cs typeface="Arial" pitchFamily="34" charset="-120"/>
              </a:rPr>
              <a:t>Filter</a:t>
            </a:r>
            <a:endParaRPr lang="en-US" sz="800" dirty="0"/>
          </a:p>
        </p:txBody>
      </p:sp>
      <p:sp>
        <p:nvSpPr>
          <p:cNvPr id="17" name="Text 15"/>
          <p:cNvSpPr/>
          <p:nvPr/>
        </p:nvSpPr>
        <p:spPr>
          <a:xfrm>
            <a:off x="4084847" y="1047452"/>
            <a:ext cx="1036219" cy="95250"/>
          </a:xfrm>
          <a:prstGeom prst="rect">
            <a:avLst/>
          </a:prstGeom>
          <a:noFill/>
          <a:ln/>
        </p:spPr>
        <p:txBody>
          <a:bodyPr wrap="square" lIns="0" tIns="0" rIns="0" bIns="0" rtlCol="0" anchor="t"/>
          <a:lstStyle/>
          <a:p>
            <a:pPr marL="0" indent="0" algn="ctr">
              <a:buNone/>
            </a:pPr>
            <a:r>
              <a:rPr lang="en-US" sz="700" dirty="0">
                <a:solidFill>
                  <a:srgbClr val="555555"/>
                </a:solidFill>
                <a:latin typeface="Arial" pitchFamily="34" charset="0"/>
                <a:ea typeface="Arial" pitchFamily="34" charset="-122"/>
                <a:cs typeface="Arial" pitchFamily="34" charset="-120"/>
              </a:rPr>
              <a:t>84.75% Benign</a:t>
            </a:r>
            <a:endParaRPr lang="en-US" sz="700" dirty="0"/>
          </a:p>
        </p:txBody>
      </p:sp>
      <p:sp>
        <p:nvSpPr>
          <p:cNvPr id="18" name="Text 16"/>
          <p:cNvSpPr/>
          <p:nvPr/>
        </p:nvSpPr>
        <p:spPr>
          <a:xfrm>
            <a:off x="4084847" y="1142702"/>
            <a:ext cx="1036219" cy="95250"/>
          </a:xfrm>
          <a:prstGeom prst="rect">
            <a:avLst/>
          </a:prstGeom>
          <a:noFill/>
          <a:ln/>
        </p:spPr>
        <p:txBody>
          <a:bodyPr wrap="square" lIns="0" tIns="0" rIns="0" bIns="0" rtlCol="0" anchor="t"/>
          <a:lstStyle/>
          <a:p>
            <a:pPr marL="0" indent="0" algn="ctr">
              <a:buNone/>
            </a:pPr>
            <a:r>
              <a:rPr lang="en-US" sz="700" dirty="0">
                <a:solidFill>
                  <a:srgbClr val="555555"/>
                </a:solidFill>
                <a:latin typeface="Arial" pitchFamily="34" charset="0"/>
                <a:ea typeface="Arial" pitchFamily="34" charset="-122"/>
                <a:cs typeface="Arial" pitchFamily="34" charset="-120"/>
              </a:rPr>
              <a:t>15.25% Suspicious</a:t>
            </a:r>
            <a:endParaRPr lang="en-US" sz="700" dirty="0"/>
          </a:p>
        </p:txBody>
      </p:sp>
      <p:sp>
        <p:nvSpPr>
          <p:cNvPr id="19" name="Text 17"/>
          <p:cNvSpPr/>
          <p:nvPr/>
        </p:nvSpPr>
        <p:spPr>
          <a:xfrm>
            <a:off x="5307657" y="968127"/>
            <a:ext cx="181407" cy="209550"/>
          </a:xfrm>
          <a:prstGeom prst="rect">
            <a:avLst/>
          </a:prstGeom>
          <a:noFill/>
          <a:ln/>
        </p:spPr>
        <p:txBody>
          <a:bodyPr wrap="square" lIns="0" tIns="0" rIns="0" bIns="0" rtlCol="0" anchor="t"/>
          <a:lstStyle/>
          <a:p>
            <a:pPr marL="0" indent="0" algn="l">
              <a:buNone/>
            </a:pPr>
            <a:r>
              <a:rPr lang="en-US" sz="1400" dirty="0">
                <a:solidFill>
                  <a:srgbClr val="E75113"/>
                </a:solidFill>
                <a:latin typeface="Arial" pitchFamily="34" charset="0"/>
                <a:ea typeface="Arial" pitchFamily="34" charset="-122"/>
                <a:cs typeface="Arial" pitchFamily="34" charset="-120"/>
              </a:rPr>
              <a:t>→</a:t>
            </a:r>
            <a:endParaRPr lang="en-US" sz="1400" dirty="0"/>
          </a:p>
        </p:txBody>
      </p:sp>
      <p:sp>
        <p:nvSpPr>
          <p:cNvPr id="20" name="Text 18"/>
          <p:cNvSpPr/>
          <p:nvPr/>
        </p:nvSpPr>
        <p:spPr>
          <a:xfrm>
            <a:off x="5548908" y="799951"/>
            <a:ext cx="1372642" cy="545902"/>
          </a:xfrm>
          <a:prstGeom prst="roundRect">
            <a:avLst>
              <a:gd name="adj" fmla="val 11632"/>
            </a:avLst>
          </a:prstGeom>
          <a:solidFill>
            <a:srgbClr val="E75113"/>
          </a:solidFill>
          <a:ln w="19050">
            <a:solidFill>
              <a:srgbClr val="E75113"/>
            </a:solidFill>
          </a:ln>
        </p:spPr>
        <p:txBody>
          <a:bodyPr wrap="square" rtlCol="0" anchor="ctr"/>
          <a:lstStyle/>
          <a:p>
            <a:pPr marL="0" indent="0">
              <a:buNone/>
            </a:pPr>
            <a:endParaRPr lang="en-US" dirty="0"/>
          </a:p>
        </p:txBody>
      </p:sp>
      <p:sp>
        <p:nvSpPr>
          <p:cNvPr id="21" name="Text 19"/>
          <p:cNvSpPr/>
          <p:nvPr/>
        </p:nvSpPr>
        <p:spPr>
          <a:xfrm>
            <a:off x="5671198" y="907852"/>
            <a:ext cx="1128061" cy="114300"/>
          </a:xfrm>
          <a:prstGeom prst="rect">
            <a:avLst/>
          </a:prstGeom>
          <a:noFill/>
          <a:ln/>
        </p:spPr>
        <p:txBody>
          <a:bodyPr wrap="square" lIns="0" tIns="0" rIns="0" bIns="0" rtlCol="0" anchor="t"/>
          <a:lstStyle/>
          <a:p>
            <a:pPr marL="0" indent="0" algn="ctr">
              <a:spcAft>
                <a:spcPts val="200"/>
              </a:spcAft>
              <a:buNone/>
            </a:pPr>
            <a:r>
              <a:rPr lang="en-US" sz="800" b="1" dirty="0">
                <a:solidFill>
                  <a:srgbClr val="003C71"/>
                </a:solidFill>
                <a:latin typeface="Arial" pitchFamily="34" charset="0"/>
                <a:ea typeface="Arial" pitchFamily="34" charset="-122"/>
                <a:cs typeface="Arial" pitchFamily="34" charset="-120"/>
              </a:rPr>
              <a:t>Stage 2: TransECA-Net</a:t>
            </a:r>
            <a:endParaRPr lang="en-US" sz="800" dirty="0"/>
          </a:p>
        </p:txBody>
      </p:sp>
      <p:sp>
        <p:nvSpPr>
          <p:cNvPr id="22" name="Text 20"/>
          <p:cNvSpPr/>
          <p:nvPr/>
        </p:nvSpPr>
        <p:spPr>
          <a:xfrm>
            <a:off x="5671198" y="1047452"/>
            <a:ext cx="1128061" cy="95250"/>
          </a:xfrm>
          <a:prstGeom prst="rect">
            <a:avLst/>
          </a:prstGeom>
          <a:noFill/>
          <a:ln/>
        </p:spPr>
        <p:txBody>
          <a:bodyPr wrap="square" lIns="0" tIns="0" rIns="0" bIns="0" rtlCol="0" anchor="t"/>
          <a:lstStyle/>
          <a:p>
            <a:pPr marL="0" indent="0" algn="ctr">
              <a:buNone/>
            </a:pPr>
            <a:r>
              <a:rPr lang="en-US" sz="700" b="1" dirty="0">
                <a:solidFill>
                  <a:srgbClr val="555555"/>
                </a:solidFill>
                <a:latin typeface="Arial" pitchFamily="34" charset="0"/>
                <a:ea typeface="Arial" pitchFamily="34" charset="-122"/>
                <a:cs typeface="Arial" pitchFamily="34" charset="-120"/>
              </a:rPr>
              <a:t>15-class classifier</a:t>
            </a:r>
            <a:endParaRPr lang="en-US" sz="700" b="1" dirty="0"/>
          </a:p>
        </p:txBody>
      </p:sp>
      <p:sp>
        <p:nvSpPr>
          <p:cNvPr id="23" name="Text 21"/>
          <p:cNvSpPr/>
          <p:nvPr/>
        </p:nvSpPr>
        <p:spPr>
          <a:xfrm>
            <a:off x="5671198" y="1142702"/>
            <a:ext cx="1128061" cy="95250"/>
          </a:xfrm>
          <a:prstGeom prst="rect">
            <a:avLst/>
          </a:prstGeom>
          <a:noFill/>
          <a:ln/>
        </p:spPr>
        <p:txBody>
          <a:bodyPr wrap="square" lIns="0" tIns="0" rIns="0" bIns="0" rtlCol="0" anchor="t"/>
          <a:lstStyle/>
          <a:p>
            <a:pPr marL="0" indent="0" algn="ctr">
              <a:buNone/>
            </a:pPr>
            <a:r>
              <a:rPr lang="en-US" sz="700" b="1" dirty="0">
                <a:solidFill>
                  <a:srgbClr val="555555"/>
                </a:solidFill>
                <a:latin typeface="Arial" pitchFamily="34" charset="0"/>
                <a:ea typeface="Arial" pitchFamily="34" charset="-122"/>
                <a:cs typeface="Arial" pitchFamily="34" charset="-120"/>
              </a:rPr>
              <a:t>301,460 params</a:t>
            </a:r>
            <a:endParaRPr lang="en-US" sz="700" b="1" dirty="0"/>
          </a:p>
        </p:txBody>
      </p:sp>
      <p:sp>
        <p:nvSpPr>
          <p:cNvPr id="24" name="Text 22"/>
          <p:cNvSpPr/>
          <p:nvPr/>
        </p:nvSpPr>
        <p:spPr>
          <a:xfrm>
            <a:off x="6984950" y="968127"/>
            <a:ext cx="181407" cy="209550"/>
          </a:xfrm>
          <a:prstGeom prst="rect">
            <a:avLst/>
          </a:prstGeom>
          <a:noFill/>
          <a:ln/>
        </p:spPr>
        <p:txBody>
          <a:bodyPr wrap="square" lIns="0" tIns="0" rIns="0" bIns="0" rtlCol="0" anchor="t"/>
          <a:lstStyle/>
          <a:p>
            <a:pPr marL="0" indent="0" algn="l">
              <a:buNone/>
            </a:pPr>
            <a:r>
              <a:rPr lang="en-US" sz="1400" dirty="0">
                <a:solidFill>
                  <a:srgbClr val="E75113"/>
                </a:solidFill>
                <a:latin typeface="Arial" pitchFamily="34" charset="0"/>
                <a:ea typeface="Arial" pitchFamily="34" charset="-122"/>
                <a:cs typeface="Arial" pitchFamily="34" charset="-120"/>
              </a:rPr>
              <a:t>→</a:t>
            </a:r>
            <a:endParaRPr lang="en-US" sz="1400" dirty="0"/>
          </a:p>
        </p:txBody>
      </p:sp>
      <p:sp>
        <p:nvSpPr>
          <p:cNvPr id="25" name="Text 23"/>
          <p:cNvSpPr/>
          <p:nvPr/>
        </p:nvSpPr>
        <p:spPr>
          <a:xfrm>
            <a:off x="7226201" y="799951"/>
            <a:ext cx="1282601" cy="545902"/>
          </a:xfrm>
          <a:prstGeom prst="roundRect">
            <a:avLst>
              <a:gd name="adj" fmla="val 11632"/>
            </a:avLst>
          </a:prstGeom>
          <a:solidFill>
            <a:srgbClr val="F0F2F5"/>
          </a:solidFill>
          <a:ln w="19050">
            <a:solidFill>
              <a:srgbClr val="003C71"/>
            </a:solidFill>
          </a:ln>
        </p:spPr>
        <p:txBody>
          <a:bodyPr wrap="square" rtlCol="0" anchor="ctr"/>
          <a:lstStyle/>
          <a:p>
            <a:pPr marL="0" indent="0">
              <a:buNone/>
            </a:pPr>
            <a:endParaRPr lang="en-US" dirty="0"/>
          </a:p>
        </p:txBody>
      </p:sp>
      <p:sp>
        <p:nvSpPr>
          <p:cNvPr id="26" name="Text 24"/>
          <p:cNvSpPr/>
          <p:nvPr/>
        </p:nvSpPr>
        <p:spPr>
          <a:xfrm>
            <a:off x="7349392" y="907852"/>
            <a:ext cx="1036219" cy="114300"/>
          </a:xfrm>
          <a:prstGeom prst="rect">
            <a:avLst/>
          </a:prstGeom>
          <a:noFill/>
          <a:ln/>
        </p:spPr>
        <p:txBody>
          <a:bodyPr wrap="square" lIns="0" tIns="0" rIns="0" bIns="0" rtlCol="0" anchor="t"/>
          <a:lstStyle/>
          <a:p>
            <a:pPr marL="0" indent="0" algn="ctr">
              <a:spcAft>
                <a:spcPts val="200"/>
              </a:spcAft>
              <a:buNone/>
            </a:pPr>
            <a:r>
              <a:rPr lang="en-US" sz="800" b="1" dirty="0">
                <a:solidFill>
                  <a:srgbClr val="003C71"/>
                </a:solidFill>
                <a:latin typeface="Arial" pitchFamily="34" charset="0"/>
                <a:ea typeface="Arial" pitchFamily="34" charset="-122"/>
                <a:cs typeface="Arial" pitchFamily="34" charset="-120"/>
              </a:rPr>
              <a:t>Output</a:t>
            </a:r>
            <a:endParaRPr lang="en-US" sz="800" dirty="0"/>
          </a:p>
        </p:txBody>
      </p:sp>
      <p:sp>
        <p:nvSpPr>
          <p:cNvPr id="27" name="Text 25"/>
          <p:cNvSpPr/>
          <p:nvPr/>
        </p:nvSpPr>
        <p:spPr>
          <a:xfrm>
            <a:off x="7349392" y="1047452"/>
            <a:ext cx="1036219" cy="95250"/>
          </a:xfrm>
          <a:prstGeom prst="rect">
            <a:avLst/>
          </a:prstGeom>
          <a:noFill/>
          <a:ln/>
        </p:spPr>
        <p:txBody>
          <a:bodyPr wrap="square" lIns="0" tIns="0" rIns="0" bIns="0" rtlCol="0" anchor="t"/>
          <a:lstStyle/>
          <a:p>
            <a:pPr marL="0" indent="0" algn="ctr">
              <a:buNone/>
            </a:pPr>
            <a:r>
              <a:rPr lang="en-US" sz="700" dirty="0">
                <a:solidFill>
                  <a:srgbClr val="555555"/>
                </a:solidFill>
                <a:latin typeface="Arial" pitchFamily="34" charset="0"/>
                <a:ea typeface="Arial" pitchFamily="34" charset="-122"/>
                <a:cs typeface="Arial" pitchFamily="34" charset="-120"/>
              </a:rPr>
              <a:t>Attack type</a:t>
            </a:r>
            <a:endParaRPr lang="en-US" sz="700" dirty="0"/>
          </a:p>
        </p:txBody>
      </p:sp>
      <p:sp>
        <p:nvSpPr>
          <p:cNvPr id="28" name="Text 26"/>
          <p:cNvSpPr/>
          <p:nvPr/>
        </p:nvSpPr>
        <p:spPr>
          <a:xfrm>
            <a:off x="7349392" y="1142702"/>
            <a:ext cx="1036219" cy="95250"/>
          </a:xfrm>
          <a:prstGeom prst="rect">
            <a:avLst/>
          </a:prstGeom>
          <a:noFill/>
          <a:ln/>
        </p:spPr>
        <p:txBody>
          <a:bodyPr wrap="square" lIns="0" tIns="0" rIns="0" bIns="0" rtlCol="0" anchor="t"/>
          <a:lstStyle/>
          <a:p>
            <a:pPr marL="0" indent="0" algn="ctr">
              <a:buNone/>
            </a:pPr>
            <a:r>
              <a:rPr lang="en-US" sz="700" dirty="0">
                <a:solidFill>
                  <a:srgbClr val="555555"/>
                </a:solidFill>
                <a:latin typeface="Arial" pitchFamily="34" charset="0"/>
                <a:ea typeface="Arial" pitchFamily="34" charset="-122"/>
                <a:cs typeface="Arial" pitchFamily="34" charset="-120"/>
              </a:rPr>
              <a:t>or Benign</a:t>
            </a:r>
            <a:endParaRPr lang="en-US" sz="700" dirty="0"/>
          </a:p>
        </p:txBody>
      </p:sp>
      <p:sp>
        <p:nvSpPr>
          <p:cNvPr id="29" name="Text 27"/>
          <p:cNvSpPr/>
          <p:nvPr/>
        </p:nvSpPr>
        <p:spPr>
          <a:xfrm>
            <a:off x="355550" y="1472803"/>
            <a:ext cx="4127599" cy="1416844"/>
          </a:xfrm>
          <a:prstGeom prst="roundRect">
            <a:avLst>
              <a:gd name="adj" fmla="val 2689"/>
            </a:avLst>
          </a:prstGeom>
          <a:solidFill>
            <a:srgbClr val="F0F2F5"/>
          </a:solidFill>
          <a:ln/>
        </p:spPr>
        <p:txBody>
          <a:bodyPr wrap="square" rtlCol="0" anchor="ctr"/>
          <a:lstStyle/>
          <a:p>
            <a:pPr marL="0" indent="0">
              <a:buNone/>
            </a:pPr>
            <a:endParaRPr lang="en-US" dirty="0"/>
          </a:p>
        </p:txBody>
      </p:sp>
      <p:sp>
        <p:nvSpPr>
          <p:cNvPr id="30" name="Shape 28"/>
          <p:cNvSpPr/>
          <p:nvPr/>
        </p:nvSpPr>
        <p:spPr>
          <a:xfrm>
            <a:off x="355550" y="1491853"/>
            <a:ext cx="4127599" cy="0"/>
          </a:xfrm>
          <a:prstGeom prst="line">
            <a:avLst/>
          </a:prstGeom>
          <a:noFill/>
          <a:ln w="38100">
            <a:solidFill>
              <a:srgbClr val="003C71"/>
            </a:solidFill>
            <a:prstDash val="solid"/>
          </a:ln>
        </p:spPr>
      </p:sp>
      <p:sp>
        <p:nvSpPr>
          <p:cNvPr id="31" name="Text 29"/>
          <p:cNvSpPr/>
          <p:nvPr/>
        </p:nvSpPr>
        <p:spPr>
          <a:xfrm>
            <a:off x="482501" y="1612404"/>
            <a:ext cx="3951172" cy="152400"/>
          </a:xfrm>
          <a:prstGeom prst="rect">
            <a:avLst/>
          </a:prstGeom>
          <a:noFill/>
          <a:ln/>
        </p:spPr>
        <p:txBody>
          <a:bodyPr wrap="square" lIns="0" tIns="0" rIns="0" bIns="0" rtlCol="0" anchor="t"/>
          <a:lstStyle/>
          <a:p>
            <a:pPr marL="0" indent="0" algn="l">
              <a:spcAft>
                <a:spcPts val="500"/>
              </a:spcAft>
              <a:buNone/>
            </a:pPr>
            <a:r>
              <a:rPr lang="en-US" sz="1100" b="1" dirty="0">
                <a:solidFill>
                  <a:srgbClr val="003C71"/>
                </a:solidFill>
                <a:latin typeface="Arial" pitchFamily="34" charset="0"/>
                <a:ea typeface="Arial" pitchFamily="34" charset="-122"/>
                <a:cs typeface="Arial" pitchFamily="34" charset="-120"/>
              </a:rPr>
              <a:t>Stage 1 — Random Forest</a:t>
            </a:r>
            <a:endParaRPr lang="en-US" sz="1100" dirty="0"/>
          </a:p>
        </p:txBody>
      </p:sp>
      <p:sp>
        <p:nvSpPr>
          <p:cNvPr id="32" name="Text 30"/>
          <p:cNvSpPr/>
          <p:nvPr/>
        </p:nvSpPr>
        <p:spPr>
          <a:xfrm>
            <a:off x="482501" y="1828205"/>
            <a:ext cx="3873698" cy="921841"/>
          </a:xfrm>
          <a:prstGeom prst="rect">
            <a:avLst/>
          </a:prstGeom>
          <a:noFill/>
          <a:ln/>
        </p:spPr>
        <p:txBody>
          <a:bodyPr wrap="square" lIns="76200" tIns="0" rIns="0" bIns="0" rtlCol="0" anchor="t"/>
          <a:lstStyle/>
          <a:p>
            <a:pPr marL="76200" indent="-76200" algn="l">
              <a:lnSpc>
                <a:spcPts val="960"/>
              </a:lnSpc>
              <a:spcAft>
                <a:spcPts val="300"/>
              </a:spcAft>
              <a:buSzPct val="100000"/>
              <a:buChar char="•"/>
            </a:pPr>
            <a:r>
              <a:rPr lang="en-US" sz="800" b="1" dirty="0">
                <a:solidFill>
                  <a:srgbClr val="333333"/>
                </a:solidFill>
                <a:latin typeface="Arial" pitchFamily="34" charset="0"/>
                <a:ea typeface="Arial" pitchFamily="34" charset="-122"/>
                <a:cs typeface="Arial" pitchFamily="34" charset="-120"/>
              </a:rPr>
              <a:t>Role</a:t>
            </a:r>
            <a:r>
              <a:rPr lang="en-US" sz="800" dirty="0">
                <a:solidFill>
                  <a:srgbClr val="333333"/>
                </a:solidFill>
                <a:latin typeface="Arial" pitchFamily="34" charset="0"/>
                <a:ea typeface="Arial" pitchFamily="34" charset="-122"/>
                <a:cs typeface="Arial" pitchFamily="34" charset="-120"/>
              </a:rPr>
              <a:t>: High-speed binary pre-filter</a:t>
            </a:r>
            <a:endParaRPr lang="en-US" sz="800" dirty="0"/>
          </a:p>
          <a:p>
            <a:pPr marL="76200" indent="-76200" algn="l">
              <a:lnSpc>
                <a:spcPts val="960"/>
              </a:lnSpc>
              <a:spcAft>
                <a:spcPts val="300"/>
              </a:spcAft>
              <a:buSzPct val="100000"/>
              <a:buChar char="•"/>
            </a:pPr>
            <a:r>
              <a:rPr lang="en-US" sz="800" b="1" dirty="0">
                <a:solidFill>
                  <a:srgbClr val="333333"/>
                </a:solidFill>
                <a:latin typeface="Arial" pitchFamily="34" charset="0"/>
                <a:ea typeface="Arial" pitchFamily="34" charset="-122"/>
                <a:cs typeface="Arial" pitchFamily="34" charset="-120"/>
              </a:rPr>
              <a:t>Config</a:t>
            </a:r>
            <a:r>
              <a:rPr lang="en-US" sz="800" dirty="0">
                <a:solidFill>
                  <a:srgbClr val="333333"/>
                </a:solidFill>
                <a:latin typeface="Arial" pitchFamily="34" charset="0"/>
                <a:ea typeface="Arial" pitchFamily="34" charset="-122"/>
                <a:cs typeface="Arial" pitchFamily="34" charset="-120"/>
              </a:rPr>
              <a:t>: 50 trees, max_depth=20</a:t>
            </a:r>
            <a:endParaRPr lang="en-US" sz="800" dirty="0"/>
          </a:p>
          <a:p>
            <a:pPr marL="76200" indent="-76200" algn="l">
              <a:lnSpc>
                <a:spcPts val="960"/>
              </a:lnSpc>
              <a:spcAft>
                <a:spcPts val="300"/>
              </a:spcAft>
              <a:buSzPct val="100000"/>
              <a:buChar char="•"/>
            </a:pPr>
            <a:r>
              <a:rPr lang="en-US" sz="800" b="1" dirty="0">
                <a:solidFill>
                  <a:srgbClr val="333333"/>
                </a:solidFill>
                <a:latin typeface="Arial" pitchFamily="34" charset="0"/>
                <a:ea typeface="Arial" pitchFamily="34" charset="-122"/>
                <a:cs typeface="Arial" pitchFamily="34" charset="-120"/>
              </a:rPr>
              <a:t>Threshold</a:t>
            </a:r>
            <a:r>
              <a:rPr lang="en-US" sz="800" dirty="0">
                <a:solidFill>
                  <a:srgbClr val="333333"/>
                </a:solidFill>
                <a:latin typeface="Arial" pitchFamily="34" charset="0"/>
                <a:ea typeface="Arial" pitchFamily="34" charset="-122"/>
                <a:cs typeface="Arial" pitchFamily="34" charset="-120"/>
              </a:rPr>
              <a:t>: tau=0.06, Recall=99.9%</a:t>
            </a:r>
            <a:endParaRPr lang="en-US" sz="800" dirty="0"/>
          </a:p>
          <a:p>
            <a:pPr marL="76200" indent="-76200" algn="l">
              <a:lnSpc>
                <a:spcPts val="960"/>
              </a:lnSpc>
              <a:spcAft>
                <a:spcPts val="300"/>
              </a:spcAft>
              <a:buSzPct val="100000"/>
              <a:buChar char="•"/>
            </a:pPr>
            <a:r>
              <a:rPr lang="en-US" sz="800" b="1" dirty="0">
                <a:solidFill>
                  <a:srgbClr val="333333"/>
                </a:solidFill>
                <a:latin typeface="Arial" pitchFamily="34" charset="0"/>
                <a:ea typeface="Arial" pitchFamily="34" charset="-122"/>
                <a:cs typeface="Arial" pitchFamily="34" charset="-120"/>
              </a:rPr>
              <a:t>Latency</a:t>
            </a:r>
            <a:r>
              <a:rPr lang="en-US" sz="800" dirty="0">
                <a:solidFill>
                  <a:srgbClr val="333333"/>
                </a:solidFill>
                <a:latin typeface="Arial" pitchFamily="34" charset="0"/>
                <a:ea typeface="Arial" pitchFamily="34" charset="-122"/>
                <a:cs typeface="Arial" pitchFamily="34" charset="-120"/>
              </a:rPr>
              <a:t>: 6.12 us/sample</a:t>
            </a:r>
            <a:endParaRPr lang="en-US" sz="800" dirty="0"/>
          </a:p>
          <a:p>
            <a:pPr marL="76200" indent="-76200" algn="l">
              <a:lnSpc>
                <a:spcPts val="960"/>
              </a:lnSpc>
              <a:spcAft>
                <a:spcPts val="300"/>
              </a:spcAft>
              <a:buSzPct val="100000"/>
              <a:buChar char="•"/>
            </a:pPr>
            <a:r>
              <a:rPr lang="en-US" sz="800" b="1" dirty="0">
                <a:solidFill>
                  <a:srgbClr val="333333"/>
                </a:solidFill>
                <a:latin typeface="Arial" pitchFamily="34" charset="0"/>
                <a:ea typeface="Arial" pitchFamily="34" charset="-122"/>
                <a:cs typeface="Arial" pitchFamily="34" charset="-120"/>
              </a:rPr>
              <a:t>Throughput</a:t>
            </a:r>
            <a:r>
              <a:rPr lang="en-US" sz="800" dirty="0">
                <a:solidFill>
                  <a:srgbClr val="333333"/>
                </a:solidFill>
                <a:latin typeface="Arial" pitchFamily="34" charset="0"/>
                <a:ea typeface="Arial" pitchFamily="34" charset="-122"/>
                <a:cs typeface="Arial" pitchFamily="34" charset="-120"/>
              </a:rPr>
              <a:t>: 163,399 samples/s</a:t>
            </a:r>
            <a:endParaRPr lang="en-US" sz="800" dirty="0"/>
          </a:p>
          <a:p>
            <a:pPr marL="76200" indent="-76200" algn="l">
              <a:lnSpc>
                <a:spcPts val="960"/>
              </a:lnSpc>
              <a:spcAft>
                <a:spcPts val="300"/>
              </a:spcAft>
              <a:buSzPct val="100000"/>
              <a:buChar char="•"/>
            </a:pPr>
            <a:r>
              <a:rPr lang="en-US" sz="800" dirty="0">
                <a:solidFill>
                  <a:srgbClr val="333333"/>
                </a:solidFill>
                <a:latin typeface="Arial" pitchFamily="34" charset="0"/>
                <a:ea typeface="Arial" pitchFamily="34" charset="-122"/>
                <a:cs typeface="Arial" pitchFamily="34" charset="-120"/>
              </a:rPr>
              <a:t>Passes only 15.25% to Stage 2</a:t>
            </a:r>
            <a:endParaRPr lang="en-US" sz="800" dirty="0"/>
          </a:p>
        </p:txBody>
      </p:sp>
      <p:sp>
        <p:nvSpPr>
          <p:cNvPr id="33" name="Text 31"/>
          <p:cNvSpPr/>
          <p:nvPr/>
        </p:nvSpPr>
        <p:spPr>
          <a:xfrm>
            <a:off x="4660850" y="1472803"/>
            <a:ext cx="4127599" cy="1416844"/>
          </a:xfrm>
          <a:prstGeom prst="roundRect">
            <a:avLst>
              <a:gd name="adj" fmla="val 2689"/>
            </a:avLst>
          </a:prstGeom>
          <a:solidFill>
            <a:srgbClr val="F0F2F5"/>
          </a:solidFill>
          <a:ln/>
        </p:spPr>
        <p:txBody>
          <a:bodyPr wrap="square" rtlCol="0" anchor="ctr"/>
          <a:lstStyle/>
          <a:p>
            <a:pPr marL="0" indent="0">
              <a:buNone/>
            </a:pPr>
            <a:endParaRPr lang="en-US" dirty="0"/>
          </a:p>
        </p:txBody>
      </p:sp>
      <p:sp>
        <p:nvSpPr>
          <p:cNvPr id="34" name="Shape 32"/>
          <p:cNvSpPr/>
          <p:nvPr/>
        </p:nvSpPr>
        <p:spPr>
          <a:xfrm>
            <a:off x="4660850" y="1491853"/>
            <a:ext cx="4127599" cy="0"/>
          </a:xfrm>
          <a:prstGeom prst="line">
            <a:avLst/>
          </a:prstGeom>
          <a:noFill/>
          <a:ln w="38100">
            <a:solidFill>
              <a:srgbClr val="003C71"/>
            </a:solidFill>
            <a:prstDash val="solid"/>
          </a:ln>
        </p:spPr>
      </p:sp>
      <p:sp>
        <p:nvSpPr>
          <p:cNvPr id="35" name="Text 33"/>
          <p:cNvSpPr/>
          <p:nvPr/>
        </p:nvSpPr>
        <p:spPr>
          <a:xfrm>
            <a:off x="4787801" y="1612404"/>
            <a:ext cx="3951172" cy="152400"/>
          </a:xfrm>
          <a:prstGeom prst="rect">
            <a:avLst/>
          </a:prstGeom>
          <a:noFill/>
          <a:ln/>
        </p:spPr>
        <p:txBody>
          <a:bodyPr wrap="square" lIns="0" tIns="0" rIns="0" bIns="0" rtlCol="0" anchor="t"/>
          <a:lstStyle/>
          <a:p>
            <a:pPr marL="0" indent="0" algn="l">
              <a:spcAft>
                <a:spcPts val="500"/>
              </a:spcAft>
              <a:buNone/>
            </a:pPr>
            <a:r>
              <a:rPr lang="en-US" sz="1100" b="1" dirty="0">
                <a:solidFill>
                  <a:srgbClr val="003C71"/>
                </a:solidFill>
                <a:latin typeface="Arial" pitchFamily="34" charset="0"/>
                <a:ea typeface="Arial" pitchFamily="34" charset="-122"/>
                <a:cs typeface="Arial" pitchFamily="34" charset="-120"/>
              </a:rPr>
              <a:t>Stage 2 — TransECA-Net</a:t>
            </a:r>
            <a:endParaRPr lang="en-US" sz="1100" dirty="0"/>
          </a:p>
        </p:txBody>
      </p:sp>
      <p:sp>
        <p:nvSpPr>
          <p:cNvPr id="36" name="Text 34"/>
          <p:cNvSpPr/>
          <p:nvPr/>
        </p:nvSpPr>
        <p:spPr>
          <a:xfrm>
            <a:off x="4787801" y="1828205"/>
            <a:ext cx="3873698" cy="921841"/>
          </a:xfrm>
          <a:prstGeom prst="rect">
            <a:avLst/>
          </a:prstGeom>
          <a:noFill/>
          <a:ln/>
        </p:spPr>
        <p:txBody>
          <a:bodyPr wrap="square" lIns="76200" tIns="0" rIns="0" bIns="0" rtlCol="0" anchor="t"/>
          <a:lstStyle/>
          <a:p>
            <a:pPr marL="76200" indent="-76200" algn="l">
              <a:lnSpc>
                <a:spcPts val="960"/>
              </a:lnSpc>
              <a:spcAft>
                <a:spcPts val="300"/>
              </a:spcAft>
              <a:buSzPct val="100000"/>
              <a:buChar char="•"/>
            </a:pPr>
            <a:r>
              <a:rPr lang="en-US" sz="800" b="1" dirty="0">
                <a:solidFill>
                  <a:srgbClr val="333333"/>
                </a:solidFill>
                <a:latin typeface="Arial" pitchFamily="34" charset="0"/>
                <a:ea typeface="Arial" pitchFamily="34" charset="-122"/>
                <a:cs typeface="Arial" pitchFamily="34" charset="-120"/>
              </a:rPr>
              <a:t>Architecture</a:t>
            </a:r>
            <a:r>
              <a:rPr lang="en-US" sz="800" dirty="0">
                <a:solidFill>
                  <a:srgbClr val="333333"/>
                </a:solidFill>
                <a:latin typeface="Arial" pitchFamily="34" charset="0"/>
                <a:ea typeface="Arial" pitchFamily="34" charset="-122"/>
                <a:cs typeface="Arial" pitchFamily="34" charset="-120"/>
              </a:rPr>
              <a:t>: 1D-CNN, ECA, Transformer</a:t>
            </a:r>
            <a:endParaRPr lang="en-US" sz="800" dirty="0"/>
          </a:p>
          <a:p>
            <a:pPr marL="76200" indent="-76200" algn="l">
              <a:lnSpc>
                <a:spcPts val="960"/>
              </a:lnSpc>
              <a:spcAft>
                <a:spcPts val="300"/>
              </a:spcAft>
              <a:buSzPct val="100000"/>
              <a:buChar char="•"/>
            </a:pPr>
            <a:r>
              <a:rPr lang="en-US" sz="800" b="1" dirty="0">
                <a:solidFill>
                  <a:srgbClr val="333333"/>
                </a:solidFill>
                <a:latin typeface="Arial" pitchFamily="34" charset="0"/>
                <a:ea typeface="Arial" pitchFamily="34" charset="-122"/>
                <a:cs typeface="Arial" pitchFamily="34" charset="-120"/>
              </a:rPr>
              <a:t>Transformer</a:t>
            </a:r>
            <a:r>
              <a:rPr lang="en-US" sz="800" dirty="0">
                <a:solidFill>
                  <a:srgbClr val="333333"/>
                </a:solidFill>
                <a:latin typeface="Arial" pitchFamily="34" charset="0"/>
                <a:ea typeface="Arial" pitchFamily="34" charset="-122"/>
                <a:cs typeface="Arial" pitchFamily="34" charset="-120"/>
              </a:rPr>
              <a:t>: d=128, heads=8, layers=3</a:t>
            </a:r>
            <a:endParaRPr lang="en-US" sz="800" dirty="0"/>
          </a:p>
          <a:p>
            <a:pPr marL="76200" indent="-76200" algn="l">
              <a:lnSpc>
                <a:spcPts val="960"/>
              </a:lnSpc>
              <a:spcAft>
                <a:spcPts val="300"/>
              </a:spcAft>
              <a:buSzPct val="100000"/>
              <a:buChar char="•"/>
            </a:pPr>
            <a:r>
              <a:rPr lang="en-US" sz="800" b="1" dirty="0">
                <a:solidFill>
                  <a:srgbClr val="333333"/>
                </a:solidFill>
                <a:latin typeface="Arial" pitchFamily="34" charset="0"/>
                <a:ea typeface="Arial" pitchFamily="34" charset="-122"/>
                <a:cs typeface="Arial" pitchFamily="34" charset="-120"/>
              </a:rPr>
              <a:t>Parameters</a:t>
            </a:r>
            <a:r>
              <a:rPr lang="en-US" sz="800" dirty="0">
                <a:solidFill>
                  <a:srgbClr val="333333"/>
                </a:solidFill>
                <a:latin typeface="Arial" pitchFamily="34" charset="0"/>
                <a:ea typeface="Arial" pitchFamily="34" charset="-122"/>
                <a:cs typeface="Arial" pitchFamily="34" charset="-120"/>
              </a:rPr>
              <a:t>: 301,460</a:t>
            </a:r>
            <a:endParaRPr lang="en-US" sz="800" dirty="0"/>
          </a:p>
          <a:p>
            <a:pPr marL="76200" indent="-76200" algn="l">
              <a:lnSpc>
                <a:spcPts val="960"/>
              </a:lnSpc>
              <a:spcAft>
                <a:spcPts val="300"/>
              </a:spcAft>
              <a:buSzPct val="100000"/>
              <a:buChar char="•"/>
            </a:pPr>
            <a:r>
              <a:rPr lang="en-US" sz="800" b="1" dirty="0">
                <a:solidFill>
                  <a:srgbClr val="333333"/>
                </a:solidFill>
                <a:latin typeface="Arial" pitchFamily="34" charset="0"/>
                <a:ea typeface="Arial" pitchFamily="34" charset="-122"/>
                <a:cs typeface="Arial" pitchFamily="34" charset="-120"/>
              </a:rPr>
              <a:t>Test Accuracy</a:t>
            </a:r>
            <a:r>
              <a:rPr lang="en-US" sz="800" dirty="0">
                <a:solidFill>
                  <a:srgbClr val="333333"/>
                </a:solidFill>
                <a:latin typeface="Arial" pitchFamily="34" charset="0"/>
                <a:ea typeface="Arial" pitchFamily="34" charset="-122"/>
                <a:cs typeface="Arial" pitchFamily="34" charset="-120"/>
              </a:rPr>
              <a:t>: 93.00%</a:t>
            </a:r>
            <a:endParaRPr lang="en-US" sz="800" dirty="0"/>
          </a:p>
          <a:p>
            <a:pPr marL="76200" indent="-76200" algn="l">
              <a:lnSpc>
                <a:spcPts val="960"/>
              </a:lnSpc>
              <a:spcAft>
                <a:spcPts val="300"/>
              </a:spcAft>
              <a:buSzPct val="100000"/>
              <a:buChar char="•"/>
            </a:pPr>
            <a:r>
              <a:rPr lang="en-US" sz="800" b="1" dirty="0">
                <a:solidFill>
                  <a:srgbClr val="333333"/>
                </a:solidFill>
                <a:latin typeface="Arial" pitchFamily="34" charset="0"/>
                <a:ea typeface="Arial" pitchFamily="34" charset="-122"/>
                <a:cs typeface="Arial" pitchFamily="34" charset="-120"/>
              </a:rPr>
              <a:t>Weighted F1</a:t>
            </a:r>
            <a:r>
              <a:rPr lang="en-US" sz="800" dirty="0">
                <a:solidFill>
                  <a:srgbClr val="333333"/>
                </a:solidFill>
                <a:latin typeface="Arial" pitchFamily="34" charset="0"/>
                <a:ea typeface="Arial" pitchFamily="34" charset="-122"/>
                <a:cs typeface="Arial" pitchFamily="34" charset="-120"/>
              </a:rPr>
              <a:t>: 0.95</a:t>
            </a:r>
            <a:endParaRPr lang="en-US" sz="800" dirty="0"/>
          </a:p>
          <a:p>
            <a:pPr marL="76200" indent="-76200" algn="l">
              <a:lnSpc>
                <a:spcPts val="960"/>
              </a:lnSpc>
              <a:spcAft>
                <a:spcPts val="300"/>
              </a:spcAft>
              <a:buSzPct val="100000"/>
              <a:buChar char="•"/>
            </a:pPr>
            <a:r>
              <a:rPr lang="en-US" sz="800" dirty="0">
                <a:solidFill>
                  <a:srgbClr val="333333"/>
                </a:solidFill>
                <a:latin typeface="Arial" pitchFamily="34" charset="0"/>
                <a:ea typeface="Arial" pitchFamily="34" charset="-122"/>
                <a:cs typeface="Arial" pitchFamily="34" charset="-120"/>
              </a:rPr>
              <a:t>Handles hard examples from Stage 1</a:t>
            </a:r>
            <a:endParaRPr lang="en-US" sz="800" dirty="0"/>
          </a:p>
        </p:txBody>
      </p:sp>
      <p:sp>
        <p:nvSpPr>
          <p:cNvPr id="37" name="Text 35"/>
          <p:cNvSpPr/>
          <p:nvPr/>
        </p:nvSpPr>
        <p:spPr>
          <a:xfrm>
            <a:off x="355550" y="2965847"/>
            <a:ext cx="2743200" cy="417612"/>
          </a:xfrm>
          <a:prstGeom prst="roundRect">
            <a:avLst>
              <a:gd name="adj" fmla="val 12164"/>
            </a:avLst>
          </a:prstGeom>
          <a:solidFill>
            <a:srgbClr val="003C71"/>
          </a:solidFill>
          <a:ln/>
        </p:spPr>
        <p:txBody>
          <a:bodyPr wrap="square" rtlCol="0" anchor="ctr"/>
          <a:lstStyle/>
          <a:p>
            <a:pPr marL="0" indent="0">
              <a:buNone/>
            </a:pPr>
            <a:endParaRPr lang="en-US" dirty="0"/>
          </a:p>
        </p:txBody>
      </p:sp>
      <p:sp>
        <p:nvSpPr>
          <p:cNvPr id="38" name="Text 36"/>
          <p:cNvSpPr/>
          <p:nvPr/>
        </p:nvSpPr>
        <p:spPr>
          <a:xfrm>
            <a:off x="457051" y="3042047"/>
            <a:ext cx="2591002" cy="133350"/>
          </a:xfrm>
          <a:prstGeom prst="rect">
            <a:avLst/>
          </a:prstGeom>
          <a:noFill/>
          <a:ln/>
        </p:spPr>
        <p:txBody>
          <a:bodyPr wrap="square" lIns="0" tIns="0" rIns="0" bIns="0" rtlCol="0" anchor="t"/>
          <a:lstStyle/>
          <a:p>
            <a:pPr marL="0" indent="0" algn="l">
              <a:spcAft>
                <a:spcPts val="200"/>
              </a:spcAft>
              <a:buNone/>
            </a:pPr>
            <a:r>
              <a:rPr lang="en-US" sz="900" b="1" dirty="0">
                <a:solidFill>
                  <a:srgbClr val="E75113"/>
                </a:solidFill>
                <a:latin typeface="Arial" pitchFamily="34" charset="0"/>
                <a:ea typeface="Arial" pitchFamily="34" charset="-122"/>
                <a:cs typeface="Arial" pitchFamily="34" charset="-120"/>
              </a:rPr>
              <a:t>Speed</a:t>
            </a:r>
            <a:endParaRPr lang="en-US" sz="900" dirty="0"/>
          </a:p>
        </p:txBody>
      </p:sp>
      <p:sp>
        <p:nvSpPr>
          <p:cNvPr id="39" name="Text 37"/>
          <p:cNvSpPr/>
          <p:nvPr/>
        </p:nvSpPr>
        <p:spPr>
          <a:xfrm>
            <a:off x="457051" y="3200698"/>
            <a:ext cx="2591002" cy="106561"/>
          </a:xfrm>
          <a:prstGeom prst="rect">
            <a:avLst/>
          </a:prstGeom>
          <a:noFill/>
          <a:ln/>
        </p:spPr>
        <p:txBody>
          <a:bodyPr wrap="square" lIns="0" tIns="0" rIns="0" bIns="0" rtlCol="0" anchor="t"/>
          <a:lstStyle/>
          <a:p>
            <a:pPr marL="0" indent="0" algn="l">
              <a:lnSpc>
                <a:spcPts val="840"/>
              </a:lnSpc>
              <a:buNone/>
            </a:pPr>
            <a:r>
              <a:rPr lang="en-US" sz="700" dirty="0">
                <a:solidFill>
                  <a:srgbClr val="FFFFFF"/>
                </a:solidFill>
                <a:latin typeface="Arial" pitchFamily="34" charset="0"/>
                <a:ea typeface="Arial" pitchFamily="34" charset="-122"/>
                <a:cs typeface="Arial" pitchFamily="34" charset="-120"/>
              </a:rPr>
              <a:t>6.07x faster than DL-only (82us expected cost)</a:t>
            </a:r>
            <a:endParaRPr lang="en-US" sz="700" dirty="0"/>
          </a:p>
        </p:txBody>
      </p:sp>
      <p:sp>
        <p:nvSpPr>
          <p:cNvPr id="40" name="Text 38"/>
          <p:cNvSpPr/>
          <p:nvPr/>
        </p:nvSpPr>
        <p:spPr>
          <a:xfrm>
            <a:off x="3200251" y="2965847"/>
            <a:ext cx="2743349" cy="417612"/>
          </a:xfrm>
          <a:prstGeom prst="roundRect">
            <a:avLst>
              <a:gd name="adj" fmla="val 12164"/>
            </a:avLst>
          </a:prstGeom>
          <a:solidFill>
            <a:srgbClr val="003C71"/>
          </a:solidFill>
          <a:ln/>
        </p:spPr>
        <p:txBody>
          <a:bodyPr wrap="square" rtlCol="0" anchor="ctr"/>
          <a:lstStyle/>
          <a:p>
            <a:pPr marL="0" indent="0">
              <a:buNone/>
            </a:pPr>
            <a:endParaRPr lang="en-US" dirty="0"/>
          </a:p>
        </p:txBody>
      </p:sp>
      <p:sp>
        <p:nvSpPr>
          <p:cNvPr id="41" name="Text 39"/>
          <p:cNvSpPr/>
          <p:nvPr/>
        </p:nvSpPr>
        <p:spPr>
          <a:xfrm>
            <a:off x="3301752" y="3042047"/>
            <a:ext cx="2591154" cy="133350"/>
          </a:xfrm>
          <a:prstGeom prst="rect">
            <a:avLst/>
          </a:prstGeom>
          <a:noFill/>
          <a:ln/>
        </p:spPr>
        <p:txBody>
          <a:bodyPr wrap="square" lIns="0" tIns="0" rIns="0" bIns="0" rtlCol="0" anchor="t"/>
          <a:lstStyle/>
          <a:p>
            <a:pPr marL="0" indent="0" algn="l">
              <a:spcAft>
                <a:spcPts val="200"/>
              </a:spcAft>
              <a:buNone/>
            </a:pPr>
            <a:r>
              <a:rPr lang="en-US" sz="900" b="1" dirty="0">
                <a:solidFill>
                  <a:srgbClr val="E75113"/>
                </a:solidFill>
                <a:latin typeface="Arial" pitchFamily="34" charset="0"/>
                <a:ea typeface="Arial" pitchFamily="34" charset="-122"/>
                <a:cs typeface="Arial" pitchFamily="34" charset="-120"/>
              </a:rPr>
              <a:t>Accuracy</a:t>
            </a:r>
            <a:endParaRPr lang="en-US" sz="900" dirty="0"/>
          </a:p>
        </p:txBody>
      </p:sp>
      <p:sp>
        <p:nvSpPr>
          <p:cNvPr id="42" name="Text 40"/>
          <p:cNvSpPr/>
          <p:nvPr/>
        </p:nvSpPr>
        <p:spPr>
          <a:xfrm>
            <a:off x="3301752" y="3200698"/>
            <a:ext cx="2591154" cy="106561"/>
          </a:xfrm>
          <a:prstGeom prst="rect">
            <a:avLst/>
          </a:prstGeom>
          <a:noFill/>
          <a:ln/>
        </p:spPr>
        <p:txBody>
          <a:bodyPr wrap="square" lIns="0" tIns="0" rIns="0" bIns="0" rtlCol="0" anchor="t"/>
          <a:lstStyle/>
          <a:p>
            <a:pPr marL="0" indent="0" algn="l">
              <a:lnSpc>
                <a:spcPts val="840"/>
              </a:lnSpc>
              <a:buNone/>
            </a:pPr>
            <a:r>
              <a:rPr lang="en-US" sz="700" dirty="0">
                <a:solidFill>
                  <a:srgbClr val="FFFFFF"/>
                </a:solidFill>
                <a:latin typeface="Arial" pitchFamily="34" charset="0"/>
                <a:ea typeface="Arial" pitchFamily="34" charset="-122"/>
                <a:cs typeface="Arial" pitchFamily="34" charset="-120"/>
              </a:rPr>
              <a:t>System Recall 92.9%, FPR 0.007%</a:t>
            </a:r>
            <a:endParaRPr lang="en-US" sz="700" dirty="0"/>
          </a:p>
        </p:txBody>
      </p:sp>
      <p:sp>
        <p:nvSpPr>
          <p:cNvPr id="43" name="Text 41"/>
          <p:cNvSpPr/>
          <p:nvPr/>
        </p:nvSpPr>
        <p:spPr>
          <a:xfrm>
            <a:off x="6045101" y="2965847"/>
            <a:ext cx="2743349" cy="417612"/>
          </a:xfrm>
          <a:prstGeom prst="roundRect">
            <a:avLst>
              <a:gd name="adj" fmla="val 12164"/>
            </a:avLst>
          </a:prstGeom>
          <a:solidFill>
            <a:srgbClr val="003C71"/>
          </a:solidFill>
          <a:ln/>
        </p:spPr>
        <p:txBody>
          <a:bodyPr wrap="square" rtlCol="0" anchor="ctr"/>
          <a:lstStyle/>
          <a:p>
            <a:pPr marL="0" indent="0">
              <a:buNone/>
            </a:pPr>
            <a:endParaRPr lang="en-US" dirty="0"/>
          </a:p>
        </p:txBody>
      </p:sp>
      <p:sp>
        <p:nvSpPr>
          <p:cNvPr id="44" name="Text 42"/>
          <p:cNvSpPr/>
          <p:nvPr/>
        </p:nvSpPr>
        <p:spPr>
          <a:xfrm>
            <a:off x="6146602" y="3042047"/>
            <a:ext cx="2591154" cy="133350"/>
          </a:xfrm>
          <a:prstGeom prst="rect">
            <a:avLst/>
          </a:prstGeom>
          <a:noFill/>
          <a:ln/>
        </p:spPr>
        <p:txBody>
          <a:bodyPr wrap="square" lIns="0" tIns="0" rIns="0" bIns="0" rtlCol="0" anchor="t"/>
          <a:lstStyle/>
          <a:p>
            <a:pPr marL="0" indent="0" algn="l">
              <a:spcAft>
                <a:spcPts val="200"/>
              </a:spcAft>
              <a:buNone/>
            </a:pPr>
            <a:r>
              <a:rPr lang="en-US" sz="900" b="1" dirty="0">
                <a:solidFill>
                  <a:srgbClr val="E75113"/>
                </a:solidFill>
                <a:latin typeface="Arial" pitchFamily="34" charset="0"/>
                <a:ea typeface="Arial" pitchFamily="34" charset="-122"/>
                <a:cs typeface="Arial" pitchFamily="34" charset="-120"/>
              </a:rPr>
              <a:t>Robustness</a:t>
            </a:r>
            <a:endParaRPr lang="en-US" sz="900" dirty="0"/>
          </a:p>
        </p:txBody>
      </p:sp>
      <p:sp>
        <p:nvSpPr>
          <p:cNvPr id="45" name="Text 43"/>
          <p:cNvSpPr/>
          <p:nvPr/>
        </p:nvSpPr>
        <p:spPr>
          <a:xfrm>
            <a:off x="6146602" y="3200698"/>
            <a:ext cx="2591154" cy="106561"/>
          </a:xfrm>
          <a:prstGeom prst="rect">
            <a:avLst/>
          </a:prstGeom>
          <a:noFill/>
          <a:ln/>
        </p:spPr>
        <p:txBody>
          <a:bodyPr wrap="square" lIns="0" tIns="0" rIns="0" bIns="0" rtlCol="0" anchor="t"/>
          <a:lstStyle/>
          <a:p>
            <a:pPr marL="0" indent="0" algn="l">
              <a:lnSpc>
                <a:spcPts val="840"/>
              </a:lnSpc>
              <a:buNone/>
            </a:pPr>
            <a:r>
              <a:rPr lang="en-US" sz="700" dirty="0">
                <a:solidFill>
                  <a:srgbClr val="FFFFFF"/>
                </a:solidFill>
                <a:latin typeface="Arial" pitchFamily="34" charset="0"/>
                <a:ea typeface="Arial" pitchFamily="34" charset="-122"/>
                <a:cs typeface="Arial" pitchFamily="34" charset="-120"/>
              </a:rPr>
              <a:t>Orthogonal weaknesses = attack surface isolation</a:t>
            </a:r>
            <a:endParaRPr lang="en-US" sz="700" dirty="0"/>
          </a:p>
        </p:txBody>
      </p:sp>
      <p:sp>
        <p:nvSpPr>
          <p:cNvPr id="46" name="Text 44"/>
          <p:cNvSpPr/>
          <p:nvPr/>
        </p:nvSpPr>
        <p:spPr>
          <a:xfrm>
            <a:off x="0" y="4946749"/>
            <a:ext cx="9144000" cy="196751"/>
          </a:xfrm>
          <a:prstGeom prst="rect">
            <a:avLst/>
          </a:prstGeom>
          <a:solidFill>
            <a:srgbClr val="F0F2F5"/>
          </a:solidFill>
          <a:ln/>
        </p:spPr>
        <p:txBody>
          <a:bodyPr wrap="square" rtlCol="0" anchor="ctr"/>
          <a:lstStyle/>
          <a:p>
            <a:pPr marL="0" indent="0">
              <a:buNone/>
            </a:pPr>
            <a:endParaRPr lang="en-US" dirty="0"/>
          </a:p>
        </p:txBody>
      </p:sp>
      <p:sp>
        <p:nvSpPr>
          <p:cNvPr id="47" name="Text 45"/>
          <p:cNvSpPr/>
          <p:nvPr/>
        </p:nvSpPr>
        <p:spPr>
          <a:xfrm>
            <a:off x="355550" y="4997500"/>
            <a:ext cx="8601557" cy="95250"/>
          </a:xfrm>
          <a:prstGeom prst="rect">
            <a:avLst/>
          </a:prstGeom>
          <a:noFill/>
          <a:ln/>
        </p:spPr>
        <p:txBody>
          <a:bodyPr wrap="square" lIns="0" tIns="0" rIns="0" bIns="0" rtlCol="0" anchor="t"/>
          <a:lstStyle/>
          <a:p>
            <a:pPr marL="0" indent="0" algn="l">
              <a:buNone/>
            </a:pPr>
            <a:r>
              <a:rPr lang="en-US" sz="700" dirty="0">
                <a:solidFill>
                  <a:srgbClr val="888888"/>
                </a:solidFill>
                <a:latin typeface="Arial" pitchFamily="34" charset="0"/>
                <a:ea typeface="Arial" pitchFamily="34" charset="-122"/>
                <a:cs typeface="Arial" pitchFamily="34" charset="-120"/>
              </a:rPr>
              <a:t>Liu, Y. (2025). TransECA-Net. | Breiman, L. (2001). Random forests. Machine Learning, 45(1), 5-32.</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5068303"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Stage 1: RF Baseline and Threshold Tuning</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355550" y="723751"/>
            <a:ext cx="4210151" cy="114300"/>
          </a:xfrm>
          <a:prstGeom prst="rect">
            <a:avLst/>
          </a:prstGeom>
          <a:noFill/>
          <a:ln/>
        </p:spPr>
        <p:txBody>
          <a:bodyPr wrap="square" lIns="0" tIns="0" rIns="0" bIns="0" rtlCol="0" anchor="t"/>
          <a:lstStyle/>
          <a:p>
            <a:pPr marL="0" indent="0" algn="l">
              <a:spcAft>
                <a:spcPts val="100"/>
              </a:spcAft>
              <a:buNone/>
            </a:pPr>
            <a:r>
              <a:rPr lang="en-US" sz="800" b="1" dirty="0">
                <a:solidFill>
                  <a:srgbClr val="333333"/>
                </a:solidFill>
                <a:latin typeface="Arial" pitchFamily="34" charset="0"/>
                <a:ea typeface="Arial" pitchFamily="34" charset="-122"/>
                <a:cs typeface="Arial" pitchFamily="34" charset="-120"/>
              </a:rPr>
              <a:t>Table 3</a:t>
            </a:r>
            <a:endParaRPr lang="en-US" sz="800" dirty="0"/>
          </a:p>
        </p:txBody>
      </p:sp>
      <p:sp>
        <p:nvSpPr>
          <p:cNvPr id="7" name="Text 5"/>
          <p:cNvSpPr/>
          <p:nvPr/>
        </p:nvSpPr>
        <p:spPr>
          <a:xfrm>
            <a:off x="355550" y="888802"/>
            <a:ext cx="4210151" cy="114300"/>
          </a:xfrm>
          <a:prstGeom prst="rect">
            <a:avLst/>
          </a:prstGeom>
          <a:noFill/>
          <a:ln/>
        </p:spPr>
        <p:txBody>
          <a:bodyPr wrap="square" lIns="0" tIns="0" rIns="0" bIns="0" rtlCol="0" anchor="t"/>
          <a:lstStyle/>
          <a:p>
            <a:pPr marL="0" indent="0" algn="l">
              <a:spcAft>
                <a:spcPts val="200"/>
              </a:spcAft>
              <a:buNone/>
            </a:pPr>
            <a:r>
              <a:rPr lang="en-US" sz="800" i="1" dirty="0">
                <a:solidFill>
                  <a:srgbClr val="333333"/>
                </a:solidFill>
                <a:latin typeface="Arial" pitchFamily="34" charset="0"/>
                <a:ea typeface="Arial" pitchFamily="34" charset="-122"/>
                <a:cs typeface="Arial" pitchFamily="34" charset="-120"/>
              </a:rPr>
              <a:t>Stage 1 Random Forest Validation Results</a:t>
            </a:r>
            <a:endParaRPr lang="en-US" sz="800" dirty="0"/>
          </a:p>
        </p:txBody>
      </p:sp>
      <p:sp>
        <p:nvSpPr>
          <p:cNvPr id="8" name="Text 6"/>
          <p:cNvSpPr/>
          <p:nvPr/>
        </p:nvSpPr>
        <p:spPr>
          <a:xfrm>
            <a:off x="355550" y="1066502"/>
            <a:ext cx="1375767"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9" name="Text 7"/>
          <p:cNvSpPr/>
          <p:nvPr/>
        </p:nvSpPr>
        <p:spPr>
          <a:xfrm>
            <a:off x="415826" y="1114127"/>
            <a:ext cx="1280321"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Experiment</a:t>
            </a:r>
            <a:endParaRPr lang="en-US" sz="700" dirty="0"/>
          </a:p>
        </p:txBody>
      </p:sp>
      <p:sp>
        <p:nvSpPr>
          <p:cNvPr id="10" name="Text 8"/>
          <p:cNvSpPr/>
          <p:nvPr/>
        </p:nvSpPr>
        <p:spPr>
          <a:xfrm>
            <a:off x="1731318" y="1066502"/>
            <a:ext cx="1375916"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1" name="Text 9"/>
          <p:cNvSpPr/>
          <p:nvPr/>
        </p:nvSpPr>
        <p:spPr>
          <a:xfrm>
            <a:off x="1791593" y="1114127"/>
            <a:ext cx="1280473"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Method</a:t>
            </a:r>
            <a:endParaRPr lang="en-US" sz="700" dirty="0"/>
          </a:p>
        </p:txBody>
      </p:sp>
      <p:sp>
        <p:nvSpPr>
          <p:cNvPr id="12" name="Text 10"/>
          <p:cNvSpPr/>
          <p:nvPr/>
        </p:nvSpPr>
        <p:spPr>
          <a:xfrm>
            <a:off x="3107234" y="1066502"/>
            <a:ext cx="1375916"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3" name="Text 11"/>
          <p:cNvSpPr/>
          <p:nvPr/>
        </p:nvSpPr>
        <p:spPr>
          <a:xfrm>
            <a:off x="3167509" y="1114127"/>
            <a:ext cx="1280473"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Key Result</a:t>
            </a:r>
            <a:endParaRPr lang="en-US" sz="700" dirty="0"/>
          </a:p>
        </p:txBody>
      </p:sp>
      <p:sp>
        <p:nvSpPr>
          <p:cNvPr id="14" name="Text 12"/>
          <p:cNvSpPr/>
          <p:nvPr/>
        </p:nvSpPr>
        <p:spPr>
          <a:xfrm>
            <a:off x="355550" y="1295102"/>
            <a:ext cx="1375767" cy="200025"/>
          </a:xfrm>
          <a:prstGeom prst="rect">
            <a:avLst/>
          </a:prstGeom>
          <a:noFill/>
          <a:ln w="9525">
            <a:solidFill>
              <a:srgbClr val="DDDDDD"/>
            </a:solidFill>
          </a:ln>
        </p:spPr>
        <p:txBody>
          <a:bodyPr wrap="square" rtlCol="0" anchor="ctr"/>
          <a:lstStyle/>
          <a:p>
            <a:pPr marL="0" indent="0">
              <a:buNone/>
            </a:pPr>
            <a:endParaRPr lang="en-US" dirty="0"/>
          </a:p>
        </p:txBody>
      </p:sp>
      <p:sp>
        <p:nvSpPr>
          <p:cNvPr id="15" name="Text 13"/>
          <p:cNvSpPr/>
          <p:nvPr/>
        </p:nvSpPr>
        <p:spPr>
          <a:xfrm>
            <a:off x="415826" y="1342727"/>
            <a:ext cx="1280321" cy="104775"/>
          </a:xfrm>
          <a:prstGeom prst="rect">
            <a:avLst/>
          </a:prstGeom>
          <a:noFill/>
          <a:ln/>
        </p:spPr>
        <p:txBody>
          <a:bodyPr wrap="square" lIns="0" tIns="0" rIns="0" bIns="0" rtlCol="0" anchor="t"/>
          <a:lstStyle/>
          <a:p>
            <a:pPr marL="0" indent="0" algn="l">
              <a:buNone/>
            </a:pPr>
            <a:r>
              <a:rPr lang="en-US" sz="750" dirty="0">
                <a:solidFill>
                  <a:srgbClr val="003C71"/>
                </a:solidFill>
                <a:latin typeface="Arial" pitchFamily="34" charset="0"/>
                <a:ea typeface="Arial" pitchFamily="34" charset="-122"/>
                <a:cs typeface="Arial" pitchFamily="34" charset="-120"/>
              </a:rPr>
              <a:t>E1</a:t>
            </a:r>
            <a:endParaRPr lang="en-US" sz="750" dirty="0"/>
          </a:p>
        </p:txBody>
      </p:sp>
      <p:sp>
        <p:nvSpPr>
          <p:cNvPr id="16" name="Text 14"/>
          <p:cNvSpPr/>
          <p:nvPr/>
        </p:nvSpPr>
        <p:spPr>
          <a:xfrm>
            <a:off x="1731318" y="1295102"/>
            <a:ext cx="1375916" cy="200025"/>
          </a:xfrm>
          <a:prstGeom prst="rect">
            <a:avLst/>
          </a:prstGeom>
          <a:noFill/>
          <a:ln w="9525">
            <a:solidFill>
              <a:srgbClr val="DDDDDD"/>
            </a:solidFill>
          </a:ln>
        </p:spPr>
        <p:txBody>
          <a:bodyPr wrap="square" rtlCol="0" anchor="ctr"/>
          <a:lstStyle/>
          <a:p>
            <a:pPr marL="0" indent="0">
              <a:buNone/>
            </a:pPr>
            <a:endParaRPr lang="en-US" dirty="0"/>
          </a:p>
        </p:txBody>
      </p:sp>
      <p:sp>
        <p:nvSpPr>
          <p:cNvPr id="17" name="Text 15"/>
          <p:cNvSpPr/>
          <p:nvPr/>
        </p:nvSpPr>
        <p:spPr>
          <a:xfrm>
            <a:off x="1791593" y="1342727"/>
            <a:ext cx="1280473" cy="104775"/>
          </a:xfrm>
          <a:prstGeom prst="rect">
            <a:avLst/>
          </a:prstGeom>
          <a:noFill/>
          <a:ln/>
        </p:spPr>
        <p:txBody>
          <a:bodyPr wrap="square" lIns="0" tIns="0" rIns="0" bIns="0" rtlCol="0" anchor="t"/>
          <a:lstStyle/>
          <a:p>
            <a:pPr marL="0" indent="0" algn="l">
              <a:buNone/>
            </a:pPr>
            <a:r>
              <a:rPr lang="en-US" sz="750" dirty="0">
                <a:solidFill>
                  <a:srgbClr val="333333"/>
                </a:solidFill>
                <a:latin typeface="Arial" pitchFamily="34" charset="0"/>
                <a:ea typeface="Arial" pitchFamily="34" charset="-122"/>
                <a:cs typeface="Arial" pitchFamily="34" charset="-120"/>
              </a:rPr>
              <a:t>5x3 Nested CV</a:t>
            </a:r>
            <a:endParaRPr lang="en-US" sz="750" dirty="0"/>
          </a:p>
        </p:txBody>
      </p:sp>
      <p:sp>
        <p:nvSpPr>
          <p:cNvPr id="18" name="Text 16"/>
          <p:cNvSpPr/>
          <p:nvPr/>
        </p:nvSpPr>
        <p:spPr>
          <a:xfrm>
            <a:off x="3107234" y="1295102"/>
            <a:ext cx="1375916" cy="200025"/>
          </a:xfrm>
          <a:prstGeom prst="rect">
            <a:avLst/>
          </a:prstGeom>
          <a:noFill/>
          <a:ln w="9525">
            <a:solidFill>
              <a:srgbClr val="DDDDDD"/>
            </a:solidFill>
          </a:ln>
        </p:spPr>
        <p:txBody>
          <a:bodyPr wrap="square" rtlCol="0" anchor="ctr"/>
          <a:lstStyle/>
          <a:p>
            <a:pPr marL="0" indent="0">
              <a:buNone/>
            </a:pPr>
            <a:endParaRPr lang="en-US" dirty="0"/>
          </a:p>
        </p:txBody>
      </p:sp>
      <p:sp>
        <p:nvSpPr>
          <p:cNvPr id="19" name="Text 17"/>
          <p:cNvSpPr/>
          <p:nvPr/>
        </p:nvSpPr>
        <p:spPr>
          <a:xfrm>
            <a:off x="3167509" y="1342727"/>
            <a:ext cx="1280473" cy="104775"/>
          </a:xfrm>
          <a:prstGeom prst="rect">
            <a:avLst/>
          </a:prstGeom>
          <a:noFill/>
          <a:ln/>
        </p:spPr>
        <p:txBody>
          <a:bodyPr wrap="square" lIns="0" tIns="0" rIns="0" bIns="0" rtlCol="0" anchor="t"/>
          <a:lstStyle/>
          <a:p>
            <a:pPr marL="0" indent="0" algn="l">
              <a:buNone/>
            </a:pPr>
            <a:r>
              <a:rPr lang="en-US" sz="750" b="1" dirty="0">
                <a:solidFill>
                  <a:srgbClr val="E75113"/>
                </a:solidFill>
                <a:latin typeface="Arial" pitchFamily="34" charset="0"/>
                <a:ea typeface="Arial" pitchFamily="34" charset="-122"/>
                <a:cs typeface="Arial" pitchFamily="34" charset="-120"/>
              </a:rPr>
              <a:t>F1-Macro = 0.796</a:t>
            </a:r>
            <a:endParaRPr lang="en-US" sz="750" dirty="0"/>
          </a:p>
        </p:txBody>
      </p:sp>
      <p:sp>
        <p:nvSpPr>
          <p:cNvPr id="20" name="Text 18"/>
          <p:cNvSpPr/>
          <p:nvPr/>
        </p:nvSpPr>
        <p:spPr>
          <a:xfrm>
            <a:off x="355550" y="1533227"/>
            <a:ext cx="1375767" cy="200025"/>
          </a:xfrm>
          <a:prstGeom prst="rect">
            <a:avLst/>
          </a:prstGeom>
          <a:noFill/>
          <a:ln w="9525">
            <a:solidFill>
              <a:srgbClr val="DDDDDD"/>
            </a:solidFill>
          </a:ln>
        </p:spPr>
        <p:txBody>
          <a:bodyPr wrap="square" rtlCol="0" anchor="ctr"/>
          <a:lstStyle/>
          <a:p>
            <a:pPr marL="0" indent="0">
              <a:buNone/>
            </a:pPr>
            <a:endParaRPr lang="en-US" dirty="0"/>
          </a:p>
        </p:txBody>
      </p:sp>
      <p:sp>
        <p:nvSpPr>
          <p:cNvPr id="21" name="Text 19"/>
          <p:cNvSpPr/>
          <p:nvPr/>
        </p:nvSpPr>
        <p:spPr>
          <a:xfrm>
            <a:off x="415826" y="1580852"/>
            <a:ext cx="1280321" cy="104775"/>
          </a:xfrm>
          <a:prstGeom prst="rect">
            <a:avLst/>
          </a:prstGeom>
          <a:noFill/>
          <a:ln/>
        </p:spPr>
        <p:txBody>
          <a:bodyPr wrap="square" lIns="0" tIns="0" rIns="0" bIns="0" rtlCol="0" anchor="t"/>
          <a:lstStyle/>
          <a:p>
            <a:pPr marL="0" indent="0" algn="l">
              <a:buNone/>
            </a:pPr>
            <a:r>
              <a:rPr lang="en-US" sz="750" dirty="0">
                <a:solidFill>
                  <a:srgbClr val="003C71"/>
                </a:solidFill>
                <a:latin typeface="Arial" pitchFamily="34" charset="0"/>
                <a:ea typeface="Arial" pitchFamily="34" charset="-122"/>
                <a:cs typeface="Arial" pitchFamily="34" charset="-120"/>
              </a:rPr>
              <a:t>E16</a:t>
            </a:r>
            <a:endParaRPr lang="en-US" sz="750" dirty="0"/>
          </a:p>
        </p:txBody>
      </p:sp>
      <p:sp>
        <p:nvSpPr>
          <p:cNvPr id="22" name="Text 20"/>
          <p:cNvSpPr/>
          <p:nvPr/>
        </p:nvSpPr>
        <p:spPr>
          <a:xfrm>
            <a:off x="1731318" y="1533227"/>
            <a:ext cx="1375916" cy="200025"/>
          </a:xfrm>
          <a:prstGeom prst="rect">
            <a:avLst/>
          </a:prstGeom>
          <a:noFill/>
          <a:ln w="9525">
            <a:solidFill>
              <a:srgbClr val="DDDDDD"/>
            </a:solidFill>
          </a:ln>
        </p:spPr>
        <p:txBody>
          <a:bodyPr wrap="square" rtlCol="0" anchor="ctr"/>
          <a:lstStyle/>
          <a:p>
            <a:pPr marL="0" indent="0">
              <a:buNone/>
            </a:pPr>
            <a:endParaRPr lang="en-US" dirty="0"/>
          </a:p>
        </p:txBody>
      </p:sp>
      <p:sp>
        <p:nvSpPr>
          <p:cNvPr id="23" name="Text 21"/>
          <p:cNvSpPr/>
          <p:nvPr/>
        </p:nvSpPr>
        <p:spPr>
          <a:xfrm>
            <a:off x="1791593" y="1580852"/>
            <a:ext cx="1280473" cy="104775"/>
          </a:xfrm>
          <a:prstGeom prst="rect">
            <a:avLst/>
          </a:prstGeom>
          <a:noFill/>
          <a:ln/>
        </p:spPr>
        <p:txBody>
          <a:bodyPr wrap="square" lIns="0" tIns="0" rIns="0" bIns="0" rtlCol="0" anchor="t"/>
          <a:lstStyle/>
          <a:p>
            <a:pPr marL="0" indent="0" algn="l">
              <a:buNone/>
            </a:pPr>
            <a:r>
              <a:rPr lang="en-US" sz="750" dirty="0">
                <a:solidFill>
                  <a:srgbClr val="333333"/>
                </a:solidFill>
                <a:latin typeface="Arial" pitchFamily="34" charset="0"/>
                <a:ea typeface="Arial" pitchFamily="34" charset="-122"/>
                <a:cs typeface="Arial" pitchFamily="34" charset="-120"/>
              </a:rPr>
              <a:t>Time-aware Full Data</a:t>
            </a:r>
            <a:endParaRPr lang="en-US" sz="750" dirty="0"/>
          </a:p>
        </p:txBody>
      </p:sp>
      <p:sp>
        <p:nvSpPr>
          <p:cNvPr id="24" name="Text 22"/>
          <p:cNvSpPr/>
          <p:nvPr/>
        </p:nvSpPr>
        <p:spPr>
          <a:xfrm>
            <a:off x="3107234" y="1533227"/>
            <a:ext cx="1375916" cy="200025"/>
          </a:xfrm>
          <a:prstGeom prst="rect">
            <a:avLst/>
          </a:prstGeom>
          <a:noFill/>
          <a:ln w="9525">
            <a:solidFill>
              <a:srgbClr val="DDDDDD"/>
            </a:solidFill>
          </a:ln>
        </p:spPr>
        <p:txBody>
          <a:bodyPr wrap="square" rtlCol="0" anchor="ctr"/>
          <a:lstStyle/>
          <a:p>
            <a:pPr marL="0" indent="0">
              <a:buNone/>
            </a:pPr>
            <a:endParaRPr lang="en-US" dirty="0"/>
          </a:p>
        </p:txBody>
      </p:sp>
      <p:sp>
        <p:nvSpPr>
          <p:cNvPr id="25" name="Text 23"/>
          <p:cNvSpPr/>
          <p:nvPr/>
        </p:nvSpPr>
        <p:spPr>
          <a:xfrm>
            <a:off x="3167509" y="1580852"/>
            <a:ext cx="1280473" cy="104775"/>
          </a:xfrm>
          <a:prstGeom prst="rect">
            <a:avLst/>
          </a:prstGeom>
          <a:noFill/>
          <a:ln/>
        </p:spPr>
        <p:txBody>
          <a:bodyPr wrap="square" lIns="0" tIns="0" rIns="0" bIns="0" rtlCol="0" anchor="t"/>
          <a:lstStyle/>
          <a:p>
            <a:pPr marL="0" indent="0" algn="l">
              <a:buNone/>
            </a:pPr>
            <a:r>
              <a:rPr lang="en-US" sz="750" b="1" dirty="0">
                <a:solidFill>
                  <a:srgbClr val="E75113"/>
                </a:solidFill>
                <a:latin typeface="Arial" pitchFamily="34" charset="0"/>
                <a:ea typeface="Arial" pitchFamily="34" charset="-122"/>
                <a:cs typeface="Arial" pitchFamily="34" charset="-120"/>
              </a:rPr>
              <a:t>F1 = 1.00</a:t>
            </a:r>
            <a:endParaRPr lang="en-US" sz="750" dirty="0"/>
          </a:p>
        </p:txBody>
      </p:sp>
      <p:sp>
        <p:nvSpPr>
          <p:cNvPr id="26" name="Text 24"/>
          <p:cNvSpPr/>
          <p:nvPr/>
        </p:nvSpPr>
        <p:spPr>
          <a:xfrm>
            <a:off x="355550" y="1771352"/>
            <a:ext cx="4210151" cy="142875"/>
          </a:xfrm>
          <a:prstGeom prst="rect">
            <a:avLst/>
          </a:prstGeom>
          <a:noFill/>
          <a:ln/>
        </p:spPr>
        <p:txBody>
          <a:bodyPr wrap="square" lIns="0" tIns="0" rIns="0" bIns="0" rtlCol="0" anchor="t"/>
          <a:lstStyle/>
          <a:p>
            <a:pPr marL="0" indent="0" algn="l">
              <a:spcAft>
                <a:spcPts val="300"/>
              </a:spcAft>
              <a:buNone/>
            </a:pPr>
            <a:r>
              <a:rPr lang="en-US" sz="1000" b="1" dirty="0">
                <a:solidFill>
                  <a:srgbClr val="003C71"/>
                </a:solidFill>
                <a:latin typeface="Arial" pitchFamily="34" charset="0"/>
                <a:ea typeface="Arial" pitchFamily="34" charset="-122"/>
                <a:cs typeface="Arial" pitchFamily="34" charset="-120"/>
              </a:rPr>
              <a:t>E17: Threshold Optimization</a:t>
            </a:r>
            <a:endParaRPr lang="en-US" sz="1000" dirty="0"/>
          </a:p>
        </p:txBody>
      </p:sp>
      <p:sp>
        <p:nvSpPr>
          <p:cNvPr id="27" name="Text 25"/>
          <p:cNvSpPr/>
          <p:nvPr/>
        </p:nvSpPr>
        <p:spPr>
          <a:xfrm>
            <a:off x="355550" y="1990427"/>
            <a:ext cx="1333500" cy="409426"/>
          </a:xfrm>
          <a:prstGeom prst="roundRect">
            <a:avLst>
              <a:gd name="adj" fmla="val 9306"/>
            </a:avLst>
          </a:prstGeom>
          <a:solidFill>
            <a:srgbClr val="F0F2F5"/>
          </a:solidFill>
          <a:ln/>
        </p:spPr>
        <p:txBody>
          <a:bodyPr wrap="square" rtlCol="0" anchor="ctr"/>
          <a:lstStyle/>
          <a:p>
            <a:pPr marL="0" indent="0">
              <a:buNone/>
            </a:pPr>
            <a:endParaRPr lang="en-US" dirty="0"/>
          </a:p>
        </p:txBody>
      </p:sp>
      <p:sp>
        <p:nvSpPr>
          <p:cNvPr id="28" name="Shape 26"/>
          <p:cNvSpPr/>
          <p:nvPr/>
        </p:nvSpPr>
        <p:spPr>
          <a:xfrm>
            <a:off x="355550" y="2009477"/>
            <a:ext cx="1333500" cy="0"/>
          </a:xfrm>
          <a:prstGeom prst="line">
            <a:avLst/>
          </a:prstGeom>
          <a:noFill/>
          <a:ln w="38100">
            <a:solidFill>
              <a:srgbClr val="E75113"/>
            </a:solidFill>
            <a:prstDash val="solid"/>
          </a:ln>
        </p:spPr>
      </p:sp>
      <p:sp>
        <p:nvSpPr>
          <p:cNvPr id="29" name="Text 27"/>
          <p:cNvSpPr/>
          <p:nvPr/>
        </p:nvSpPr>
        <p:spPr>
          <a:xfrm>
            <a:off x="406301" y="2079278"/>
            <a:ext cx="1256639" cy="171450"/>
          </a:xfrm>
          <a:prstGeom prst="rect">
            <a:avLst/>
          </a:prstGeom>
          <a:noFill/>
          <a:ln/>
        </p:spPr>
        <p:txBody>
          <a:bodyPr wrap="square" lIns="0" tIns="0" rIns="0" bIns="0" rtlCol="0" anchor="t"/>
          <a:lstStyle/>
          <a:p>
            <a:pPr marL="0" indent="0" algn="l">
              <a:buNone/>
            </a:pPr>
            <a:r>
              <a:rPr lang="en-US" sz="1200" b="1" dirty="0">
                <a:solidFill>
                  <a:srgbClr val="003C71"/>
                </a:solidFill>
                <a:latin typeface="Arial" pitchFamily="34" charset="0"/>
                <a:ea typeface="Arial" pitchFamily="34" charset="-122"/>
                <a:cs typeface="Arial" pitchFamily="34" charset="-120"/>
              </a:rPr>
              <a:t>0.06</a:t>
            </a:r>
            <a:endParaRPr lang="en-US" sz="1200" dirty="0"/>
          </a:p>
        </p:txBody>
      </p:sp>
      <p:sp>
        <p:nvSpPr>
          <p:cNvPr id="30" name="Text 28"/>
          <p:cNvSpPr/>
          <p:nvPr/>
        </p:nvSpPr>
        <p:spPr>
          <a:xfrm>
            <a:off x="406301" y="2263378"/>
            <a:ext cx="1256639" cy="85725"/>
          </a:xfrm>
          <a:prstGeom prst="rect">
            <a:avLst/>
          </a:prstGeom>
          <a:noFill/>
          <a:ln/>
        </p:spPr>
        <p:txBody>
          <a:bodyPr wrap="square" lIns="0" tIns="0" rIns="0" bIns="0" rtlCol="0" anchor="t"/>
          <a:lstStyle/>
          <a:p>
            <a:pPr marL="0" indent="0" algn="l">
              <a:spcBef>
                <a:spcPts val="100"/>
              </a:spcBef>
              <a:buNone/>
            </a:pPr>
            <a:r>
              <a:rPr lang="en-US" sz="600" dirty="0">
                <a:solidFill>
                  <a:srgbClr val="666666"/>
                </a:solidFill>
                <a:latin typeface="Arial" pitchFamily="34" charset="0"/>
                <a:ea typeface="Arial" pitchFamily="34" charset="-122"/>
                <a:cs typeface="Arial" pitchFamily="34" charset="-120"/>
              </a:rPr>
              <a:t>Optimal Tau</a:t>
            </a:r>
            <a:endParaRPr lang="en-US" sz="600" dirty="0"/>
          </a:p>
        </p:txBody>
      </p:sp>
      <p:sp>
        <p:nvSpPr>
          <p:cNvPr id="31" name="Text 29"/>
          <p:cNvSpPr/>
          <p:nvPr/>
        </p:nvSpPr>
        <p:spPr>
          <a:xfrm>
            <a:off x="1752451" y="1990427"/>
            <a:ext cx="1333649" cy="409426"/>
          </a:xfrm>
          <a:prstGeom prst="roundRect">
            <a:avLst>
              <a:gd name="adj" fmla="val 9306"/>
            </a:avLst>
          </a:prstGeom>
          <a:solidFill>
            <a:srgbClr val="F0F2F5"/>
          </a:solidFill>
          <a:ln/>
        </p:spPr>
        <p:txBody>
          <a:bodyPr wrap="square" rtlCol="0" anchor="ctr"/>
          <a:lstStyle/>
          <a:p>
            <a:pPr marL="0" indent="0">
              <a:buNone/>
            </a:pPr>
            <a:endParaRPr lang="en-US" dirty="0"/>
          </a:p>
        </p:txBody>
      </p:sp>
      <p:sp>
        <p:nvSpPr>
          <p:cNvPr id="32" name="Shape 30"/>
          <p:cNvSpPr/>
          <p:nvPr/>
        </p:nvSpPr>
        <p:spPr>
          <a:xfrm>
            <a:off x="1752451" y="2009477"/>
            <a:ext cx="1333649" cy="0"/>
          </a:xfrm>
          <a:prstGeom prst="line">
            <a:avLst/>
          </a:prstGeom>
          <a:noFill/>
          <a:ln w="38100">
            <a:solidFill>
              <a:srgbClr val="E75113"/>
            </a:solidFill>
            <a:prstDash val="solid"/>
          </a:ln>
        </p:spPr>
      </p:sp>
      <p:sp>
        <p:nvSpPr>
          <p:cNvPr id="33" name="Text 31"/>
          <p:cNvSpPr/>
          <p:nvPr/>
        </p:nvSpPr>
        <p:spPr>
          <a:xfrm>
            <a:off x="1803202" y="2079278"/>
            <a:ext cx="1256791" cy="171450"/>
          </a:xfrm>
          <a:prstGeom prst="rect">
            <a:avLst/>
          </a:prstGeom>
          <a:noFill/>
          <a:ln/>
        </p:spPr>
        <p:txBody>
          <a:bodyPr wrap="square" lIns="0" tIns="0" rIns="0" bIns="0" rtlCol="0" anchor="t"/>
          <a:lstStyle/>
          <a:p>
            <a:pPr marL="0" indent="0" algn="l">
              <a:buNone/>
            </a:pPr>
            <a:r>
              <a:rPr lang="en-US" sz="1200" b="1" dirty="0">
                <a:solidFill>
                  <a:srgbClr val="003C71"/>
                </a:solidFill>
                <a:latin typeface="Arial" pitchFamily="34" charset="0"/>
                <a:ea typeface="Arial" pitchFamily="34" charset="-122"/>
                <a:cs typeface="Arial" pitchFamily="34" charset="-120"/>
              </a:rPr>
              <a:t>99.9%</a:t>
            </a:r>
            <a:endParaRPr lang="en-US" sz="1200" dirty="0"/>
          </a:p>
        </p:txBody>
      </p:sp>
      <p:sp>
        <p:nvSpPr>
          <p:cNvPr id="34" name="Text 32"/>
          <p:cNvSpPr/>
          <p:nvPr/>
        </p:nvSpPr>
        <p:spPr>
          <a:xfrm>
            <a:off x="1803202" y="2263378"/>
            <a:ext cx="1256791" cy="85725"/>
          </a:xfrm>
          <a:prstGeom prst="rect">
            <a:avLst/>
          </a:prstGeom>
          <a:noFill/>
          <a:ln/>
        </p:spPr>
        <p:txBody>
          <a:bodyPr wrap="square" lIns="0" tIns="0" rIns="0" bIns="0" rtlCol="0" anchor="t"/>
          <a:lstStyle/>
          <a:p>
            <a:pPr marL="0" indent="0" algn="l">
              <a:spcBef>
                <a:spcPts val="100"/>
              </a:spcBef>
              <a:buNone/>
            </a:pPr>
            <a:r>
              <a:rPr lang="en-US" sz="600" dirty="0">
                <a:solidFill>
                  <a:srgbClr val="666666"/>
                </a:solidFill>
                <a:latin typeface="Arial" pitchFamily="34" charset="0"/>
                <a:ea typeface="Arial" pitchFamily="34" charset="-122"/>
                <a:cs typeface="Arial" pitchFamily="34" charset="-120"/>
              </a:rPr>
              <a:t>Recall</a:t>
            </a:r>
            <a:endParaRPr lang="en-US" sz="600" dirty="0"/>
          </a:p>
        </p:txBody>
      </p:sp>
      <p:sp>
        <p:nvSpPr>
          <p:cNvPr id="35" name="Text 33"/>
          <p:cNvSpPr/>
          <p:nvPr/>
        </p:nvSpPr>
        <p:spPr>
          <a:xfrm>
            <a:off x="3149501" y="1990427"/>
            <a:ext cx="1333649" cy="409426"/>
          </a:xfrm>
          <a:prstGeom prst="roundRect">
            <a:avLst>
              <a:gd name="adj" fmla="val 9306"/>
            </a:avLst>
          </a:prstGeom>
          <a:solidFill>
            <a:srgbClr val="F0F2F5"/>
          </a:solidFill>
          <a:ln/>
        </p:spPr>
        <p:txBody>
          <a:bodyPr wrap="square" rtlCol="0" anchor="ctr"/>
          <a:lstStyle/>
          <a:p>
            <a:pPr marL="0" indent="0">
              <a:buNone/>
            </a:pPr>
            <a:endParaRPr lang="en-US" dirty="0"/>
          </a:p>
        </p:txBody>
      </p:sp>
      <p:sp>
        <p:nvSpPr>
          <p:cNvPr id="36" name="Shape 34"/>
          <p:cNvSpPr/>
          <p:nvPr/>
        </p:nvSpPr>
        <p:spPr>
          <a:xfrm>
            <a:off x="3149501" y="2009477"/>
            <a:ext cx="1333649" cy="0"/>
          </a:xfrm>
          <a:prstGeom prst="line">
            <a:avLst/>
          </a:prstGeom>
          <a:noFill/>
          <a:ln w="38100">
            <a:solidFill>
              <a:srgbClr val="E75113"/>
            </a:solidFill>
            <a:prstDash val="solid"/>
          </a:ln>
        </p:spPr>
      </p:sp>
      <p:sp>
        <p:nvSpPr>
          <p:cNvPr id="37" name="Text 35"/>
          <p:cNvSpPr/>
          <p:nvPr/>
        </p:nvSpPr>
        <p:spPr>
          <a:xfrm>
            <a:off x="3200251" y="2079278"/>
            <a:ext cx="1256791" cy="171450"/>
          </a:xfrm>
          <a:prstGeom prst="rect">
            <a:avLst/>
          </a:prstGeom>
          <a:noFill/>
          <a:ln/>
        </p:spPr>
        <p:txBody>
          <a:bodyPr wrap="square" lIns="0" tIns="0" rIns="0" bIns="0" rtlCol="0" anchor="t"/>
          <a:lstStyle/>
          <a:p>
            <a:pPr marL="0" indent="0" algn="l">
              <a:buNone/>
            </a:pPr>
            <a:r>
              <a:rPr lang="en-US" sz="1200" b="1" dirty="0">
                <a:solidFill>
                  <a:srgbClr val="003C71"/>
                </a:solidFill>
                <a:latin typeface="Arial" pitchFamily="34" charset="0"/>
                <a:ea typeface="Arial" pitchFamily="34" charset="-122"/>
                <a:cs typeface="Arial" pitchFamily="34" charset="-120"/>
              </a:rPr>
              <a:t>15.25%</a:t>
            </a:r>
            <a:endParaRPr lang="en-US" sz="1200" dirty="0"/>
          </a:p>
        </p:txBody>
      </p:sp>
      <p:sp>
        <p:nvSpPr>
          <p:cNvPr id="38" name="Text 36"/>
          <p:cNvSpPr/>
          <p:nvPr/>
        </p:nvSpPr>
        <p:spPr>
          <a:xfrm>
            <a:off x="3200251" y="2263378"/>
            <a:ext cx="1256791" cy="85725"/>
          </a:xfrm>
          <a:prstGeom prst="rect">
            <a:avLst/>
          </a:prstGeom>
          <a:noFill/>
          <a:ln/>
        </p:spPr>
        <p:txBody>
          <a:bodyPr wrap="square" lIns="0" tIns="0" rIns="0" bIns="0" rtlCol="0" anchor="t"/>
          <a:lstStyle/>
          <a:p>
            <a:pPr marL="0" indent="0" algn="l">
              <a:spcBef>
                <a:spcPts val="100"/>
              </a:spcBef>
              <a:buNone/>
            </a:pPr>
            <a:r>
              <a:rPr lang="en-US" sz="600" dirty="0">
                <a:solidFill>
                  <a:srgbClr val="666666"/>
                </a:solidFill>
                <a:latin typeface="Arial" pitchFamily="34" charset="0"/>
                <a:ea typeface="Arial" pitchFamily="34" charset="-122"/>
                <a:cs typeface="Arial" pitchFamily="34" charset="-120"/>
              </a:rPr>
              <a:t>Pass-through</a:t>
            </a:r>
            <a:endParaRPr lang="en-US" sz="600" dirty="0"/>
          </a:p>
        </p:txBody>
      </p:sp>
      <p:sp>
        <p:nvSpPr>
          <p:cNvPr id="39" name="Text 37"/>
          <p:cNvSpPr/>
          <p:nvPr/>
        </p:nvSpPr>
        <p:spPr>
          <a:xfrm>
            <a:off x="355550" y="2476054"/>
            <a:ext cx="4210151" cy="142875"/>
          </a:xfrm>
          <a:prstGeom prst="rect">
            <a:avLst/>
          </a:prstGeom>
          <a:noFill/>
          <a:ln/>
        </p:spPr>
        <p:txBody>
          <a:bodyPr wrap="square" lIns="0" tIns="0" rIns="0" bIns="0" rtlCol="0" anchor="t"/>
          <a:lstStyle/>
          <a:p>
            <a:pPr marL="0" indent="0" algn="l">
              <a:spcAft>
                <a:spcPts val="300"/>
              </a:spcAft>
              <a:buNone/>
            </a:pPr>
            <a:r>
              <a:rPr lang="en-US" sz="1000" b="1" dirty="0">
                <a:solidFill>
                  <a:srgbClr val="003C71"/>
                </a:solidFill>
                <a:latin typeface="Arial" pitchFamily="34" charset="0"/>
                <a:ea typeface="Arial" pitchFamily="34" charset="-122"/>
                <a:cs typeface="Arial" pitchFamily="34" charset="-120"/>
              </a:rPr>
              <a:t>E11: Inference Latency</a:t>
            </a:r>
            <a:endParaRPr lang="en-US" sz="1000" dirty="0"/>
          </a:p>
        </p:txBody>
      </p:sp>
      <p:sp>
        <p:nvSpPr>
          <p:cNvPr id="40" name="Text 38"/>
          <p:cNvSpPr/>
          <p:nvPr/>
        </p:nvSpPr>
        <p:spPr>
          <a:xfrm>
            <a:off x="355550" y="2695129"/>
            <a:ext cx="2032099" cy="409426"/>
          </a:xfrm>
          <a:prstGeom prst="roundRect">
            <a:avLst>
              <a:gd name="adj" fmla="val 9306"/>
            </a:avLst>
          </a:prstGeom>
          <a:solidFill>
            <a:srgbClr val="F0F2F5"/>
          </a:solidFill>
          <a:ln/>
        </p:spPr>
        <p:txBody>
          <a:bodyPr wrap="square" rtlCol="0" anchor="ctr"/>
          <a:lstStyle/>
          <a:p>
            <a:pPr marL="0" indent="0">
              <a:buNone/>
            </a:pPr>
            <a:endParaRPr lang="en-US" dirty="0"/>
          </a:p>
        </p:txBody>
      </p:sp>
      <p:sp>
        <p:nvSpPr>
          <p:cNvPr id="41" name="Shape 39"/>
          <p:cNvSpPr/>
          <p:nvPr/>
        </p:nvSpPr>
        <p:spPr>
          <a:xfrm>
            <a:off x="355550" y="2714179"/>
            <a:ext cx="2032099" cy="0"/>
          </a:xfrm>
          <a:prstGeom prst="line">
            <a:avLst/>
          </a:prstGeom>
          <a:noFill/>
          <a:ln w="38100">
            <a:solidFill>
              <a:srgbClr val="E75113"/>
            </a:solidFill>
            <a:prstDash val="solid"/>
          </a:ln>
        </p:spPr>
      </p:sp>
      <p:sp>
        <p:nvSpPr>
          <p:cNvPr id="42" name="Text 40"/>
          <p:cNvSpPr/>
          <p:nvPr/>
        </p:nvSpPr>
        <p:spPr>
          <a:xfrm>
            <a:off x="406301" y="2783979"/>
            <a:ext cx="1969210" cy="171450"/>
          </a:xfrm>
          <a:prstGeom prst="rect">
            <a:avLst/>
          </a:prstGeom>
          <a:noFill/>
          <a:ln/>
        </p:spPr>
        <p:txBody>
          <a:bodyPr wrap="square" lIns="0" tIns="0" rIns="0" bIns="0" rtlCol="0" anchor="t"/>
          <a:lstStyle/>
          <a:p>
            <a:pPr marL="0" indent="0" algn="l">
              <a:buNone/>
            </a:pPr>
            <a:r>
              <a:rPr lang="en-US" sz="1200" b="1" dirty="0">
                <a:solidFill>
                  <a:srgbClr val="003C71"/>
                </a:solidFill>
                <a:latin typeface="Arial" pitchFamily="34" charset="0"/>
                <a:ea typeface="Arial" pitchFamily="34" charset="-122"/>
                <a:cs typeface="Arial" pitchFamily="34" charset="-120"/>
              </a:rPr>
              <a:t>6.12us</a:t>
            </a:r>
            <a:endParaRPr lang="en-US" sz="1200" dirty="0"/>
          </a:p>
        </p:txBody>
      </p:sp>
      <p:sp>
        <p:nvSpPr>
          <p:cNvPr id="43" name="Text 41"/>
          <p:cNvSpPr/>
          <p:nvPr/>
        </p:nvSpPr>
        <p:spPr>
          <a:xfrm>
            <a:off x="406301" y="2968079"/>
            <a:ext cx="1969210" cy="85725"/>
          </a:xfrm>
          <a:prstGeom prst="rect">
            <a:avLst/>
          </a:prstGeom>
          <a:noFill/>
          <a:ln/>
        </p:spPr>
        <p:txBody>
          <a:bodyPr wrap="square" lIns="0" tIns="0" rIns="0" bIns="0" rtlCol="0" anchor="t"/>
          <a:lstStyle/>
          <a:p>
            <a:pPr marL="0" indent="0" algn="l">
              <a:spcBef>
                <a:spcPts val="100"/>
              </a:spcBef>
              <a:buNone/>
            </a:pPr>
            <a:r>
              <a:rPr lang="en-US" sz="600" dirty="0">
                <a:solidFill>
                  <a:srgbClr val="666666"/>
                </a:solidFill>
                <a:latin typeface="Arial" pitchFamily="34" charset="0"/>
                <a:ea typeface="Arial" pitchFamily="34" charset="-122"/>
                <a:cs typeface="Arial" pitchFamily="34" charset="-120"/>
              </a:rPr>
              <a:t>Per Sample</a:t>
            </a:r>
            <a:endParaRPr lang="en-US" sz="600" dirty="0"/>
          </a:p>
        </p:txBody>
      </p:sp>
      <p:sp>
        <p:nvSpPr>
          <p:cNvPr id="44" name="Text 42"/>
          <p:cNvSpPr/>
          <p:nvPr/>
        </p:nvSpPr>
        <p:spPr>
          <a:xfrm>
            <a:off x="2451050" y="2695129"/>
            <a:ext cx="2032099" cy="409426"/>
          </a:xfrm>
          <a:prstGeom prst="roundRect">
            <a:avLst>
              <a:gd name="adj" fmla="val 9306"/>
            </a:avLst>
          </a:prstGeom>
          <a:solidFill>
            <a:srgbClr val="F0F2F5"/>
          </a:solidFill>
          <a:ln/>
        </p:spPr>
        <p:txBody>
          <a:bodyPr wrap="square" rtlCol="0" anchor="ctr"/>
          <a:lstStyle/>
          <a:p>
            <a:pPr marL="0" indent="0">
              <a:buNone/>
            </a:pPr>
            <a:endParaRPr lang="en-US" dirty="0"/>
          </a:p>
        </p:txBody>
      </p:sp>
      <p:sp>
        <p:nvSpPr>
          <p:cNvPr id="45" name="Shape 43"/>
          <p:cNvSpPr/>
          <p:nvPr/>
        </p:nvSpPr>
        <p:spPr>
          <a:xfrm>
            <a:off x="2451050" y="2714179"/>
            <a:ext cx="2032099" cy="0"/>
          </a:xfrm>
          <a:prstGeom prst="line">
            <a:avLst/>
          </a:prstGeom>
          <a:noFill/>
          <a:ln w="38100">
            <a:solidFill>
              <a:srgbClr val="E75113"/>
            </a:solidFill>
            <a:prstDash val="solid"/>
          </a:ln>
        </p:spPr>
      </p:sp>
      <p:sp>
        <p:nvSpPr>
          <p:cNvPr id="46" name="Text 44"/>
          <p:cNvSpPr/>
          <p:nvPr/>
        </p:nvSpPr>
        <p:spPr>
          <a:xfrm>
            <a:off x="2501801" y="2783979"/>
            <a:ext cx="1969210" cy="171450"/>
          </a:xfrm>
          <a:prstGeom prst="rect">
            <a:avLst/>
          </a:prstGeom>
          <a:noFill/>
          <a:ln/>
        </p:spPr>
        <p:txBody>
          <a:bodyPr wrap="square" lIns="0" tIns="0" rIns="0" bIns="0" rtlCol="0" anchor="t"/>
          <a:lstStyle/>
          <a:p>
            <a:pPr marL="0" indent="0" algn="l">
              <a:buNone/>
            </a:pPr>
            <a:r>
              <a:rPr lang="en-US" sz="1200" b="1" dirty="0">
                <a:solidFill>
                  <a:srgbClr val="003C71"/>
                </a:solidFill>
                <a:latin typeface="Arial" pitchFamily="34" charset="0"/>
                <a:ea typeface="Arial" pitchFamily="34" charset="-122"/>
                <a:cs typeface="Arial" pitchFamily="34" charset="-120"/>
              </a:rPr>
              <a:t>163K/s</a:t>
            </a:r>
            <a:endParaRPr lang="en-US" sz="1200" dirty="0"/>
          </a:p>
        </p:txBody>
      </p:sp>
      <p:sp>
        <p:nvSpPr>
          <p:cNvPr id="47" name="Text 45"/>
          <p:cNvSpPr/>
          <p:nvPr/>
        </p:nvSpPr>
        <p:spPr>
          <a:xfrm>
            <a:off x="2501801" y="2968079"/>
            <a:ext cx="1969210" cy="85725"/>
          </a:xfrm>
          <a:prstGeom prst="rect">
            <a:avLst/>
          </a:prstGeom>
          <a:noFill/>
          <a:ln/>
        </p:spPr>
        <p:txBody>
          <a:bodyPr wrap="square" lIns="0" tIns="0" rIns="0" bIns="0" rtlCol="0" anchor="t"/>
          <a:lstStyle/>
          <a:p>
            <a:pPr marL="0" indent="0" algn="l">
              <a:spcBef>
                <a:spcPts val="100"/>
              </a:spcBef>
              <a:buNone/>
            </a:pPr>
            <a:r>
              <a:rPr lang="en-US" sz="600" dirty="0">
                <a:solidFill>
                  <a:srgbClr val="666666"/>
                </a:solidFill>
                <a:latin typeface="Arial" pitchFamily="34" charset="0"/>
                <a:ea typeface="Arial" pitchFamily="34" charset="-122"/>
                <a:cs typeface="Arial" pitchFamily="34" charset="-120"/>
              </a:rPr>
              <a:t>Throughput</a:t>
            </a:r>
            <a:endParaRPr lang="en-US" sz="600" dirty="0"/>
          </a:p>
        </p:txBody>
      </p:sp>
      <p:sp>
        <p:nvSpPr>
          <p:cNvPr id="48" name="Text 46"/>
          <p:cNvSpPr/>
          <p:nvPr/>
        </p:nvSpPr>
        <p:spPr>
          <a:xfrm>
            <a:off x="355550" y="3180755"/>
            <a:ext cx="4127599" cy="479524"/>
          </a:xfrm>
          <a:prstGeom prst="roundRect">
            <a:avLst>
              <a:gd name="adj" fmla="val 7945"/>
            </a:avLst>
          </a:prstGeom>
          <a:solidFill>
            <a:srgbClr val="F0F2F5"/>
          </a:solidFill>
          <a:ln/>
        </p:spPr>
        <p:txBody>
          <a:bodyPr wrap="square" rtlCol="0" anchor="ctr"/>
          <a:lstStyle/>
          <a:p>
            <a:pPr marL="0" indent="0">
              <a:buNone/>
            </a:pPr>
            <a:endParaRPr lang="en-US" dirty="0"/>
          </a:p>
        </p:txBody>
      </p:sp>
      <p:sp>
        <p:nvSpPr>
          <p:cNvPr id="49" name="Shape 47"/>
          <p:cNvSpPr/>
          <p:nvPr/>
        </p:nvSpPr>
        <p:spPr>
          <a:xfrm>
            <a:off x="374600" y="3180755"/>
            <a:ext cx="0" cy="479524"/>
          </a:xfrm>
          <a:prstGeom prst="line">
            <a:avLst/>
          </a:prstGeom>
          <a:noFill/>
          <a:ln w="38100">
            <a:solidFill>
              <a:srgbClr val="003C71"/>
            </a:solidFill>
            <a:prstDash val="solid"/>
          </a:ln>
        </p:spPr>
      </p:sp>
      <p:sp>
        <p:nvSpPr>
          <p:cNvPr id="50" name="Text 48"/>
          <p:cNvSpPr/>
          <p:nvPr/>
        </p:nvSpPr>
        <p:spPr>
          <a:xfrm>
            <a:off x="482501" y="3244155"/>
            <a:ext cx="3990034" cy="114300"/>
          </a:xfrm>
          <a:prstGeom prst="rect">
            <a:avLst/>
          </a:prstGeom>
          <a:noFill/>
          <a:ln/>
        </p:spPr>
        <p:txBody>
          <a:bodyPr wrap="square" lIns="0" tIns="0" rIns="0" bIns="0" rtlCol="0" anchor="t"/>
          <a:lstStyle/>
          <a:p>
            <a:pPr marL="0" indent="0" algn="l">
              <a:spcAft>
                <a:spcPts val="200"/>
              </a:spcAft>
              <a:buNone/>
            </a:pPr>
            <a:r>
              <a:rPr lang="en-US" sz="800" b="1" dirty="0">
                <a:solidFill>
                  <a:srgbClr val="003C71"/>
                </a:solidFill>
                <a:latin typeface="Arial" pitchFamily="34" charset="0"/>
                <a:ea typeface="Arial" pitchFamily="34" charset="-122"/>
                <a:cs typeface="Arial" pitchFamily="34" charset="-120"/>
              </a:rPr>
              <a:t>Key Insight</a:t>
            </a:r>
            <a:endParaRPr lang="en-US" sz="800" dirty="0"/>
          </a:p>
        </p:txBody>
      </p:sp>
      <p:sp>
        <p:nvSpPr>
          <p:cNvPr id="51" name="Text 49"/>
          <p:cNvSpPr/>
          <p:nvPr/>
        </p:nvSpPr>
        <p:spPr>
          <a:xfrm>
            <a:off x="482501" y="3383756"/>
            <a:ext cx="3990034" cy="213122"/>
          </a:xfrm>
          <a:prstGeom prst="rect">
            <a:avLst/>
          </a:prstGeom>
          <a:noFill/>
          <a:ln/>
        </p:spPr>
        <p:txBody>
          <a:bodyPr wrap="square" lIns="0" tIns="0" rIns="0" bIns="0" rtlCol="0" anchor="t"/>
          <a:lstStyle/>
          <a:p>
            <a:pPr marL="0" indent="0" algn="l">
              <a:lnSpc>
                <a:spcPts val="840"/>
              </a:lnSpc>
              <a:buNone/>
            </a:pPr>
            <a:r>
              <a:rPr lang="en-US" sz="700" dirty="0">
                <a:solidFill>
                  <a:srgbClr val="555555"/>
                </a:solidFill>
                <a:latin typeface="Arial" pitchFamily="34" charset="0"/>
                <a:ea typeface="Arial" pitchFamily="34" charset="-122"/>
                <a:cs typeface="Arial" pitchFamily="34" charset="-120"/>
              </a:rPr>
              <a:t>Gap between Nested CV (0.796) and full training (1.00) reflects data volume effect, not selection bias. 33% faster than Abu Al-Haija 2022.</a:t>
            </a:r>
            <a:endParaRPr lang="en-US" sz="700" dirty="0"/>
          </a:p>
        </p:txBody>
      </p:sp>
      <p:sp>
        <p:nvSpPr>
          <p:cNvPr id="52" name="Text 50"/>
          <p:cNvSpPr/>
          <p:nvPr/>
        </p:nvSpPr>
        <p:spPr>
          <a:xfrm>
            <a:off x="4660850" y="723751"/>
            <a:ext cx="4210151" cy="114300"/>
          </a:xfrm>
          <a:prstGeom prst="rect">
            <a:avLst/>
          </a:prstGeom>
          <a:noFill/>
          <a:ln/>
        </p:spPr>
        <p:txBody>
          <a:bodyPr wrap="square" lIns="0" tIns="0" rIns="0" bIns="0" rtlCol="0" anchor="t"/>
          <a:lstStyle/>
          <a:p>
            <a:pPr>
              <a:spcAft>
                <a:spcPts val="100"/>
              </a:spcAft>
            </a:pPr>
            <a:r>
              <a:rPr lang="en-US" sz="800" b="1" dirty="0">
                <a:solidFill>
                  <a:srgbClr val="333333"/>
                </a:solidFill>
                <a:latin typeface="Arial" pitchFamily="34" charset="0"/>
                <a:ea typeface="Arial" pitchFamily="34" charset="-122"/>
                <a:cs typeface="Arial" pitchFamily="34" charset="-120"/>
              </a:rPr>
              <a:t>Figure 2</a:t>
            </a:r>
            <a:r>
              <a:rPr lang="zh-CN" altLang="en-US" sz="800" b="1" dirty="0">
                <a:solidFill>
                  <a:srgbClr val="333333"/>
                </a:solidFill>
                <a:latin typeface="Arial" pitchFamily="34" charset="0"/>
                <a:ea typeface="Arial" pitchFamily="34" charset="-122"/>
                <a:cs typeface="Arial" pitchFamily="34" charset="-120"/>
              </a:rPr>
              <a:t>：</a:t>
            </a:r>
            <a:r>
              <a:rPr lang="en-US" altLang="zh-CN" sz="800" i="1" dirty="0">
                <a:solidFill>
                  <a:srgbClr val="333333"/>
                </a:solidFill>
                <a:latin typeface="Arial" pitchFamily="34" charset="0"/>
                <a:ea typeface="Arial" pitchFamily="34" charset="-122"/>
                <a:cs typeface="Arial" pitchFamily="34" charset="-120"/>
              </a:rPr>
              <a:t>Threshold Tuning Curve for Binary Pre-Filter (E17)</a:t>
            </a:r>
            <a:endParaRPr lang="en-US" altLang="zh-CN" sz="800" dirty="0"/>
          </a:p>
          <a:p>
            <a:pPr marL="0" indent="0" algn="l">
              <a:spcAft>
                <a:spcPts val="100"/>
              </a:spcAft>
              <a:buNone/>
            </a:pPr>
            <a:endParaRPr lang="en-US" sz="800" b="1" dirty="0"/>
          </a:p>
        </p:txBody>
      </p:sp>
      <p:sp>
        <p:nvSpPr>
          <p:cNvPr id="53" name="Text 51"/>
          <p:cNvSpPr/>
          <p:nvPr/>
        </p:nvSpPr>
        <p:spPr>
          <a:xfrm>
            <a:off x="4660850" y="850702"/>
            <a:ext cx="4210151" cy="114300"/>
          </a:xfrm>
          <a:prstGeom prst="rect">
            <a:avLst/>
          </a:prstGeom>
          <a:noFill/>
          <a:ln/>
        </p:spPr>
        <p:txBody>
          <a:bodyPr wrap="square" lIns="0" tIns="0" rIns="0" bIns="0" rtlCol="0" anchor="t"/>
          <a:lstStyle/>
          <a:p>
            <a:pPr marL="0" indent="0" algn="l">
              <a:spcAft>
                <a:spcPts val="300"/>
              </a:spcAft>
              <a:buNone/>
            </a:pPr>
            <a:endParaRPr lang="en-US" sz="800" dirty="0"/>
          </a:p>
        </p:txBody>
      </p:sp>
      <p:sp>
        <p:nvSpPr>
          <p:cNvPr id="54" name="Text 52"/>
          <p:cNvSpPr/>
          <p:nvPr/>
        </p:nvSpPr>
        <p:spPr>
          <a:xfrm>
            <a:off x="4660850" y="4697760"/>
            <a:ext cx="4210151" cy="198239"/>
          </a:xfrm>
          <a:prstGeom prst="rect">
            <a:avLst/>
          </a:prstGeom>
          <a:noFill/>
          <a:ln/>
        </p:spPr>
        <p:txBody>
          <a:bodyPr wrap="square" lIns="0" tIns="0" rIns="0" bIns="0" rtlCol="0" anchor="t"/>
          <a:lstStyle/>
          <a:p>
            <a:pPr marL="0" indent="0" algn="l">
              <a:lnSpc>
                <a:spcPts val="780"/>
              </a:lnSpc>
              <a:spcBef>
                <a:spcPts val="300"/>
              </a:spcBef>
              <a:buNone/>
            </a:pPr>
            <a:r>
              <a:rPr lang="en-US" sz="650" i="1" dirty="0">
                <a:solidFill>
                  <a:srgbClr val="555555"/>
                </a:solidFill>
                <a:latin typeface="Arial" pitchFamily="34" charset="0"/>
                <a:ea typeface="Arial" pitchFamily="34" charset="-122"/>
                <a:cs typeface="Arial" pitchFamily="34" charset="-120"/>
              </a:rPr>
              <a:t>Note.</a:t>
            </a:r>
            <a:r>
              <a:rPr lang="en-US" sz="650" dirty="0">
                <a:solidFill>
                  <a:srgbClr val="555555"/>
                </a:solidFill>
                <a:latin typeface="Arial" pitchFamily="34" charset="0"/>
                <a:ea typeface="Arial" pitchFamily="34" charset="-122"/>
                <a:cs typeface="Arial" pitchFamily="34" charset="-120"/>
              </a:rPr>
              <a:t> X-axis = confidence threshold (tau); Y-axis = recall and pass-through rate. Optimal tau = 0.06 balances 99.9% recall with 15.25% pass-through to Stage 2.</a:t>
            </a:r>
            <a:endParaRPr lang="en-US" sz="650" dirty="0"/>
          </a:p>
        </p:txBody>
      </p:sp>
      <p:sp>
        <p:nvSpPr>
          <p:cNvPr id="55" name="Text 53"/>
          <p:cNvSpPr/>
          <p:nvPr/>
        </p:nvSpPr>
        <p:spPr>
          <a:xfrm>
            <a:off x="0" y="4946749"/>
            <a:ext cx="9144000" cy="196751"/>
          </a:xfrm>
          <a:prstGeom prst="rect">
            <a:avLst/>
          </a:prstGeom>
          <a:solidFill>
            <a:srgbClr val="F0F2F5"/>
          </a:solidFill>
          <a:ln/>
        </p:spPr>
        <p:txBody>
          <a:bodyPr wrap="square" rtlCol="0" anchor="ctr"/>
          <a:lstStyle/>
          <a:p>
            <a:pPr marL="0" indent="0">
              <a:buNone/>
            </a:pPr>
            <a:endParaRPr lang="en-US" dirty="0"/>
          </a:p>
        </p:txBody>
      </p:sp>
      <p:sp>
        <p:nvSpPr>
          <p:cNvPr id="56" name="Text 54"/>
          <p:cNvSpPr/>
          <p:nvPr/>
        </p:nvSpPr>
        <p:spPr>
          <a:xfrm>
            <a:off x="355550" y="4997500"/>
            <a:ext cx="8601557" cy="95250"/>
          </a:xfrm>
          <a:prstGeom prst="rect">
            <a:avLst/>
          </a:prstGeom>
          <a:noFill/>
          <a:ln/>
        </p:spPr>
        <p:txBody>
          <a:bodyPr wrap="square" lIns="0" tIns="0" rIns="0" bIns="0" rtlCol="0" anchor="t"/>
          <a:lstStyle/>
          <a:p>
            <a:pPr marL="0" indent="0" algn="l">
              <a:buNone/>
            </a:pPr>
            <a:r>
              <a:rPr lang="en-US" sz="700" dirty="0">
                <a:solidFill>
                  <a:srgbClr val="888888"/>
                </a:solidFill>
                <a:latin typeface="Arial" pitchFamily="34" charset="0"/>
                <a:ea typeface="Arial" pitchFamily="34" charset="-122"/>
                <a:cs typeface="Arial" pitchFamily="34" charset="-120"/>
              </a:rPr>
              <a:t>Cawley, G. C., &amp; Talbot, N. L. C. (2010). On over-fitting in model selection. JMLR, 11, 2079-2107.</a:t>
            </a:r>
            <a:endParaRPr lang="en-US" sz="700" dirty="0"/>
          </a:p>
        </p:txBody>
      </p:sp>
      <p:pic>
        <p:nvPicPr>
          <p:cNvPr id="57" name="Image 0" descr="preencoded.png"/>
          <p:cNvPicPr>
            <a:picLocks noChangeAspect="1"/>
          </p:cNvPicPr>
          <p:nvPr/>
        </p:nvPicPr>
        <p:blipFill>
          <a:blip r:embed="rId3"/>
          <a:stretch>
            <a:fillRect/>
          </a:stretch>
        </p:blipFill>
        <p:spPr>
          <a:xfrm>
            <a:off x="4497672" y="1003102"/>
            <a:ext cx="4459435" cy="267566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5515064"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Stage 2: TransECA-Net and Ablation Study (E8)</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355550" y="723751"/>
            <a:ext cx="4210151" cy="142875"/>
          </a:xfrm>
          <a:prstGeom prst="rect">
            <a:avLst/>
          </a:prstGeom>
          <a:noFill/>
          <a:ln/>
        </p:spPr>
        <p:txBody>
          <a:bodyPr wrap="square" lIns="0" tIns="0" rIns="0" bIns="0" rtlCol="0" anchor="t"/>
          <a:lstStyle/>
          <a:p>
            <a:pPr marL="0" indent="0" algn="l">
              <a:spcAft>
                <a:spcPts val="300"/>
              </a:spcAft>
              <a:buNone/>
            </a:pPr>
            <a:r>
              <a:rPr lang="en-US" sz="1000" b="1" dirty="0">
                <a:solidFill>
                  <a:srgbClr val="003C71"/>
                </a:solidFill>
                <a:latin typeface="Arial" pitchFamily="34" charset="0"/>
                <a:ea typeface="Arial" pitchFamily="34" charset="-122"/>
                <a:cs typeface="Arial" pitchFamily="34" charset="-120"/>
              </a:rPr>
              <a:t>Training Results</a:t>
            </a:r>
            <a:endParaRPr lang="en-US" sz="1000" dirty="0"/>
          </a:p>
        </p:txBody>
      </p:sp>
      <p:sp>
        <p:nvSpPr>
          <p:cNvPr id="7" name="Text 5"/>
          <p:cNvSpPr/>
          <p:nvPr/>
        </p:nvSpPr>
        <p:spPr>
          <a:xfrm>
            <a:off x="355550" y="968127"/>
            <a:ext cx="2032099" cy="409426"/>
          </a:xfrm>
          <a:prstGeom prst="roundRect">
            <a:avLst>
              <a:gd name="adj" fmla="val 9306"/>
            </a:avLst>
          </a:prstGeom>
          <a:solidFill>
            <a:srgbClr val="F0F2F5"/>
          </a:solidFill>
          <a:ln/>
        </p:spPr>
        <p:txBody>
          <a:bodyPr wrap="square" rtlCol="0" anchor="ctr"/>
          <a:lstStyle/>
          <a:p>
            <a:pPr marL="0" indent="0">
              <a:buNone/>
            </a:pPr>
            <a:endParaRPr lang="en-US" dirty="0"/>
          </a:p>
        </p:txBody>
      </p:sp>
      <p:sp>
        <p:nvSpPr>
          <p:cNvPr id="8" name="Shape 6"/>
          <p:cNvSpPr/>
          <p:nvPr/>
        </p:nvSpPr>
        <p:spPr>
          <a:xfrm>
            <a:off x="355550" y="987177"/>
            <a:ext cx="2032099" cy="0"/>
          </a:xfrm>
          <a:prstGeom prst="line">
            <a:avLst/>
          </a:prstGeom>
          <a:noFill/>
          <a:ln w="38100">
            <a:solidFill>
              <a:srgbClr val="E75113"/>
            </a:solidFill>
            <a:prstDash val="solid"/>
          </a:ln>
        </p:spPr>
      </p:sp>
      <p:sp>
        <p:nvSpPr>
          <p:cNvPr id="9" name="Text 7"/>
          <p:cNvSpPr/>
          <p:nvPr/>
        </p:nvSpPr>
        <p:spPr>
          <a:xfrm>
            <a:off x="406301" y="1056977"/>
            <a:ext cx="1969210" cy="171450"/>
          </a:xfrm>
          <a:prstGeom prst="rect">
            <a:avLst/>
          </a:prstGeom>
          <a:noFill/>
          <a:ln/>
        </p:spPr>
        <p:txBody>
          <a:bodyPr wrap="square" lIns="0" tIns="0" rIns="0" bIns="0" rtlCol="0" anchor="t"/>
          <a:lstStyle/>
          <a:p>
            <a:pPr marL="0" indent="0" algn="l">
              <a:buNone/>
            </a:pPr>
            <a:r>
              <a:rPr lang="en-US" sz="1200" b="1" dirty="0">
                <a:solidFill>
                  <a:srgbClr val="003C71"/>
                </a:solidFill>
                <a:latin typeface="Arial" pitchFamily="34" charset="0"/>
                <a:ea typeface="Arial" pitchFamily="34" charset="-122"/>
                <a:cs typeface="Arial" pitchFamily="34" charset="-120"/>
              </a:rPr>
              <a:t>93.0%</a:t>
            </a:r>
            <a:endParaRPr lang="en-US" sz="1200" dirty="0"/>
          </a:p>
        </p:txBody>
      </p:sp>
      <p:sp>
        <p:nvSpPr>
          <p:cNvPr id="10" name="Text 8"/>
          <p:cNvSpPr/>
          <p:nvPr/>
        </p:nvSpPr>
        <p:spPr>
          <a:xfrm>
            <a:off x="406301" y="1241078"/>
            <a:ext cx="1969210" cy="85725"/>
          </a:xfrm>
          <a:prstGeom prst="rect">
            <a:avLst/>
          </a:prstGeom>
          <a:noFill/>
          <a:ln/>
        </p:spPr>
        <p:txBody>
          <a:bodyPr wrap="square" lIns="0" tIns="0" rIns="0" bIns="0" rtlCol="0" anchor="t"/>
          <a:lstStyle/>
          <a:p>
            <a:pPr marL="0" indent="0" algn="l">
              <a:spcBef>
                <a:spcPts val="100"/>
              </a:spcBef>
              <a:buNone/>
            </a:pPr>
            <a:r>
              <a:rPr lang="en-US" sz="600" dirty="0">
                <a:solidFill>
                  <a:srgbClr val="666666"/>
                </a:solidFill>
                <a:latin typeface="Arial" pitchFamily="34" charset="0"/>
                <a:ea typeface="Arial" pitchFamily="34" charset="-122"/>
                <a:cs typeface="Arial" pitchFamily="34" charset="-120"/>
              </a:rPr>
              <a:t>Test Accuracy</a:t>
            </a:r>
            <a:endParaRPr lang="en-US" sz="600" dirty="0"/>
          </a:p>
        </p:txBody>
      </p:sp>
      <p:sp>
        <p:nvSpPr>
          <p:cNvPr id="11" name="Text 9"/>
          <p:cNvSpPr/>
          <p:nvPr/>
        </p:nvSpPr>
        <p:spPr>
          <a:xfrm>
            <a:off x="2451050" y="968127"/>
            <a:ext cx="2032099" cy="409426"/>
          </a:xfrm>
          <a:prstGeom prst="roundRect">
            <a:avLst>
              <a:gd name="adj" fmla="val 9306"/>
            </a:avLst>
          </a:prstGeom>
          <a:solidFill>
            <a:srgbClr val="F0F2F5"/>
          </a:solidFill>
          <a:ln/>
        </p:spPr>
        <p:txBody>
          <a:bodyPr wrap="square" rtlCol="0" anchor="ctr"/>
          <a:lstStyle/>
          <a:p>
            <a:pPr marL="0" indent="0">
              <a:buNone/>
            </a:pPr>
            <a:endParaRPr lang="en-US" dirty="0"/>
          </a:p>
        </p:txBody>
      </p:sp>
      <p:sp>
        <p:nvSpPr>
          <p:cNvPr id="12" name="Shape 10"/>
          <p:cNvSpPr/>
          <p:nvPr/>
        </p:nvSpPr>
        <p:spPr>
          <a:xfrm>
            <a:off x="2451050" y="987177"/>
            <a:ext cx="2032099" cy="0"/>
          </a:xfrm>
          <a:prstGeom prst="line">
            <a:avLst/>
          </a:prstGeom>
          <a:noFill/>
          <a:ln w="38100">
            <a:solidFill>
              <a:srgbClr val="E75113"/>
            </a:solidFill>
            <a:prstDash val="solid"/>
          </a:ln>
        </p:spPr>
      </p:sp>
      <p:sp>
        <p:nvSpPr>
          <p:cNvPr id="13" name="Text 11"/>
          <p:cNvSpPr/>
          <p:nvPr/>
        </p:nvSpPr>
        <p:spPr>
          <a:xfrm>
            <a:off x="2501801" y="1056977"/>
            <a:ext cx="1969210" cy="171450"/>
          </a:xfrm>
          <a:prstGeom prst="rect">
            <a:avLst/>
          </a:prstGeom>
          <a:noFill/>
          <a:ln/>
        </p:spPr>
        <p:txBody>
          <a:bodyPr wrap="square" lIns="0" tIns="0" rIns="0" bIns="0" rtlCol="0" anchor="t"/>
          <a:lstStyle/>
          <a:p>
            <a:pPr marL="0" indent="0" algn="l">
              <a:buNone/>
            </a:pPr>
            <a:r>
              <a:rPr lang="en-US" sz="1200" b="1" dirty="0">
                <a:solidFill>
                  <a:srgbClr val="003C71"/>
                </a:solidFill>
                <a:latin typeface="Arial" pitchFamily="34" charset="0"/>
                <a:ea typeface="Arial" pitchFamily="34" charset="-122"/>
                <a:cs typeface="Arial" pitchFamily="34" charset="-120"/>
              </a:rPr>
              <a:t>0.95</a:t>
            </a:r>
            <a:endParaRPr lang="en-US" sz="1200" dirty="0"/>
          </a:p>
        </p:txBody>
      </p:sp>
      <p:sp>
        <p:nvSpPr>
          <p:cNvPr id="14" name="Text 12"/>
          <p:cNvSpPr/>
          <p:nvPr/>
        </p:nvSpPr>
        <p:spPr>
          <a:xfrm>
            <a:off x="2501801" y="1241078"/>
            <a:ext cx="1969210" cy="85725"/>
          </a:xfrm>
          <a:prstGeom prst="rect">
            <a:avLst/>
          </a:prstGeom>
          <a:noFill/>
          <a:ln/>
        </p:spPr>
        <p:txBody>
          <a:bodyPr wrap="square" lIns="0" tIns="0" rIns="0" bIns="0" rtlCol="0" anchor="t"/>
          <a:lstStyle/>
          <a:p>
            <a:pPr marL="0" indent="0" algn="l">
              <a:spcBef>
                <a:spcPts val="100"/>
              </a:spcBef>
              <a:buNone/>
            </a:pPr>
            <a:r>
              <a:rPr lang="en-US" sz="600" dirty="0">
                <a:solidFill>
                  <a:srgbClr val="666666"/>
                </a:solidFill>
                <a:latin typeface="Arial" pitchFamily="34" charset="0"/>
                <a:ea typeface="Arial" pitchFamily="34" charset="-122"/>
                <a:cs typeface="Arial" pitchFamily="34" charset="-120"/>
              </a:rPr>
              <a:t>Weighted F1</a:t>
            </a:r>
            <a:endParaRPr lang="en-US" sz="600" dirty="0"/>
          </a:p>
        </p:txBody>
      </p:sp>
      <p:sp>
        <p:nvSpPr>
          <p:cNvPr id="15" name="Text 13"/>
          <p:cNvSpPr/>
          <p:nvPr/>
        </p:nvSpPr>
        <p:spPr>
          <a:xfrm>
            <a:off x="355550" y="1440954"/>
            <a:ext cx="2032099" cy="409426"/>
          </a:xfrm>
          <a:prstGeom prst="roundRect">
            <a:avLst>
              <a:gd name="adj" fmla="val 9306"/>
            </a:avLst>
          </a:prstGeom>
          <a:solidFill>
            <a:srgbClr val="F0F2F5"/>
          </a:solidFill>
          <a:ln/>
        </p:spPr>
        <p:txBody>
          <a:bodyPr wrap="square" rtlCol="0" anchor="ctr"/>
          <a:lstStyle/>
          <a:p>
            <a:pPr marL="0" indent="0">
              <a:buNone/>
            </a:pPr>
            <a:endParaRPr lang="en-US" dirty="0"/>
          </a:p>
        </p:txBody>
      </p:sp>
      <p:sp>
        <p:nvSpPr>
          <p:cNvPr id="16" name="Shape 14"/>
          <p:cNvSpPr/>
          <p:nvPr/>
        </p:nvSpPr>
        <p:spPr>
          <a:xfrm>
            <a:off x="355550" y="1460004"/>
            <a:ext cx="2032099" cy="0"/>
          </a:xfrm>
          <a:prstGeom prst="line">
            <a:avLst/>
          </a:prstGeom>
          <a:noFill/>
          <a:ln w="38100">
            <a:solidFill>
              <a:srgbClr val="E75113"/>
            </a:solidFill>
            <a:prstDash val="solid"/>
          </a:ln>
        </p:spPr>
      </p:sp>
      <p:sp>
        <p:nvSpPr>
          <p:cNvPr id="17" name="Text 15"/>
          <p:cNvSpPr/>
          <p:nvPr/>
        </p:nvSpPr>
        <p:spPr>
          <a:xfrm>
            <a:off x="406301" y="1529804"/>
            <a:ext cx="1969210" cy="171450"/>
          </a:xfrm>
          <a:prstGeom prst="rect">
            <a:avLst/>
          </a:prstGeom>
          <a:noFill/>
          <a:ln/>
        </p:spPr>
        <p:txBody>
          <a:bodyPr wrap="square" lIns="0" tIns="0" rIns="0" bIns="0" rtlCol="0" anchor="t"/>
          <a:lstStyle/>
          <a:p>
            <a:pPr marL="0" indent="0" algn="l">
              <a:buNone/>
            </a:pPr>
            <a:r>
              <a:rPr lang="en-US" sz="1200" b="1" dirty="0">
                <a:solidFill>
                  <a:srgbClr val="003C71"/>
                </a:solidFill>
                <a:latin typeface="Arial" pitchFamily="34" charset="0"/>
                <a:ea typeface="Arial" pitchFamily="34" charset="-122"/>
                <a:cs typeface="Arial" pitchFamily="34" charset="-120"/>
              </a:rPr>
              <a:t>301K</a:t>
            </a:r>
            <a:endParaRPr lang="en-US" sz="1200" dirty="0"/>
          </a:p>
        </p:txBody>
      </p:sp>
      <p:sp>
        <p:nvSpPr>
          <p:cNvPr id="18" name="Text 16"/>
          <p:cNvSpPr/>
          <p:nvPr/>
        </p:nvSpPr>
        <p:spPr>
          <a:xfrm>
            <a:off x="406301" y="1713905"/>
            <a:ext cx="1969210" cy="85725"/>
          </a:xfrm>
          <a:prstGeom prst="rect">
            <a:avLst/>
          </a:prstGeom>
          <a:noFill/>
          <a:ln/>
        </p:spPr>
        <p:txBody>
          <a:bodyPr wrap="square" lIns="0" tIns="0" rIns="0" bIns="0" rtlCol="0" anchor="t"/>
          <a:lstStyle/>
          <a:p>
            <a:pPr marL="0" indent="0" algn="l">
              <a:spcBef>
                <a:spcPts val="100"/>
              </a:spcBef>
              <a:buNone/>
            </a:pPr>
            <a:r>
              <a:rPr lang="en-US" sz="600" dirty="0">
                <a:solidFill>
                  <a:srgbClr val="666666"/>
                </a:solidFill>
                <a:latin typeface="Arial" pitchFamily="34" charset="0"/>
                <a:ea typeface="Arial" pitchFamily="34" charset="-122"/>
                <a:cs typeface="Arial" pitchFamily="34" charset="-120"/>
              </a:rPr>
              <a:t>Parameters</a:t>
            </a:r>
            <a:endParaRPr lang="en-US" sz="600" dirty="0"/>
          </a:p>
        </p:txBody>
      </p:sp>
      <p:sp>
        <p:nvSpPr>
          <p:cNvPr id="19" name="Text 17"/>
          <p:cNvSpPr/>
          <p:nvPr/>
        </p:nvSpPr>
        <p:spPr>
          <a:xfrm>
            <a:off x="2451050" y="1440954"/>
            <a:ext cx="2032099" cy="409426"/>
          </a:xfrm>
          <a:prstGeom prst="roundRect">
            <a:avLst>
              <a:gd name="adj" fmla="val 9306"/>
            </a:avLst>
          </a:prstGeom>
          <a:solidFill>
            <a:srgbClr val="F0F2F5"/>
          </a:solidFill>
          <a:ln/>
        </p:spPr>
        <p:txBody>
          <a:bodyPr wrap="square" rtlCol="0" anchor="ctr"/>
          <a:lstStyle/>
          <a:p>
            <a:pPr marL="0" indent="0">
              <a:buNone/>
            </a:pPr>
            <a:endParaRPr lang="en-US" dirty="0"/>
          </a:p>
        </p:txBody>
      </p:sp>
      <p:sp>
        <p:nvSpPr>
          <p:cNvPr id="20" name="Shape 18"/>
          <p:cNvSpPr/>
          <p:nvPr/>
        </p:nvSpPr>
        <p:spPr>
          <a:xfrm>
            <a:off x="2451050" y="1460004"/>
            <a:ext cx="2032099" cy="0"/>
          </a:xfrm>
          <a:prstGeom prst="line">
            <a:avLst/>
          </a:prstGeom>
          <a:noFill/>
          <a:ln w="38100">
            <a:solidFill>
              <a:srgbClr val="E75113"/>
            </a:solidFill>
            <a:prstDash val="solid"/>
          </a:ln>
        </p:spPr>
      </p:sp>
      <p:sp>
        <p:nvSpPr>
          <p:cNvPr id="21" name="Text 19"/>
          <p:cNvSpPr/>
          <p:nvPr/>
        </p:nvSpPr>
        <p:spPr>
          <a:xfrm>
            <a:off x="2501801" y="1529804"/>
            <a:ext cx="1969210" cy="171450"/>
          </a:xfrm>
          <a:prstGeom prst="rect">
            <a:avLst/>
          </a:prstGeom>
          <a:noFill/>
          <a:ln/>
        </p:spPr>
        <p:txBody>
          <a:bodyPr wrap="square" lIns="0" tIns="0" rIns="0" bIns="0" rtlCol="0" anchor="t"/>
          <a:lstStyle/>
          <a:p>
            <a:pPr marL="0" indent="0" algn="l">
              <a:buNone/>
            </a:pPr>
            <a:r>
              <a:rPr lang="en-US" sz="1200" b="1" dirty="0">
                <a:solidFill>
                  <a:srgbClr val="003C71"/>
                </a:solidFill>
                <a:latin typeface="Arial" pitchFamily="34" charset="0"/>
                <a:ea typeface="Arial" pitchFamily="34" charset="-122"/>
                <a:cs typeface="Arial" pitchFamily="34" charset="-120"/>
              </a:rPr>
              <a:t>64min</a:t>
            </a:r>
            <a:endParaRPr lang="en-US" sz="1200" dirty="0"/>
          </a:p>
        </p:txBody>
      </p:sp>
      <p:sp>
        <p:nvSpPr>
          <p:cNvPr id="22" name="Text 20"/>
          <p:cNvSpPr/>
          <p:nvPr/>
        </p:nvSpPr>
        <p:spPr>
          <a:xfrm>
            <a:off x="2501801" y="1713905"/>
            <a:ext cx="1969210" cy="85725"/>
          </a:xfrm>
          <a:prstGeom prst="rect">
            <a:avLst/>
          </a:prstGeom>
          <a:noFill/>
          <a:ln/>
        </p:spPr>
        <p:txBody>
          <a:bodyPr wrap="square" lIns="0" tIns="0" rIns="0" bIns="0" rtlCol="0" anchor="t"/>
          <a:lstStyle/>
          <a:p>
            <a:pPr marL="0" indent="0" algn="l">
              <a:spcBef>
                <a:spcPts val="100"/>
              </a:spcBef>
              <a:buNone/>
            </a:pPr>
            <a:r>
              <a:rPr lang="en-US" sz="600" dirty="0">
                <a:solidFill>
                  <a:srgbClr val="666666"/>
                </a:solidFill>
                <a:latin typeface="Arial" pitchFamily="34" charset="0"/>
                <a:ea typeface="Arial" pitchFamily="34" charset="-122"/>
                <a:cs typeface="Arial" pitchFamily="34" charset="-120"/>
              </a:rPr>
              <a:t>Training Time</a:t>
            </a:r>
            <a:endParaRPr lang="en-US" sz="600" dirty="0"/>
          </a:p>
        </p:txBody>
      </p:sp>
      <p:sp>
        <p:nvSpPr>
          <p:cNvPr id="23" name="Text 21"/>
          <p:cNvSpPr/>
          <p:nvPr/>
        </p:nvSpPr>
        <p:spPr>
          <a:xfrm>
            <a:off x="355550" y="1888480"/>
            <a:ext cx="4210151" cy="114300"/>
          </a:xfrm>
          <a:prstGeom prst="rect">
            <a:avLst/>
          </a:prstGeom>
          <a:noFill/>
          <a:ln/>
        </p:spPr>
        <p:txBody>
          <a:bodyPr wrap="square" lIns="0" tIns="0" rIns="0" bIns="0" rtlCol="0" anchor="t"/>
          <a:lstStyle/>
          <a:p>
            <a:pPr marL="0" indent="0" algn="l">
              <a:spcAft>
                <a:spcPts val="100"/>
              </a:spcAft>
              <a:buNone/>
            </a:pPr>
            <a:r>
              <a:rPr lang="en-US" sz="800" b="1" dirty="0">
                <a:solidFill>
                  <a:srgbClr val="333333"/>
                </a:solidFill>
                <a:latin typeface="Arial" pitchFamily="34" charset="0"/>
                <a:ea typeface="Arial" pitchFamily="34" charset="-122"/>
                <a:cs typeface="Arial" pitchFamily="34" charset="-120"/>
              </a:rPr>
              <a:t>Table 4</a:t>
            </a:r>
            <a:endParaRPr lang="en-US" sz="800" dirty="0"/>
          </a:p>
        </p:txBody>
      </p:sp>
      <p:sp>
        <p:nvSpPr>
          <p:cNvPr id="24" name="Text 22"/>
          <p:cNvSpPr/>
          <p:nvPr/>
        </p:nvSpPr>
        <p:spPr>
          <a:xfrm>
            <a:off x="355550" y="2053530"/>
            <a:ext cx="4210151" cy="114300"/>
          </a:xfrm>
          <a:prstGeom prst="rect">
            <a:avLst/>
          </a:prstGeom>
          <a:noFill/>
          <a:ln/>
        </p:spPr>
        <p:txBody>
          <a:bodyPr wrap="square" lIns="0" tIns="0" rIns="0" bIns="0" rtlCol="0" anchor="t"/>
          <a:lstStyle/>
          <a:p>
            <a:pPr marL="0" indent="0" algn="l">
              <a:spcAft>
                <a:spcPts val="200"/>
              </a:spcAft>
              <a:buNone/>
            </a:pPr>
            <a:r>
              <a:rPr lang="en-US" sz="800" i="1" dirty="0">
                <a:solidFill>
                  <a:srgbClr val="333333"/>
                </a:solidFill>
                <a:latin typeface="Arial" pitchFamily="34" charset="0"/>
                <a:ea typeface="Arial" pitchFamily="34" charset="-122"/>
                <a:cs typeface="Arial" pitchFamily="34" charset="-120"/>
              </a:rPr>
              <a:t>Ablation Study: Component Contributions to TransECA-Net (E8)</a:t>
            </a:r>
            <a:endParaRPr lang="en-US" sz="800" dirty="0"/>
          </a:p>
        </p:txBody>
      </p:sp>
      <p:sp>
        <p:nvSpPr>
          <p:cNvPr id="25" name="Text 23"/>
          <p:cNvSpPr/>
          <p:nvPr/>
        </p:nvSpPr>
        <p:spPr>
          <a:xfrm>
            <a:off x="355550" y="2231231"/>
            <a:ext cx="1081980"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26" name="Text 24"/>
          <p:cNvSpPr/>
          <p:nvPr/>
        </p:nvSpPr>
        <p:spPr>
          <a:xfrm>
            <a:off x="415826" y="2278856"/>
            <a:ext cx="980658"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Variant</a:t>
            </a:r>
            <a:endParaRPr lang="en-US" sz="700" dirty="0"/>
          </a:p>
        </p:txBody>
      </p:sp>
      <p:sp>
        <p:nvSpPr>
          <p:cNvPr id="27" name="Text 25"/>
          <p:cNvSpPr/>
          <p:nvPr/>
        </p:nvSpPr>
        <p:spPr>
          <a:xfrm>
            <a:off x="1437531" y="2231231"/>
            <a:ext cx="761405"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28" name="Text 26"/>
          <p:cNvSpPr/>
          <p:nvPr/>
        </p:nvSpPr>
        <p:spPr>
          <a:xfrm>
            <a:off x="1497806" y="2278856"/>
            <a:ext cx="653671"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Params</a:t>
            </a:r>
            <a:endParaRPr lang="en-US" sz="700" dirty="0"/>
          </a:p>
        </p:txBody>
      </p:sp>
      <p:sp>
        <p:nvSpPr>
          <p:cNvPr id="29" name="Text 27"/>
          <p:cNvSpPr/>
          <p:nvPr/>
        </p:nvSpPr>
        <p:spPr>
          <a:xfrm>
            <a:off x="2198936" y="2231231"/>
            <a:ext cx="761405"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30" name="Text 28"/>
          <p:cNvSpPr/>
          <p:nvPr/>
        </p:nvSpPr>
        <p:spPr>
          <a:xfrm>
            <a:off x="2259211" y="2278856"/>
            <a:ext cx="653671"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Acc</a:t>
            </a:r>
            <a:endParaRPr lang="en-US" sz="700" dirty="0"/>
          </a:p>
        </p:txBody>
      </p:sp>
      <p:sp>
        <p:nvSpPr>
          <p:cNvPr id="31" name="Text 29"/>
          <p:cNvSpPr/>
          <p:nvPr/>
        </p:nvSpPr>
        <p:spPr>
          <a:xfrm>
            <a:off x="2960340" y="2231231"/>
            <a:ext cx="761405"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32" name="Text 30"/>
          <p:cNvSpPr/>
          <p:nvPr/>
        </p:nvSpPr>
        <p:spPr>
          <a:xfrm>
            <a:off x="3020616" y="2278856"/>
            <a:ext cx="653671"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W-F1</a:t>
            </a:r>
            <a:endParaRPr lang="en-US" sz="700" dirty="0"/>
          </a:p>
        </p:txBody>
      </p:sp>
      <p:sp>
        <p:nvSpPr>
          <p:cNvPr id="33" name="Text 31"/>
          <p:cNvSpPr/>
          <p:nvPr/>
        </p:nvSpPr>
        <p:spPr>
          <a:xfrm>
            <a:off x="3721745" y="2231231"/>
            <a:ext cx="761405"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34" name="Text 32"/>
          <p:cNvSpPr/>
          <p:nvPr/>
        </p:nvSpPr>
        <p:spPr>
          <a:xfrm>
            <a:off x="3782020" y="2278856"/>
            <a:ext cx="653671"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M-F1</a:t>
            </a:r>
            <a:endParaRPr lang="en-US" sz="700" dirty="0"/>
          </a:p>
        </p:txBody>
      </p:sp>
      <p:sp>
        <p:nvSpPr>
          <p:cNvPr id="35" name="Text 33"/>
          <p:cNvSpPr/>
          <p:nvPr/>
        </p:nvSpPr>
        <p:spPr>
          <a:xfrm>
            <a:off x="355550" y="2459831"/>
            <a:ext cx="1081980" cy="200025"/>
          </a:xfrm>
          <a:prstGeom prst="rect">
            <a:avLst/>
          </a:prstGeom>
          <a:noFill/>
          <a:ln w="9525">
            <a:solidFill>
              <a:srgbClr val="DDDDDD"/>
            </a:solidFill>
          </a:ln>
        </p:spPr>
        <p:txBody>
          <a:bodyPr wrap="square" rtlCol="0" anchor="ctr"/>
          <a:lstStyle/>
          <a:p>
            <a:pPr marL="0" indent="0">
              <a:buNone/>
            </a:pPr>
            <a:endParaRPr lang="en-US" dirty="0"/>
          </a:p>
        </p:txBody>
      </p:sp>
      <p:sp>
        <p:nvSpPr>
          <p:cNvPr id="36" name="Text 34"/>
          <p:cNvSpPr/>
          <p:nvPr/>
        </p:nvSpPr>
        <p:spPr>
          <a:xfrm>
            <a:off x="415826" y="2507456"/>
            <a:ext cx="980658" cy="104775"/>
          </a:xfrm>
          <a:prstGeom prst="rect">
            <a:avLst/>
          </a:prstGeom>
          <a:noFill/>
          <a:ln/>
        </p:spPr>
        <p:txBody>
          <a:bodyPr wrap="square" lIns="0" tIns="0" rIns="0" bIns="0" rtlCol="0" anchor="t"/>
          <a:lstStyle/>
          <a:p>
            <a:pPr marL="0" indent="0" algn="l">
              <a:buNone/>
            </a:pPr>
            <a:r>
              <a:rPr lang="en-US" sz="750" b="1" dirty="0">
                <a:solidFill>
                  <a:srgbClr val="003C71"/>
                </a:solidFill>
                <a:latin typeface="Arial" pitchFamily="34" charset="0"/>
                <a:ea typeface="Arial" pitchFamily="34" charset="-122"/>
                <a:cs typeface="Arial" pitchFamily="34" charset="-120"/>
              </a:rPr>
              <a:t>CNN-Only</a:t>
            </a:r>
            <a:endParaRPr lang="en-US" sz="750" dirty="0"/>
          </a:p>
        </p:txBody>
      </p:sp>
      <p:sp>
        <p:nvSpPr>
          <p:cNvPr id="37" name="Text 35"/>
          <p:cNvSpPr/>
          <p:nvPr/>
        </p:nvSpPr>
        <p:spPr>
          <a:xfrm>
            <a:off x="1437531" y="2459831"/>
            <a:ext cx="761405" cy="200025"/>
          </a:xfrm>
          <a:prstGeom prst="rect">
            <a:avLst/>
          </a:prstGeom>
          <a:noFill/>
          <a:ln w="9525">
            <a:solidFill>
              <a:srgbClr val="DDDDDD"/>
            </a:solidFill>
          </a:ln>
        </p:spPr>
        <p:txBody>
          <a:bodyPr wrap="square" rtlCol="0" anchor="ctr"/>
          <a:lstStyle/>
          <a:p>
            <a:pPr marL="0" indent="0">
              <a:buNone/>
            </a:pPr>
            <a:endParaRPr lang="en-US" dirty="0"/>
          </a:p>
        </p:txBody>
      </p:sp>
      <p:sp>
        <p:nvSpPr>
          <p:cNvPr id="38" name="Text 36"/>
          <p:cNvSpPr/>
          <p:nvPr/>
        </p:nvSpPr>
        <p:spPr>
          <a:xfrm>
            <a:off x="1497806" y="2507456"/>
            <a:ext cx="653671" cy="104775"/>
          </a:xfrm>
          <a:prstGeom prst="rect">
            <a:avLst/>
          </a:prstGeom>
          <a:noFill/>
          <a:ln/>
        </p:spPr>
        <p:txBody>
          <a:bodyPr wrap="square" lIns="0" tIns="0" rIns="0" bIns="0" rtlCol="0" anchor="t"/>
          <a:lstStyle/>
          <a:p>
            <a:pPr marL="0" indent="0" algn="l">
              <a:buNone/>
            </a:pPr>
            <a:r>
              <a:rPr lang="en-US" sz="750" dirty="0">
                <a:solidFill>
                  <a:srgbClr val="333333"/>
                </a:solidFill>
                <a:latin typeface="Arial" pitchFamily="34" charset="0"/>
                <a:ea typeface="Arial" pitchFamily="34" charset="-122"/>
                <a:cs typeface="Arial" pitchFamily="34" charset="-120"/>
              </a:rPr>
              <a:t>2,703</a:t>
            </a:r>
            <a:endParaRPr lang="en-US" sz="750" dirty="0"/>
          </a:p>
        </p:txBody>
      </p:sp>
      <p:sp>
        <p:nvSpPr>
          <p:cNvPr id="39" name="Text 37"/>
          <p:cNvSpPr/>
          <p:nvPr/>
        </p:nvSpPr>
        <p:spPr>
          <a:xfrm>
            <a:off x="2198936" y="2459831"/>
            <a:ext cx="761405" cy="200025"/>
          </a:xfrm>
          <a:prstGeom prst="rect">
            <a:avLst/>
          </a:prstGeom>
          <a:noFill/>
          <a:ln w="9525">
            <a:solidFill>
              <a:srgbClr val="DDDDDD"/>
            </a:solidFill>
          </a:ln>
        </p:spPr>
        <p:txBody>
          <a:bodyPr wrap="square" rtlCol="0" anchor="ctr"/>
          <a:lstStyle/>
          <a:p>
            <a:pPr marL="0" indent="0">
              <a:buNone/>
            </a:pPr>
            <a:endParaRPr lang="en-US" dirty="0"/>
          </a:p>
        </p:txBody>
      </p:sp>
      <p:sp>
        <p:nvSpPr>
          <p:cNvPr id="40" name="Text 38"/>
          <p:cNvSpPr/>
          <p:nvPr/>
        </p:nvSpPr>
        <p:spPr>
          <a:xfrm>
            <a:off x="2259211" y="2507456"/>
            <a:ext cx="653671" cy="104775"/>
          </a:xfrm>
          <a:prstGeom prst="rect">
            <a:avLst/>
          </a:prstGeom>
          <a:noFill/>
          <a:ln/>
        </p:spPr>
        <p:txBody>
          <a:bodyPr wrap="square" lIns="0" tIns="0" rIns="0" bIns="0" rtlCol="0" anchor="t"/>
          <a:lstStyle/>
          <a:p>
            <a:pPr marL="0" indent="0" algn="l">
              <a:buNone/>
            </a:pPr>
            <a:r>
              <a:rPr lang="en-US" sz="750" dirty="0">
                <a:solidFill>
                  <a:srgbClr val="333333"/>
                </a:solidFill>
                <a:latin typeface="Arial" pitchFamily="34" charset="0"/>
                <a:ea typeface="Arial" pitchFamily="34" charset="-122"/>
                <a:cs typeface="Arial" pitchFamily="34" charset="-120"/>
              </a:rPr>
              <a:t>61.89%</a:t>
            </a:r>
            <a:endParaRPr lang="en-US" sz="750" dirty="0"/>
          </a:p>
        </p:txBody>
      </p:sp>
      <p:sp>
        <p:nvSpPr>
          <p:cNvPr id="41" name="Text 39"/>
          <p:cNvSpPr/>
          <p:nvPr/>
        </p:nvSpPr>
        <p:spPr>
          <a:xfrm>
            <a:off x="2960340" y="2459831"/>
            <a:ext cx="761405" cy="200025"/>
          </a:xfrm>
          <a:prstGeom prst="rect">
            <a:avLst/>
          </a:prstGeom>
          <a:noFill/>
          <a:ln w="9525">
            <a:solidFill>
              <a:srgbClr val="DDDDDD"/>
            </a:solidFill>
          </a:ln>
        </p:spPr>
        <p:txBody>
          <a:bodyPr wrap="square" rtlCol="0" anchor="ctr"/>
          <a:lstStyle/>
          <a:p>
            <a:pPr marL="0" indent="0">
              <a:buNone/>
            </a:pPr>
            <a:endParaRPr lang="en-US" dirty="0"/>
          </a:p>
        </p:txBody>
      </p:sp>
      <p:sp>
        <p:nvSpPr>
          <p:cNvPr id="42" name="Text 40"/>
          <p:cNvSpPr/>
          <p:nvPr/>
        </p:nvSpPr>
        <p:spPr>
          <a:xfrm>
            <a:off x="3020616" y="2507456"/>
            <a:ext cx="653671" cy="104775"/>
          </a:xfrm>
          <a:prstGeom prst="rect">
            <a:avLst/>
          </a:prstGeom>
          <a:noFill/>
          <a:ln/>
        </p:spPr>
        <p:txBody>
          <a:bodyPr wrap="square" lIns="0" tIns="0" rIns="0" bIns="0" rtlCol="0" anchor="t"/>
          <a:lstStyle/>
          <a:p>
            <a:pPr marL="0" indent="0" algn="l">
              <a:buNone/>
            </a:pPr>
            <a:r>
              <a:rPr lang="en-US" sz="750" dirty="0">
                <a:solidFill>
                  <a:srgbClr val="333333"/>
                </a:solidFill>
                <a:latin typeface="Arial" pitchFamily="34" charset="0"/>
                <a:ea typeface="Arial" pitchFamily="34" charset="-122"/>
                <a:cs typeface="Arial" pitchFamily="34" charset="-120"/>
              </a:rPr>
              <a:t>0.668</a:t>
            </a:r>
            <a:endParaRPr lang="en-US" sz="750" dirty="0"/>
          </a:p>
        </p:txBody>
      </p:sp>
      <p:sp>
        <p:nvSpPr>
          <p:cNvPr id="43" name="Text 41"/>
          <p:cNvSpPr/>
          <p:nvPr/>
        </p:nvSpPr>
        <p:spPr>
          <a:xfrm>
            <a:off x="3721745" y="2459831"/>
            <a:ext cx="761405" cy="200025"/>
          </a:xfrm>
          <a:prstGeom prst="rect">
            <a:avLst/>
          </a:prstGeom>
          <a:noFill/>
          <a:ln w="9525">
            <a:solidFill>
              <a:srgbClr val="DDDDDD"/>
            </a:solidFill>
          </a:ln>
        </p:spPr>
        <p:txBody>
          <a:bodyPr wrap="square" rtlCol="0" anchor="ctr"/>
          <a:lstStyle/>
          <a:p>
            <a:pPr marL="0" indent="0">
              <a:buNone/>
            </a:pPr>
            <a:endParaRPr lang="en-US" dirty="0"/>
          </a:p>
        </p:txBody>
      </p:sp>
      <p:sp>
        <p:nvSpPr>
          <p:cNvPr id="44" name="Text 42"/>
          <p:cNvSpPr/>
          <p:nvPr/>
        </p:nvSpPr>
        <p:spPr>
          <a:xfrm>
            <a:off x="3782020" y="2507456"/>
            <a:ext cx="653671" cy="104775"/>
          </a:xfrm>
          <a:prstGeom prst="rect">
            <a:avLst/>
          </a:prstGeom>
          <a:noFill/>
          <a:ln/>
        </p:spPr>
        <p:txBody>
          <a:bodyPr wrap="square" lIns="0" tIns="0" rIns="0" bIns="0" rtlCol="0" anchor="t"/>
          <a:lstStyle/>
          <a:p>
            <a:pPr marL="0" indent="0" algn="l">
              <a:buNone/>
            </a:pPr>
            <a:r>
              <a:rPr lang="en-US" sz="750" dirty="0">
                <a:solidFill>
                  <a:srgbClr val="333333"/>
                </a:solidFill>
                <a:latin typeface="Arial" pitchFamily="34" charset="0"/>
                <a:ea typeface="Arial" pitchFamily="34" charset="-122"/>
                <a:cs typeface="Arial" pitchFamily="34" charset="-120"/>
              </a:rPr>
              <a:t>0.235</a:t>
            </a:r>
            <a:endParaRPr lang="en-US" sz="750" dirty="0"/>
          </a:p>
        </p:txBody>
      </p:sp>
      <p:sp>
        <p:nvSpPr>
          <p:cNvPr id="45" name="Text 43"/>
          <p:cNvSpPr/>
          <p:nvPr/>
        </p:nvSpPr>
        <p:spPr>
          <a:xfrm>
            <a:off x="355550" y="2697956"/>
            <a:ext cx="1081980" cy="200025"/>
          </a:xfrm>
          <a:prstGeom prst="rect">
            <a:avLst/>
          </a:prstGeom>
          <a:noFill/>
          <a:ln w="9525">
            <a:solidFill>
              <a:srgbClr val="DDDDDD"/>
            </a:solidFill>
          </a:ln>
        </p:spPr>
        <p:txBody>
          <a:bodyPr wrap="square" rtlCol="0" anchor="ctr"/>
          <a:lstStyle/>
          <a:p>
            <a:pPr marL="0" indent="0">
              <a:buNone/>
            </a:pPr>
            <a:endParaRPr lang="en-US" dirty="0"/>
          </a:p>
        </p:txBody>
      </p:sp>
      <p:sp>
        <p:nvSpPr>
          <p:cNvPr id="46" name="Text 44"/>
          <p:cNvSpPr/>
          <p:nvPr/>
        </p:nvSpPr>
        <p:spPr>
          <a:xfrm>
            <a:off x="415826" y="2745581"/>
            <a:ext cx="980658" cy="104775"/>
          </a:xfrm>
          <a:prstGeom prst="rect">
            <a:avLst/>
          </a:prstGeom>
          <a:noFill/>
          <a:ln/>
        </p:spPr>
        <p:txBody>
          <a:bodyPr wrap="square" lIns="0" tIns="0" rIns="0" bIns="0" rtlCol="0" anchor="t"/>
          <a:lstStyle/>
          <a:p>
            <a:pPr marL="0" indent="0" algn="l">
              <a:buNone/>
            </a:pPr>
            <a:r>
              <a:rPr lang="en-US" sz="750" b="1" dirty="0">
                <a:solidFill>
                  <a:srgbClr val="003C71"/>
                </a:solidFill>
                <a:latin typeface="Arial" pitchFamily="34" charset="0"/>
                <a:ea typeface="Arial" pitchFamily="34" charset="-122"/>
                <a:cs typeface="Arial" pitchFamily="34" charset="-120"/>
              </a:rPr>
              <a:t>CNN+Transformer</a:t>
            </a:r>
            <a:endParaRPr lang="en-US" sz="750" dirty="0"/>
          </a:p>
        </p:txBody>
      </p:sp>
      <p:sp>
        <p:nvSpPr>
          <p:cNvPr id="47" name="Text 45"/>
          <p:cNvSpPr/>
          <p:nvPr/>
        </p:nvSpPr>
        <p:spPr>
          <a:xfrm>
            <a:off x="1437531" y="2697956"/>
            <a:ext cx="761405" cy="200025"/>
          </a:xfrm>
          <a:prstGeom prst="rect">
            <a:avLst/>
          </a:prstGeom>
          <a:noFill/>
          <a:ln w="9525">
            <a:solidFill>
              <a:srgbClr val="DDDDDD"/>
            </a:solidFill>
          </a:ln>
        </p:spPr>
        <p:txBody>
          <a:bodyPr wrap="square" rtlCol="0" anchor="ctr"/>
          <a:lstStyle/>
          <a:p>
            <a:pPr marL="0" indent="0">
              <a:buNone/>
            </a:pPr>
            <a:endParaRPr lang="en-US" dirty="0"/>
          </a:p>
        </p:txBody>
      </p:sp>
      <p:sp>
        <p:nvSpPr>
          <p:cNvPr id="48" name="Text 46"/>
          <p:cNvSpPr/>
          <p:nvPr/>
        </p:nvSpPr>
        <p:spPr>
          <a:xfrm>
            <a:off x="1497806" y="2745581"/>
            <a:ext cx="653671" cy="104775"/>
          </a:xfrm>
          <a:prstGeom prst="rect">
            <a:avLst/>
          </a:prstGeom>
          <a:noFill/>
          <a:ln/>
        </p:spPr>
        <p:txBody>
          <a:bodyPr wrap="square" lIns="0" tIns="0" rIns="0" bIns="0" rtlCol="0" anchor="t"/>
          <a:lstStyle/>
          <a:p>
            <a:pPr marL="0" indent="0" algn="l">
              <a:buNone/>
            </a:pPr>
            <a:r>
              <a:rPr lang="en-US" sz="750" dirty="0">
                <a:solidFill>
                  <a:srgbClr val="333333"/>
                </a:solidFill>
                <a:latin typeface="Arial" pitchFamily="34" charset="0"/>
                <a:ea typeface="Arial" pitchFamily="34" charset="-122"/>
                <a:cs typeface="Arial" pitchFamily="34" charset="-120"/>
              </a:rPr>
              <a:t>301K</a:t>
            </a:r>
            <a:endParaRPr lang="en-US" sz="750" dirty="0"/>
          </a:p>
        </p:txBody>
      </p:sp>
      <p:sp>
        <p:nvSpPr>
          <p:cNvPr id="49" name="Text 47"/>
          <p:cNvSpPr/>
          <p:nvPr/>
        </p:nvSpPr>
        <p:spPr>
          <a:xfrm>
            <a:off x="2198936" y="2697956"/>
            <a:ext cx="761405" cy="200025"/>
          </a:xfrm>
          <a:prstGeom prst="rect">
            <a:avLst/>
          </a:prstGeom>
          <a:noFill/>
          <a:ln w="9525">
            <a:solidFill>
              <a:srgbClr val="DDDDDD"/>
            </a:solidFill>
          </a:ln>
        </p:spPr>
        <p:txBody>
          <a:bodyPr wrap="square" rtlCol="0" anchor="ctr"/>
          <a:lstStyle/>
          <a:p>
            <a:pPr marL="0" indent="0">
              <a:buNone/>
            </a:pPr>
            <a:endParaRPr lang="en-US" dirty="0"/>
          </a:p>
        </p:txBody>
      </p:sp>
      <p:sp>
        <p:nvSpPr>
          <p:cNvPr id="50" name="Text 48"/>
          <p:cNvSpPr/>
          <p:nvPr/>
        </p:nvSpPr>
        <p:spPr>
          <a:xfrm>
            <a:off x="2259211" y="2745581"/>
            <a:ext cx="653671" cy="104775"/>
          </a:xfrm>
          <a:prstGeom prst="rect">
            <a:avLst/>
          </a:prstGeom>
          <a:noFill/>
          <a:ln/>
        </p:spPr>
        <p:txBody>
          <a:bodyPr wrap="square" lIns="0" tIns="0" rIns="0" bIns="0" rtlCol="0" anchor="t"/>
          <a:lstStyle/>
          <a:p>
            <a:pPr marL="0" indent="0" algn="l">
              <a:buNone/>
            </a:pPr>
            <a:r>
              <a:rPr lang="en-US" sz="750" dirty="0">
                <a:solidFill>
                  <a:srgbClr val="333333"/>
                </a:solidFill>
                <a:latin typeface="Arial" pitchFamily="34" charset="0"/>
                <a:ea typeface="Arial" pitchFamily="34" charset="-122"/>
                <a:cs typeface="Arial" pitchFamily="34" charset="-120"/>
              </a:rPr>
              <a:t>92.05%</a:t>
            </a:r>
            <a:endParaRPr lang="en-US" sz="750" dirty="0"/>
          </a:p>
        </p:txBody>
      </p:sp>
      <p:sp>
        <p:nvSpPr>
          <p:cNvPr id="51" name="Text 49"/>
          <p:cNvSpPr/>
          <p:nvPr/>
        </p:nvSpPr>
        <p:spPr>
          <a:xfrm>
            <a:off x="2960340" y="2697956"/>
            <a:ext cx="761405" cy="200025"/>
          </a:xfrm>
          <a:prstGeom prst="rect">
            <a:avLst/>
          </a:prstGeom>
          <a:noFill/>
          <a:ln w="9525">
            <a:solidFill>
              <a:srgbClr val="DDDDDD"/>
            </a:solidFill>
          </a:ln>
        </p:spPr>
        <p:txBody>
          <a:bodyPr wrap="square" rtlCol="0" anchor="ctr"/>
          <a:lstStyle/>
          <a:p>
            <a:pPr marL="0" indent="0">
              <a:buNone/>
            </a:pPr>
            <a:endParaRPr lang="en-US" dirty="0"/>
          </a:p>
        </p:txBody>
      </p:sp>
      <p:sp>
        <p:nvSpPr>
          <p:cNvPr id="52" name="Text 50"/>
          <p:cNvSpPr/>
          <p:nvPr/>
        </p:nvSpPr>
        <p:spPr>
          <a:xfrm>
            <a:off x="3020616" y="2745581"/>
            <a:ext cx="653671" cy="104775"/>
          </a:xfrm>
          <a:prstGeom prst="rect">
            <a:avLst/>
          </a:prstGeom>
          <a:noFill/>
          <a:ln/>
        </p:spPr>
        <p:txBody>
          <a:bodyPr wrap="square" lIns="0" tIns="0" rIns="0" bIns="0" rtlCol="0" anchor="t"/>
          <a:lstStyle/>
          <a:p>
            <a:pPr marL="0" indent="0" algn="l">
              <a:buNone/>
            </a:pPr>
            <a:r>
              <a:rPr lang="en-US" sz="750" dirty="0">
                <a:solidFill>
                  <a:srgbClr val="333333"/>
                </a:solidFill>
                <a:latin typeface="Arial" pitchFamily="34" charset="0"/>
                <a:ea typeface="Arial" pitchFamily="34" charset="-122"/>
                <a:cs typeface="Arial" pitchFamily="34" charset="-120"/>
              </a:rPr>
              <a:t>0.947</a:t>
            </a:r>
            <a:endParaRPr lang="en-US" sz="750" dirty="0"/>
          </a:p>
        </p:txBody>
      </p:sp>
      <p:sp>
        <p:nvSpPr>
          <p:cNvPr id="53" name="Text 51"/>
          <p:cNvSpPr/>
          <p:nvPr/>
        </p:nvSpPr>
        <p:spPr>
          <a:xfrm>
            <a:off x="3721745" y="2697956"/>
            <a:ext cx="761405" cy="200025"/>
          </a:xfrm>
          <a:prstGeom prst="rect">
            <a:avLst/>
          </a:prstGeom>
          <a:noFill/>
          <a:ln w="9525">
            <a:solidFill>
              <a:srgbClr val="DDDDDD"/>
            </a:solidFill>
          </a:ln>
        </p:spPr>
        <p:txBody>
          <a:bodyPr wrap="square" rtlCol="0" anchor="ctr"/>
          <a:lstStyle/>
          <a:p>
            <a:pPr marL="0" indent="0">
              <a:buNone/>
            </a:pPr>
            <a:endParaRPr lang="en-US" dirty="0"/>
          </a:p>
        </p:txBody>
      </p:sp>
      <p:sp>
        <p:nvSpPr>
          <p:cNvPr id="54" name="Text 52"/>
          <p:cNvSpPr/>
          <p:nvPr/>
        </p:nvSpPr>
        <p:spPr>
          <a:xfrm>
            <a:off x="3782020" y="2745581"/>
            <a:ext cx="653671" cy="104775"/>
          </a:xfrm>
          <a:prstGeom prst="rect">
            <a:avLst/>
          </a:prstGeom>
          <a:noFill/>
          <a:ln/>
        </p:spPr>
        <p:txBody>
          <a:bodyPr wrap="square" lIns="0" tIns="0" rIns="0" bIns="0" rtlCol="0" anchor="t"/>
          <a:lstStyle/>
          <a:p>
            <a:pPr marL="0" indent="0" algn="l">
              <a:buNone/>
            </a:pPr>
            <a:r>
              <a:rPr lang="en-US" sz="750" dirty="0">
                <a:solidFill>
                  <a:srgbClr val="333333"/>
                </a:solidFill>
                <a:latin typeface="Arial" pitchFamily="34" charset="0"/>
                <a:ea typeface="Arial" pitchFamily="34" charset="-122"/>
                <a:cs typeface="Arial" pitchFamily="34" charset="-120"/>
              </a:rPr>
              <a:t>0.675</a:t>
            </a:r>
            <a:endParaRPr lang="en-US" sz="750" dirty="0"/>
          </a:p>
        </p:txBody>
      </p:sp>
      <p:sp>
        <p:nvSpPr>
          <p:cNvPr id="55" name="Text 53"/>
          <p:cNvSpPr/>
          <p:nvPr/>
        </p:nvSpPr>
        <p:spPr>
          <a:xfrm>
            <a:off x="355550" y="2936081"/>
            <a:ext cx="1081980" cy="200025"/>
          </a:xfrm>
          <a:prstGeom prst="rect">
            <a:avLst/>
          </a:prstGeom>
          <a:noFill/>
          <a:ln w="9525">
            <a:solidFill>
              <a:srgbClr val="DDDDDD"/>
            </a:solidFill>
          </a:ln>
        </p:spPr>
        <p:txBody>
          <a:bodyPr wrap="square" rtlCol="0" anchor="ctr"/>
          <a:lstStyle/>
          <a:p>
            <a:pPr marL="0" indent="0">
              <a:buNone/>
            </a:pPr>
            <a:endParaRPr lang="en-US" dirty="0"/>
          </a:p>
        </p:txBody>
      </p:sp>
      <p:sp>
        <p:nvSpPr>
          <p:cNvPr id="56" name="Text 54"/>
          <p:cNvSpPr/>
          <p:nvPr/>
        </p:nvSpPr>
        <p:spPr>
          <a:xfrm>
            <a:off x="415826" y="2983706"/>
            <a:ext cx="980658" cy="104775"/>
          </a:xfrm>
          <a:prstGeom prst="rect">
            <a:avLst/>
          </a:prstGeom>
          <a:noFill/>
          <a:ln/>
        </p:spPr>
        <p:txBody>
          <a:bodyPr wrap="square" lIns="0" tIns="0" rIns="0" bIns="0" rtlCol="0" anchor="t"/>
          <a:lstStyle/>
          <a:p>
            <a:pPr marL="0" indent="0" algn="l">
              <a:buNone/>
            </a:pPr>
            <a:r>
              <a:rPr lang="en-US" sz="750" b="1" dirty="0">
                <a:solidFill>
                  <a:srgbClr val="003C71"/>
                </a:solidFill>
                <a:latin typeface="Arial" pitchFamily="34" charset="0"/>
                <a:ea typeface="Arial" pitchFamily="34" charset="-122"/>
                <a:cs typeface="Arial" pitchFamily="34" charset="-120"/>
              </a:rPr>
              <a:t>Full TransECA</a:t>
            </a:r>
            <a:endParaRPr lang="en-US" sz="750" dirty="0"/>
          </a:p>
        </p:txBody>
      </p:sp>
      <p:sp>
        <p:nvSpPr>
          <p:cNvPr id="57" name="Text 55"/>
          <p:cNvSpPr/>
          <p:nvPr/>
        </p:nvSpPr>
        <p:spPr>
          <a:xfrm>
            <a:off x="1437531" y="2936081"/>
            <a:ext cx="761405" cy="200025"/>
          </a:xfrm>
          <a:prstGeom prst="rect">
            <a:avLst/>
          </a:prstGeom>
          <a:noFill/>
          <a:ln w="9525">
            <a:solidFill>
              <a:srgbClr val="DDDDDD"/>
            </a:solidFill>
          </a:ln>
        </p:spPr>
        <p:txBody>
          <a:bodyPr wrap="square" rtlCol="0" anchor="ctr"/>
          <a:lstStyle/>
          <a:p>
            <a:pPr marL="0" indent="0">
              <a:buNone/>
            </a:pPr>
            <a:endParaRPr lang="en-US" dirty="0"/>
          </a:p>
        </p:txBody>
      </p:sp>
      <p:sp>
        <p:nvSpPr>
          <p:cNvPr id="58" name="Text 56"/>
          <p:cNvSpPr/>
          <p:nvPr/>
        </p:nvSpPr>
        <p:spPr>
          <a:xfrm>
            <a:off x="1497806" y="2983706"/>
            <a:ext cx="653671" cy="104775"/>
          </a:xfrm>
          <a:prstGeom prst="rect">
            <a:avLst/>
          </a:prstGeom>
          <a:noFill/>
          <a:ln/>
        </p:spPr>
        <p:txBody>
          <a:bodyPr wrap="square" lIns="0" tIns="0" rIns="0" bIns="0" rtlCol="0" anchor="t"/>
          <a:lstStyle/>
          <a:p>
            <a:pPr marL="0" indent="0" algn="l">
              <a:buNone/>
            </a:pPr>
            <a:r>
              <a:rPr lang="en-US" sz="750" b="1" dirty="0">
                <a:solidFill>
                  <a:srgbClr val="E75113"/>
                </a:solidFill>
                <a:latin typeface="Arial" pitchFamily="34" charset="0"/>
                <a:ea typeface="Arial" pitchFamily="34" charset="-122"/>
                <a:cs typeface="Arial" pitchFamily="34" charset="-120"/>
              </a:rPr>
              <a:t>301K</a:t>
            </a:r>
            <a:endParaRPr lang="en-US" sz="750" dirty="0"/>
          </a:p>
        </p:txBody>
      </p:sp>
      <p:sp>
        <p:nvSpPr>
          <p:cNvPr id="59" name="Text 57"/>
          <p:cNvSpPr/>
          <p:nvPr/>
        </p:nvSpPr>
        <p:spPr>
          <a:xfrm>
            <a:off x="2198936" y="2936081"/>
            <a:ext cx="761405" cy="200025"/>
          </a:xfrm>
          <a:prstGeom prst="rect">
            <a:avLst/>
          </a:prstGeom>
          <a:noFill/>
          <a:ln w="9525">
            <a:solidFill>
              <a:srgbClr val="DDDDDD"/>
            </a:solidFill>
          </a:ln>
        </p:spPr>
        <p:txBody>
          <a:bodyPr wrap="square" rtlCol="0" anchor="ctr"/>
          <a:lstStyle/>
          <a:p>
            <a:pPr marL="0" indent="0">
              <a:buNone/>
            </a:pPr>
            <a:endParaRPr lang="en-US" dirty="0"/>
          </a:p>
        </p:txBody>
      </p:sp>
      <p:sp>
        <p:nvSpPr>
          <p:cNvPr id="60" name="Text 58"/>
          <p:cNvSpPr/>
          <p:nvPr/>
        </p:nvSpPr>
        <p:spPr>
          <a:xfrm>
            <a:off x="2259211" y="2983706"/>
            <a:ext cx="653671" cy="104775"/>
          </a:xfrm>
          <a:prstGeom prst="rect">
            <a:avLst/>
          </a:prstGeom>
          <a:noFill/>
          <a:ln/>
        </p:spPr>
        <p:txBody>
          <a:bodyPr wrap="square" lIns="0" tIns="0" rIns="0" bIns="0" rtlCol="0" anchor="t"/>
          <a:lstStyle/>
          <a:p>
            <a:pPr marL="0" indent="0" algn="l">
              <a:buNone/>
            </a:pPr>
            <a:r>
              <a:rPr lang="en-US" sz="750" b="1" dirty="0">
                <a:solidFill>
                  <a:srgbClr val="E75113"/>
                </a:solidFill>
                <a:latin typeface="Arial" pitchFamily="34" charset="0"/>
                <a:ea typeface="Arial" pitchFamily="34" charset="-122"/>
                <a:cs typeface="Arial" pitchFamily="34" charset="-120"/>
              </a:rPr>
              <a:t>89.71%</a:t>
            </a:r>
            <a:endParaRPr lang="en-US" sz="750" dirty="0"/>
          </a:p>
        </p:txBody>
      </p:sp>
      <p:sp>
        <p:nvSpPr>
          <p:cNvPr id="61" name="Text 59"/>
          <p:cNvSpPr/>
          <p:nvPr/>
        </p:nvSpPr>
        <p:spPr>
          <a:xfrm>
            <a:off x="2960340" y="2936081"/>
            <a:ext cx="761405" cy="200025"/>
          </a:xfrm>
          <a:prstGeom prst="rect">
            <a:avLst/>
          </a:prstGeom>
          <a:noFill/>
          <a:ln w="9525">
            <a:solidFill>
              <a:srgbClr val="DDDDDD"/>
            </a:solidFill>
          </a:ln>
        </p:spPr>
        <p:txBody>
          <a:bodyPr wrap="square" rtlCol="0" anchor="ctr"/>
          <a:lstStyle/>
          <a:p>
            <a:pPr marL="0" indent="0">
              <a:buNone/>
            </a:pPr>
            <a:endParaRPr lang="en-US" dirty="0"/>
          </a:p>
        </p:txBody>
      </p:sp>
      <p:sp>
        <p:nvSpPr>
          <p:cNvPr id="62" name="Text 60"/>
          <p:cNvSpPr/>
          <p:nvPr/>
        </p:nvSpPr>
        <p:spPr>
          <a:xfrm>
            <a:off x="3020616" y="2983706"/>
            <a:ext cx="653671" cy="104775"/>
          </a:xfrm>
          <a:prstGeom prst="rect">
            <a:avLst/>
          </a:prstGeom>
          <a:noFill/>
          <a:ln/>
        </p:spPr>
        <p:txBody>
          <a:bodyPr wrap="square" lIns="0" tIns="0" rIns="0" bIns="0" rtlCol="0" anchor="t"/>
          <a:lstStyle/>
          <a:p>
            <a:pPr marL="0" indent="0" algn="l">
              <a:buNone/>
            </a:pPr>
            <a:r>
              <a:rPr lang="en-US" sz="750" dirty="0">
                <a:solidFill>
                  <a:srgbClr val="333333"/>
                </a:solidFill>
                <a:latin typeface="Arial" pitchFamily="34" charset="0"/>
                <a:ea typeface="Arial" pitchFamily="34" charset="-122"/>
                <a:cs typeface="Arial" pitchFamily="34" charset="-120"/>
              </a:rPr>
              <a:t>0.925</a:t>
            </a:r>
            <a:endParaRPr lang="en-US" sz="750" dirty="0"/>
          </a:p>
        </p:txBody>
      </p:sp>
      <p:sp>
        <p:nvSpPr>
          <p:cNvPr id="63" name="Text 61"/>
          <p:cNvSpPr/>
          <p:nvPr/>
        </p:nvSpPr>
        <p:spPr>
          <a:xfrm>
            <a:off x="3721745" y="2936081"/>
            <a:ext cx="761405" cy="200025"/>
          </a:xfrm>
          <a:prstGeom prst="rect">
            <a:avLst/>
          </a:prstGeom>
          <a:noFill/>
          <a:ln w="9525">
            <a:solidFill>
              <a:srgbClr val="DDDDDD"/>
            </a:solidFill>
          </a:ln>
        </p:spPr>
        <p:txBody>
          <a:bodyPr wrap="square" rtlCol="0" anchor="ctr"/>
          <a:lstStyle/>
          <a:p>
            <a:pPr marL="0" indent="0">
              <a:buNone/>
            </a:pPr>
            <a:endParaRPr lang="en-US" dirty="0"/>
          </a:p>
        </p:txBody>
      </p:sp>
      <p:sp>
        <p:nvSpPr>
          <p:cNvPr id="64" name="Text 62"/>
          <p:cNvSpPr/>
          <p:nvPr/>
        </p:nvSpPr>
        <p:spPr>
          <a:xfrm>
            <a:off x="3782020" y="2983706"/>
            <a:ext cx="653671" cy="104775"/>
          </a:xfrm>
          <a:prstGeom prst="rect">
            <a:avLst/>
          </a:prstGeom>
          <a:noFill/>
          <a:ln/>
        </p:spPr>
        <p:txBody>
          <a:bodyPr wrap="square" lIns="0" tIns="0" rIns="0" bIns="0" rtlCol="0" anchor="t"/>
          <a:lstStyle/>
          <a:p>
            <a:pPr marL="0" indent="0" algn="l">
              <a:buNone/>
            </a:pPr>
            <a:r>
              <a:rPr lang="en-US" sz="750" b="1" dirty="0">
                <a:solidFill>
                  <a:srgbClr val="E75113"/>
                </a:solidFill>
                <a:latin typeface="Arial" pitchFamily="34" charset="0"/>
                <a:ea typeface="Arial" pitchFamily="34" charset="-122"/>
                <a:cs typeface="Arial" pitchFamily="34" charset="-120"/>
              </a:rPr>
              <a:t>0.759</a:t>
            </a:r>
            <a:endParaRPr lang="en-US" sz="750" dirty="0"/>
          </a:p>
        </p:txBody>
      </p:sp>
      <p:sp>
        <p:nvSpPr>
          <p:cNvPr id="65" name="Text 63"/>
          <p:cNvSpPr/>
          <p:nvPr/>
        </p:nvSpPr>
        <p:spPr>
          <a:xfrm>
            <a:off x="355550" y="3174206"/>
            <a:ext cx="4127599" cy="530126"/>
          </a:xfrm>
          <a:prstGeom prst="roundRect">
            <a:avLst>
              <a:gd name="adj" fmla="val 7187"/>
            </a:avLst>
          </a:prstGeom>
          <a:solidFill>
            <a:srgbClr val="FFF3EE"/>
          </a:solidFill>
          <a:ln/>
        </p:spPr>
        <p:txBody>
          <a:bodyPr wrap="square" rtlCol="0" anchor="ctr"/>
          <a:lstStyle/>
          <a:p>
            <a:pPr marL="0" indent="0">
              <a:buNone/>
            </a:pPr>
            <a:endParaRPr lang="en-US" dirty="0"/>
          </a:p>
        </p:txBody>
      </p:sp>
      <p:sp>
        <p:nvSpPr>
          <p:cNvPr id="66" name="Shape 64"/>
          <p:cNvSpPr/>
          <p:nvPr/>
        </p:nvSpPr>
        <p:spPr>
          <a:xfrm>
            <a:off x="374600" y="3174206"/>
            <a:ext cx="0" cy="530126"/>
          </a:xfrm>
          <a:prstGeom prst="line">
            <a:avLst/>
          </a:prstGeom>
          <a:noFill/>
          <a:ln w="38100">
            <a:solidFill>
              <a:srgbClr val="E75113"/>
            </a:solidFill>
            <a:prstDash val="solid"/>
          </a:ln>
        </p:spPr>
      </p:sp>
      <p:sp>
        <p:nvSpPr>
          <p:cNvPr id="67" name="Text 65"/>
          <p:cNvSpPr/>
          <p:nvPr/>
        </p:nvSpPr>
        <p:spPr>
          <a:xfrm>
            <a:off x="482501" y="3237607"/>
            <a:ext cx="3990034" cy="114300"/>
          </a:xfrm>
          <a:prstGeom prst="rect">
            <a:avLst/>
          </a:prstGeom>
          <a:noFill/>
          <a:ln/>
        </p:spPr>
        <p:txBody>
          <a:bodyPr wrap="square" lIns="0" tIns="0" rIns="0" bIns="0" rtlCol="0" anchor="t"/>
          <a:lstStyle/>
          <a:p>
            <a:pPr marL="0" indent="0" algn="l">
              <a:spcAft>
                <a:spcPts val="200"/>
              </a:spcAft>
              <a:buNone/>
            </a:pPr>
            <a:r>
              <a:rPr lang="en-US" sz="800" b="1" dirty="0">
                <a:solidFill>
                  <a:srgbClr val="E75113"/>
                </a:solidFill>
                <a:latin typeface="Arial" pitchFamily="34" charset="0"/>
                <a:ea typeface="Arial" pitchFamily="34" charset="-122"/>
                <a:cs typeface="Arial" pitchFamily="34" charset="-120"/>
              </a:rPr>
              <a:t>Key Findings</a:t>
            </a:r>
            <a:endParaRPr lang="en-US" sz="800" dirty="0"/>
          </a:p>
        </p:txBody>
      </p:sp>
      <p:sp>
        <p:nvSpPr>
          <p:cNvPr id="68" name="Text 66"/>
          <p:cNvSpPr/>
          <p:nvPr/>
        </p:nvSpPr>
        <p:spPr>
          <a:xfrm>
            <a:off x="482501" y="3377208"/>
            <a:ext cx="3990034" cy="106561"/>
          </a:xfrm>
          <a:prstGeom prst="rect">
            <a:avLst/>
          </a:prstGeom>
          <a:noFill/>
          <a:ln/>
        </p:spPr>
        <p:txBody>
          <a:bodyPr wrap="square" lIns="0" tIns="0" rIns="0" bIns="0" rtlCol="0" anchor="t"/>
          <a:lstStyle/>
          <a:p>
            <a:pPr marL="0" indent="0" algn="l">
              <a:lnSpc>
                <a:spcPts val="840"/>
              </a:lnSpc>
              <a:spcAft>
                <a:spcPts val="200"/>
              </a:spcAft>
              <a:buNone/>
            </a:pPr>
            <a:r>
              <a:rPr lang="en-US" sz="700" b="1" dirty="0">
                <a:solidFill>
                  <a:srgbClr val="8B3A0F"/>
                </a:solidFill>
                <a:latin typeface="Arial" pitchFamily="34" charset="0"/>
                <a:ea typeface="Arial" pitchFamily="34" charset="-122"/>
                <a:cs typeface="Arial" pitchFamily="34" charset="-120"/>
              </a:rPr>
              <a:t>Transformer</a:t>
            </a:r>
            <a:r>
              <a:rPr lang="en-US" sz="700" dirty="0">
                <a:solidFill>
                  <a:srgbClr val="8B3A0F"/>
                </a:solidFill>
                <a:latin typeface="Arial" pitchFamily="34" charset="0"/>
                <a:ea typeface="Arial" pitchFamily="34" charset="-122"/>
                <a:cs typeface="Arial" pitchFamily="34" charset="-120"/>
              </a:rPr>
              <a:t>: Architecture core — adds +30pp Accuracy, +0.44 M-F1</a:t>
            </a:r>
            <a:endParaRPr lang="en-US" sz="700" dirty="0"/>
          </a:p>
        </p:txBody>
      </p:sp>
      <p:sp>
        <p:nvSpPr>
          <p:cNvPr id="69" name="Text 67"/>
          <p:cNvSpPr/>
          <p:nvPr/>
        </p:nvSpPr>
        <p:spPr>
          <a:xfrm>
            <a:off x="482501" y="3509070"/>
            <a:ext cx="3990034" cy="106561"/>
          </a:xfrm>
          <a:prstGeom prst="rect">
            <a:avLst/>
          </a:prstGeom>
          <a:noFill/>
          <a:ln/>
        </p:spPr>
        <p:txBody>
          <a:bodyPr wrap="square" lIns="0" tIns="0" rIns="0" bIns="0" rtlCol="0" anchor="t"/>
          <a:lstStyle/>
          <a:p>
            <a:pPr marL="0" indent="0" algn="l">
              <a:lnSpc>
                <a:spcPts val="840"/>
              </a:lnSpc>
              <a:spcAft>
                <a:spcPts val="200"/>
              </a:spcAft>
              <a:buNone/>
            </a:pPr>
            <a:r>
              <a:rPr lang="en-US" sz="700" b="1" dirty="0">
                <a:solidFill>
                  <a:srgbClr val="8B3A0F"/>
                </a:solidFill>
                <a:latin typeface="Arial" pitchFamily="34" charset="0"/>
                <a:ea typeface="Arial" pitchFamily="34" charset="-122"/>
                <a:cs typeface="Arial" pitchFamily="34" charset="-120"/>
              </a:rPr>
              <a:t>ECA Attention</a:t>
            </a:r>
            <a:r>
              <a:rPr lang="en-US" sz="700" dirty="0">
                <a:solidFill>
                  <a:srgbClr val="8B3A0F"/>
                </a:solidFill>
                <a:latin typeface="Arial" pitchFamily="34" charset="0"/>
                <a:ea typeface="Arial" pitchFamily="34" charset="-122"/>
                <a:cs typeface="Arial" pitchFamily="34" charset="-120"/>
              </a:rPr>
              <a:t>: W-F1 drops slightly but M-F1 improves +0.085 — critical for rare attacks</a:t>
            </a:r>
            <a:endParaRPr lang="en-US" sz="700" dirty="0"/>
          </a:p>
        </p:txBody>
      </p:sp>
      <p:sp>
        <p:nvSpPr>
          <p:cNvPr id="70" name="Text 68"/>
          <p:cNvSpPr/>
          <p:nvPr/>
        </p:nvSpPr>
        <p:spPr>
          <a:xfrm>
            <a:off x="4660850" y="723751"/>
            <a:ext cx="4210151" cy="114300"/>
          </a:xfrm>
          <a:prstGeom prst="rect">
            <a:avLst/>
          </a:prstGeom>
          <a:noFill/>
          <a:ln/>
        </p:spPr>
        <p:txBody>
          <a:bodyPr wrap="square" lIns="0" tIns="0" rIns="0" bIns="0" rtlCol="0" anchor="t"/>
          <a:lstStyle/>
          <a:p>
            <a:pPr>
              <a:spcAft>
                <a:spcPts val="100"/>
              </a:spcAft>
            </a:pPr>
            <a:r>
              <a:rPr lang="en-US" sz="800" b="1" dirty="0">
                <a:solidFill>
                  <a:srgbClr val="333333"/>
                </a:solidFill>
                <a:latin typeface="Arial" pitchFamily="34" charset="0"/>
                <a:ea typeface="Arial" pitchFamily="34" charset="-122"/>
                <a:cs typeface="Arial" pitchFamily="34" charset="-120"/>
              </a:rPr>
              <a:t>Figure 3 </a:t>
            </a:r>
            <a:r>
              <a:rPr lang="zh-CN" altLang="en-US" sz="800" b="1" dirty="0">
                <a:solidFill>
                  <a:srgbClr val="333333"/>
                </a:solidFill>
                <a:latin typeface="Arial" pitchFamily="34" charset="0"/>
                <a:ea typeface="Arial" pitchFamily="34" charset="-122"/>
                <a:cs typeface="Arial" pitchFamily="34" charset="-120"/>
              </a:rPr>
              <a:t>：</a:t>
            </a:r>
            <a:r>
              <a:rPr lang="en-US" altLang="zh-CN" sz="800" i="1" dirty="0">
                <a:solidFill>
                  <a:srgbClr val="333333"/>
                </a:solidFill>
                <a:latin typeface="Arial" pitchFamily="34" charset="0"/>
                <a:ea typeface="Arial" pitchFamily="34" charset="-122"/>
                <a:cs typeface="Arial" pitchFamily="34" charset="-120"/>
              </a:rPr>
              <a:t>Ablation Study Component Performance Comparison (E8)</a:t>
            </a:r>
            <a:endParaRPr lang="en-US" altLang="zh-CN" sz="800" dirty="0"/>
          </a:p>
          <a:p>
            <a:pPr marL="0" indent="0" algn="l">
              <a:spcAft>
                <a:spcPts val="100"/>
              </a:spcAft>
              <a:buNone/>
            </a:pPr>
            <a:endParaRPr lang="en-US" sz="800" dirty="0"/>
          </a:p>
        </p:txBody>
      </p:sp>
      <p:sp>
        <p:nvSpPr>
          <p:cNvPr id="71" name="Text 69"/>
          <p:cNvSpPr/>
          <p:nvPr/>
        </p:nvSpPr>
        <p:spPr>
          <a:xfrm>
            <a:off x="4660850" y="850702"/>
            <a:ext cx="4210151" cy="114300"/>
          </a:xfrm>
          <a:prstGeom prst="rect">
            <a:avLst/>
          </a:prstGeom>
          <a:noFill/>
          <a:ln/>
        </p:spPr>
        <p:txBody>
          <a:bodyPr wrap="square" lIns="0" tIns="0" rIns="0" bIns="0" rtlCol="0" anchor="t"/>
          <a:lstStyle/>
          <a:p>
            <a:pPr marL="0" indent="0" algn="l">
              <a:spcAft>
                <a:spcPts val="300"/>
              </a:spcAft>
              <a:buNone/>
            </a:pPr>
            <a:endParaRPr lang="en-US" sz="800" dirty="0"/>
          </a:p>
        </p:txBody>
      </p:sp>
      <p:sp>
        <p:nvSpPr>
          <p:cNvPr id="72" name="Text 70"/>
          <p:cNvSpPr/>
          <p:nvPr/>
        </p:nvSpPr>
        <p:spPr>
          <a:xfrm>
            <a:off x="4660850" y="4697760"/>
            <a:ext cx="4210151" cy="198239"/>
          </a:xfrm>
          <a:prstGeom prst="rect">
            <a:avLst/>
          </a:prstGeom>
          <a:noFill/>
          <a:ln/>
        </p:spPr>
        <p:txBody>
          <a:bodyPr wrap="square" lIns="0" tIns="0" rIns="0" bIns="0" rtlCol="0" anchor="t"/>
          <a:lstStyle/>
          <a:p>
            <a:pPr marL="0" indent="0" algn="l">
              <a:lnSpc>
                <a:spcPts val="780"/>
              </a:lnSpc>
              <a:spcBef>
                <a:spcPts val="300"/>
              </a:spcBef>
              <a:buNone/>
            </a:pPr>
            <a:r>
              <a:rPr lang="en-US" sz="650" i="1" dirty="0">
                <a:solidFill>
                  <a:srgbClr val="555555"/>
                </a:solidFill>
                <a:latin typeface="Arial" pitchFamily="34" charset="0"/>
                <a:ea typeface="Arial" pitchFamily="34" charset="-122"/>
                <a:cs typeface="Arial" pitchFamily="34" charset="-120"/>
              </a:rPr>
              <a:t>Note.</a:t>
            </a:r>
            <a:r>
              <a:rPr lang="en-US" sz="650" dirty="0">
                <a:solidFill>
                  <a:srgbClr val="555555"/>
                </a:solidFill>
                <a:latin typeface="Arial" pitchFamily="34" charset="0"/>
                <a:ea typeface="Arial" pitchFamily="34" charset="-122"/>
                <a:cs typeface="Arial" pitchFamily="34" charset="-120"/>
              </a:rPr>
              <a:t> Bar chart compares accuracy, weighted F1, and macro F1 across three ablation variants: CNN-Only, CNN+Transformer, and Full TransECA-Net. ECA attention improves macro F1 by +0.085 for rare attack classes.</a:t>
            </a:r>
            <a:endParaRPr lang="en-US" sz="650" dirty="0"/>
          </a:p>
        </p:txBody>
      </p:sp>
      <p:sp>
        <p:nvSpPr>
          <p:cNvPr id="73" name="Text 71"/>
          <p:cNvSpPr/>
          <p:nvPr/>
        </p:nvSpPr>
        <p:spPr>
          <a:xfrm>
            <a:off x="0" y="4946749"/>
            <a:ext cx="9144000" cy="196751"/>
          </a:xfrm>
          <a:prstGeom prst="rect">
            <a:avLst/>
          </a:prstGeom>
          <a:solidFill>
            <a:srgbClr val="F0F2F5"/>
          </a:solidFill>
          <a:ln/>
        </p:spPr>
        <p:txBody>
          <a:bodyPr wrap="square" rtlCol="0" anchor="ctr"/>
          <a:lstStyle/>
          <a:p>
            <a:pPr marL="0" indent="0">
              <a:buNone/>
            </a:pPr>
            <a:endParaRPr lang="en-US" dirty="0"/>
          </a:p>
        </p:txBody>
      </p:sp>
      <p:sp>
        <p:nvSpPr>
          <p:cNvPr id="74" name="Text 72"/>
          <p:cNvSpPr/>
          <p:nvPr/>
        </p:nvSpPr>
        <p:spPr>
          <a:xfrm>
            <a:off x="355550" y="4997500"/>
            <a:ext cx="8601557" cy="95250"/>
          </a:xfrm>
          <a:prstGeom prst="rect">
            <a:avLst/>
          </a:prstGeom>
          <a:noFill/>
          <a:ln/>
        </p:spPr>
        <p:txBody>
          <a:bodyPr wrap="square" lIns="0" tIns="0" rIns="0" bIns="0" rtlCol="0" anchor="t"/>
          <a:lstStyle/>
          <a:p>
            <a:pPr marL="0" indent="0" algn="l">
              <a:buNone/>
            </a:pPr>
            <a:r>
              <a:rPr lang="en-US" sz="700" dirty="0">
                <a:solidFill>
                  <a:srgbClr val="888888"/>
                </a:solidFill>
                <a:latin typeface="Arial" pitchFamily="34" charset="0"/>
                <a:ea typeface="Arial" pitchFamily="34" charset="-122"/>
                <a:cs typeface="Arial" pitchFamily="34" charset="-120"/>
              </a:rPr>
              <a:t>Liu, Y. (2025). TransECA-Net. | Kwon, D., et al. (2017). IEEE Communications Surveys &amp; Tutorials, 21(1), 464-489.</a:t>
            </a:r>
            <a:endParaRPr lang="en-US" sz="700" dirty="0"/>
          </a:p>
        </p:txBody>
      </p:sp>
      <p:pic>
        <p:nvPicPr>
          <p:cNvPr id="75" name="Image 0" descr="preencoded.png"/>
          <p:cNvPicPr>
            <a:picLocks noChangeAspect="1"/>
          </p:cNvPicPr>
          <p:nvPr/>
        </p:nvPicPr>
        <p:blipFill>
          <a:blip r:embed="rId3"/>
          <a:stretch>
            <a:fillRect/>
          </a:stretch>
        </p:blipFill>
        <p:spPr>
          <a:xfrm>
            <a:off x="4559275" y="1009472"/>
            <a:ext cx="4340885" cy="25811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6771552"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Interpretability: SHAP and Integrated Gradients (E2 + E10)</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355550" y="698450"/>
            <a:ext cx="4223055" cy="142875"/>
          </a:xfrm>
          <a:prstGeom prst="rect">
            <a:avLst/>
          </a:prstGeom>
          <a:noFill/>
          <a:ln/>
        </p:spPr>
        <p:txBody>
          <a:bodyPr wrap="square" lIns="0" tIns="0" rIns="0" bIns="0" rtlCol="0" anchor="t"/>
          <a:lstStyle/>
          <a:p>
            <a:pPr marL="0" indent="0" algn="l">
              <a:spcAft>
                <a:spcPts val="300"/>
              </a:spcAft>
              <a:buNone/>
            </a:pPr>
            <a:r>
              <a:rPr lang="en-US" sz="1000" b="1" dirty="0">
                <a:solidFill>
                  <a:srgbClr val="003C71"/>
                </a:solidFill>
                <a:latin typeface="Arial" pitchFamily="34" charset="0"/>
                <a:ea typeface="Arial" pitchFamily="34" charset="-122"/>
                <a:cs typeface="Arial" pitchFamily="34" charset="-120"/>
              </a:rPr>
              <a:t>E2: SHAP on Stage 1 (RF)</a:t>
            </a:r>
            <a:endParaRPr lang="en-US" sz="1000" dirty="0"/>
          </a:p>
        </p:txBody>
      </p:sp>
      <p:sp>
        <p:nvSpPr>
          <p:cNvPr id="7" name="Text 5"/>
          <p:cNvSpPr/>
          <p:nvPr/>
        </p:nvSpPr>
        <p:spPr>
          <a:xfrm>
            <a:off x="355550" y="917525"/>
            <a:ext cx="4223055" cy="121890"/>
          </a:xfrm>
          <a:prstGeom prst="rect">
            <a:avLst/>
          </a:prstGeom>
          <a:noFill/>
          <a:ln/>
        </p:spPr>
        <p:txBody>
          <a:bodyPr wrap="square" lIns="0" tIns="0" rIns="0" bIns="0" rtlCol="0" anchor="t"/>
          <a:lstStyle/>
          <a:p>
            <a:pPr marL="0" indent="0" algn="l">
              <a:lnSpc>
                <a:spcPts val="960"/>
              </a:lnSpc>
              <a:spcAft>
                <a:spcPts val="100"/>
              </a:spcAft>
              <a:buNone/>
            </a:pPr>
            <a:r>
              <a:rPr lang="en-US" sz="800" b="1" dirty="0">
                <a:solidFill>
                  <a:srgbClr val="333333"/>
                </a:solidFill>
                <a:latin typeface="Arial" pitchFamily="34" charset="0"/>
                <a:ea typeface="Arial" pitchFamily="34" charset="-122"/>
                <a:cs typeface="Arial" pitchFamily="34" charset="-120"/>
              </a:rPr>
              <a:t>Table 5</a:t>
            </a:r>
            <a:endParaRPr lang="en-US" sz="800" dirty="0"/>
          </a:p>
        </p:txBody>
      </p:sp>
      <p:sp>
        <p:nvSpPr>
          <p:cNvPr id="8" name="Text 6"/>
          <p:cNvSpPr/>
          <p:nvPr/>
        </p:nvSpPr>
        <p:spPr>
          <a:xfrm>
            <a:off x="355550" y="1090166"/>
            <a:ext cx="4223055" cy="121890"/>
          </a:xfrm>
          <a:prstGeom prst="rect">
            <a:avLst/>
          </a:prstGeom>
          <a:noFill/>
          <a:ln/>
        </p:spPr>
        <p:txBody>
          <a:bodyPr wrap="square" lIns="0" tIns="0" rIns="0" bIns="0" rtlCol="0" anchor="t"/>
          <a:lstStyle/>
          <a:p>
            <a:pPr marL="0" indent="0" algn="l">
              <a:lnSpc>
                <a:spcPts val="960"/>
              </a:lnSpc>
              <a:spcAft>
                <a:spcPts val="200"/>
              </a:spcAft>
              <a:buNone/>
            </a:pPr>
            <a:r>
              <a:rPr lang="en-US" sz="800" i="1" dirty="0">
                <a:solidFill>
                  <a:srgbClr val="333333"/>
                </a:solidFill>
                <a:latin typeface="Arial" pitchFamily="34" charset="0"/>
                <a:ea typeface="Arial" pitchFamily="34" charset="-122"/>
                <a:cs typeface="Arial" pitchFamily="34" charset="-120"/>
              </a:rPr>
              <a:t>SHAP Feature Importance Rankings for Stage 1 Random Forest (E2)</a:t>
            </a:r>
            <a:endParaRPr lang="en-US" sz="800" dirty="0"/>
          </a:p>
        </p:txBody>
      </p:sp>
      <p:sp>
        <p:nvSpPr>
          <p:cNvPr id="9" name="Text 7"/>
          <p:cNvSpPr/>
          <p:nvPr/>
        </p:nvSpPr>
        <p:spPr>
          <a:xfrm>
            <a:off x="355550" y="1275457"/>
            <a:ext cx="785664" cy="19437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0" name="Text 8"/>
          <p:cNvSpPr/>
          <p:nvPr/>
        </p:nvSpPr>
        <p:spPr>
          <a:xfrm>
            <a:off x="415826" y="1323082"/>
            <a:ext cx="678415" cy="99120"/>
          </a:xfrm>
          <a:prstGeom prst="rect">
            <a:avLst/>
          </a:prstGeom>
          <a:noFill/>
          <a:ln/>
        </p:spPr>
        <p:txBody>
          <a:bodyPr wrap="square" lIns="0" tIns="0" rIns="0" bIns="0" rtlCol="0" anchor="t"/>
          <a:lstStyle/>
          <a:p>
            <a:pPr marL="0" indent="0" algn="l">
              <a:lnSpc>
                <a:spcPts val="780"/>
              </a:lnSpc>
              <a:buNone/>
            </a:pPr>
            <a:r>
              <a:rPr lang="en-US" sz="650" b="1" dirty="0">
                <a:solidFill>
                  <a:srgbClr val="FFFFFF"/>
                </a:solidFill>
                <a:latin typeface="Arial" pitchFamily="34" charset="0"/>
                <a:ea typeface="Arial" pitchFamily="34" charset="-122"/>
                <a:cs typeface="Arial" pitchFamily="34" charset="-120"/>
              </a:rPr>
              <a:t>#</a:t>
            </a:r>
            <a:endParaRPr lang="en-US" sz="650" dirty="0"/>
          </a:p>
        </p:txBody>
      </p:sp>
      <p:sp>
        <p:nvSpPr>
          <p:cNvPr id="11" name="Text 9"/>
          <p:cNvSpPr/>
          <p:nvPr/>
        </p:nvSpPr>
        <p:spPr>
          <a:xfrm>
            <a:off x="1141214" y="1275457"/>
            <a:ext cx="1783259" cy="19437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2" name="Text 10"/>
          <p:cNvSpPr/>
          <p:nvPr/>
        </p:nvSpPr>
        <p:spPr>
          <a:xfrm>
            <a:off x="1201489" y="1323082"/>
            <a:ext cx="1695962" cy="99120"/>
          </a:xfrm>
          <a:prstGeom prst="rect">
            <a:avLst/>
          </a:prstGeom>
          <a:noFill/>
          <a:ln/>
        </p:spPr>
        <p:txBody>
          <a:bodyPr wrap="square" lIns="0" tIns="0" rIns="0" bIns="0" rtlCol="0" anchor="t"/>
          <a:lstStyle/>
          <a:p>
            <a:pPr marL="0" indent="0" algn="l">
              <a:lnSpc>
                <a:spcPts val="780"/>
              </a:lnSpc>
              <a:buNone/>
            </a:pPr>
            <a:r>
              <a:rPr lang="en-US" sz="650" b="1" dirty="0">
                <a:solidFill>
                  <a:srgbClr val="FFFFFF"/>
                </a:solidFill>
                <a:latin typeface="Arial" pitchFamily="34" charset="0"/>
                <a:ea typeface="Arial" pitchFamily="34" charset="-122"/>
                <a:cs typeface="Arial" pitchFamily="34" charset="-120"/>
              </a:rPr>
              <a:t>Feature</a:t>
            </a:r>
            <a:endParaRPr lang="en-US" sz="650" dirty="0"/>
          </a:p>
        </p:txBody>
      </p:sp>
      <p:sp>
        <p:nvSpPr>
          <p:cNvPr id="13" name="Text 11"/>
          <p:cNvSpPr/>
          <p:nvPr/>
        </p:nvSpPr>
        <p:spPr>
          <a:xfrm>
            <a:off x="2924473" y="1275457"/>
            <a:ext cx="785664" cy="19437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4" name="Text 12"/>
          <p:cNvSpPr/>
          <p:nvPr/>
        </p:nvSpPr>
        <p:spPr>
          <a:xfrm>
            <a:off x="2984748" y="1323082"/>
            <a:ext cx="678415" cy="99120"/>
          </a:xfrm>
          <a:prstGeom prst="rect">
            <a:avLst/>
          </a:prstGeom>
          <a:noFill/>
          <a:ln/>
        </p:spPr>
        <p:txBody>
          <a:bodyPr wrap="square" lIns="0" tIns="0" rIns="0" bIns="0" rtlCol="0" anchor="t"/>
          <a:lstStyle/>
          <a:p>
            <a:pPr marL="0" indent="0" algn="l">
              <a:lnSpc>
                <a:spcPts val="780"/>
              </a:lnSpc>
              <a:buNone/>
            </a:pPr>
            <a:r>
              <a:rPr lang="en-US" sz="650" b="1" dirty="0">
                <a:solidFill>
                  <a:srgbClr val="FFFFFF"/>
                </a:solidFill>
                <a:latin typeface="Arial" pitchFamily="34" charset="0"/>
                <a:ea typeface="Arial" pitchFamily="34" charset="-122"/>
                <a:cs typeface="Arial" pitchFamily="34" charset="-120"/>
              </a:rPr>
              <a:t>SHAP</a:t>
            </a:r>
            <a:endParaRPr lang="en-US" sz="650" dirty="0"/>
          </a:p>
        </p:txBody>
      </p:sp>
      <p:sp>
        <p:nvSpPr>
          <p:cNvPr id="15" name="Text 13"/>
          <p:cNvSpPr/>
          <p:nvPr/>
        </p:nvSpPr>
        <p:spPr>
          <a:xfrm>
            <a:off x="3710136" y="1275457"/>
            <a:ext cx="785664" cy="19437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6" name="Text 14"/>
          <p:cNvSpPr/>
          <p:nvPr/>
        </p:nvSpPr>
        <p:spPr>
          <a:xfrm>
            <a:off x="3770412" y="1323082"/>
            <a:ext cx="678415" cy="99120"/>
          </a:xfrm>
          <a:prstGeom prst="rect">
            <a:avLst/>
          </a:prstGeom>
          <a:noFill/>
          <a:ln/>
        </p:spPr>
        <p:txBody>
          <a:bodyPr wrap="square" lIns="0" tIns="0" rIns="0" bIns="0" rtlCol="0" anchor="t"/>
          <a:lstStyle/>
          <a:p>
            <a:pPr marL="0" indent="0" algn="l">
              <a:lnSpc>
                <a:spcPts val="780"/>
              </a:lnSpc>
              <a:buNone/>
            </a:pPr>
            <a:r>
              <a:rPr lang="en-US" sz="650" b="1" dirty="0">
                <a:solidFill>
                  <a:srgbClr val="FFFFFF"/>
                </a:solidFill>
                <a:latin typeface="Arial" pitchFamily="34" charset="0"/>
                <a:ea typeface="Arial" pitchFamily="34" charset="-122"/>
                <a:cs typeface="Arial" pitchFamily="34" charset="-120"/>
              </a:rPr>
              <a:t>Gini Rank</a:t>
            </a:r>
            <a:endParaRPr lang="en-US" sz="650" dirty="0"/>
          </a:p>
        </p:txBody>
      </p:sp>
      <p:sp>
        <p:nvSpPr>
          <p:cNvPr id="17" name="Text 15"/>
          <p:cNvSpPr/>
          <p:nvPr/>
        </p:nvSpPr>
        <p:spPr>
          <a:xfrm>
            <a:off x="355550" y="1507927"/>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18" name="Text 16"/>
          <p:cNvSpPr/>
          <p:nvPr/>
        </p:nvSpPr>
        <p:spPr>
          <a:xfrm>
            <a:off x="415826" y="1542752"/>
            <a:ext cx="678415"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1</a:t>
            </a:r>
            <a:endParaRPr lang="en-US" sz="700" dirty="0"/>
          </a:p>
        </p:txBody>
      </p:sp>
      <p:sp>
        <p:nvSpPr>
          <p:cNvPr id="19" name="Text 17"/>
          <p:cNvSpPr/>
          <p:nvPr/>
        </p:nvSpPr>
        <p:spPr>
          <a:xfrm>
            <a:off x="1141214" y="1507927"/>
            <a:ext cx="1783259" cy="176213"/>
          </a:xfrm>
          <a:prstGeom prst="rect">
            <a:avLst/>
          </a:prstGeom>
          <a:noFill/>
          <a:ln w="9525">
            <a:solidFill>
              <a:srgbClr val="DDDDDD"/>
            </a:solidFill>
          </a:ln>
        </p:spPr>
        <p:txBody>
          <a:bodyPr wrap="square" rtlCol="0" anchor="ctr"/>
          <a:lstStyle/>
          <a:p>
            <a:pPr marL="0" indent="0">
              <a:buNone/>
            </a:pPr>
            <a:endParaRPr lang="en-US" dirty="0"/>
          </a:p>
        </p:txBody>
      </p:sp>
      <p:sp>
        <p:nvSpPr>
          <p:cNvPr id="20" name="Text 18"/>
          <p:cNvSpPr/>
          <p:nvPr/>
        </p:nvSpPr>
        <p:spPr>
          <a:xfrm>
            <a:off x="1201489" y="1542752"/>
            <a:ext cx="1695962" cy="106561"/>
          </a:xfrm>
          <a:prstGeom prst="rect">
            <a:avLst/>
          </a:prstGeom>
          <a:noFill/>
          <a:ln/>
        </p:spPr>
        <p:txBody>
          <a:bodyPr wrap="square" lIns="0" tIns="0" rIns="0" bIns="0" rtlCol="0" anchor="t"/>
          <a:lstStyle/>
          <a:p>
            <a:pPr marL="0" indent="0" algn="l">
              <a:lnSpc>
                <a:spcPts val="840"/>
              </a:lnSpc>
              <a:buNone/>
            </a:pPr>
            <a:r>
              <a:rPr lang="en-US" sz="700" b="1" dirty="0">
                <a:solidFill>
                  <a:srgbClr val="E75113"/>
                </a:solidFill>
                <a:latin typeface="Arial" pitchFamily="34" charset="0"/>
                <a:ea typeface="Arial" pitchFamily="34" charset="-122"/>
                <a:cs typeface="Arial" pitchFamily="34" charset="-120"/>
              </a:rPr>
              <a:t>Bwd Pkt Length Std</a:t>
            </a:r>
            <a:endParaRPr lang="en-US" sz="700" dirty="0"/>
          </a:p>
        </p:txBody>
      </p:sp>
      <p:sp>
        <p:nvSpPr>
          <p:cNvPr id="21" name="Text 19"/>
          <p:cNvSpPr/>
          <p:nvPr/>
        </p:nvSpPr>
        <p:spPr>
          <a:xfrm>
            <a:off x="2924473" y="1507927"/>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22" name="Text 20"/>
          <p:cNvSpPr/>
          <p:nvPr/>
        </p:nvSpPr>
        <p:spPr>
          <a:xfrm>
            <a:off x="2984748" y="1542752"/>
            <a:ext cx="678415" cy="106561"/>
          </a:xfrm>
          <a:prstGeom prst="rect">
            <a:avLst/>
          </a:prstGeom>
          <a:noFill/>
          <a:ln/>
        </p:spPr>
        <p:txBody>
          <a:bodyPr wrap="square" lIns="0" tIns="0" rIns="0" bIns="0" rtlCol="0" anchor="t"/>
          <a:lstStyle/>
          <a:p>
            <a:pPr marL="0" indent="0" algn="l">
              <a:lnSpc>
                <a:spcPts val="840"/>
              </a:lnSpc>
              <a:buNone/>
            </a:pPr>
            <a:r>
              <a:rPr lang="en-US" sz="700" b="1" dirty="0">
                <a:solidFill>
                  <a:srgbClr val="003C71"/>
                </a:solidFill>
                <a:latin typeface="Arial" pitchFamily="34" charset="0"/>
                <a:ea typeface="Arial" pitchFamily="34" charset="-122"/>
                <a:cs typeface="Arial" pitchFamily="34" charset="-120"/>
              </a:rPr>
              <a:t>0.032</a:t>
            </a:r>
            <a:endParaRPr lang="en-US" sz="700" dirty="0"/>
          </a:p>
        </p:txBody>
      </p:sp>
      <p:sp>
        <p:nvSpPr>
          <p:cNvPr id="23" name="Text 21"/>
          <p:cNvSpPr/>
          <p:nvPr/>
        </p:nvSpPr>
        <p:spPr>
          <a:xfrm>
            <a:off x="3710136" y="1507927"/>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24" name="Text 22"/>
          <p:cNvSpPr/>
          <p:nvPr/>
        </p:nvSpPr>
        <p:spPr>
          <a:xfrm>
            <a:off x="3770412" y="1542752"/>
            <a:ext cx="678415"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#4</a:t>
            </a:r>
            <a:endParaRPr lang="en-US" sz="700" dirty="0"/>
          </a:p>
        </p:txBody>
      </p:sp>
      <p:sp>
        <p:nvSpPr>
          <p:cNvPr id="25" name="Text 23"/>
          <p:cNvSpPr/>
          <p:nvPr/>
        </p:nvSpPr>
        <p:spPr>
          <a:xfrm>
            <a:off x="355550" y="1722239"/>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26" name="Text 24"/>
          <p:cNvSpPr/>
          <p:nvPr/>
        </p:nvSpPr>
        <p:spPr>
          <a:xfrm>
            <a:off x="415826" y="1757065"/>
            <a:ext cx="678415"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2</a:t>
            </a:r>
            <a:endParaRPr lang="en-US" sz="700" dirty="0"/>
          </a:p>
        </p:txBody>
      </p:sp>
      <p:sp>
        <p:nvSpPr>
          <p:cNvPr id="27" name="Text 25"/>
          <p:cNvSpPr/>
          <p:nvPr/>
        </p:nvSpPr>
        <p:spPr>
          <a:xfrm>
            <a:off x="1141214" y="1722239"/>
            <a:ext cx="1783259" cy="176213"/>
          </a:xfrm>
          <a:prstGeom prst="rect">
            <a:avLst/>
          </a:prstGeom>
          <a:noFill/>
          <a:ln w="9525">
            <a:solidFill>
              <a:srgbClr val="DDDDDD"/>
            </a:solidFill>
          </a:ln>
        </p:spPr>
        <p:txBody>
          <a:bodyPr wrap="square" rtlCol="0" anchor="ctr"/>
          <a:lstStyle/>
          <a:p>
            <a:pPr marL="0" indent="0">
              <a:buNone/>
            </a:pPr>
            <a:endParaRPr lang="en-US" dirty="0"/>
          </a:p>
        </p:txBody>
      </p:sp>
      <p:sp>
        <p:nvSpPr>
          <p:cNvPr id="28" name="Text 26"/>
          <p:cNvSpPr/>
          <p:nvPr/>
        </p:nvSpPr>
        <p:spPr>
          <a:xfrm>
            <a:off x="1201489" y="1757065"/>
            <a:ext cx="1695962" cy="106561"/>
          </a:xfrm>
          <a:prstGeom prst="rect">
            <a:avLst/>
          </a:prstGeom>
          <a:noFill/>
          <a:ln/>
        </p:spPr>
        <p:txBody>
          <a:bodyPr wrap="square" lIns="0" tIns="0" rIns="0" bIns="0" rtlCol="0" anchor="t"/>
          <a:lstStyle/>
          <a:p>
            <a:pPr marL="0" indent="0" algn="l">
              <a:lnSpc>
                <a:spcPts val="840"/>
              </a:lnSpc>
              <a:buNone/>
            </a:pPr>
            <a:r>
              <a:rPr lang="en-US" sz="700" b="1" dirty="0">
                <a:solidFill>
                  <a:srgbClr val="E75113"/>
                </a:solidFill>
                <a:latin typeface="Arial" pitchFamily="34" charset="0"/>
                <a:ea typeface="Arial" pitchFamily="34" charset="-122"/>
                <a:cs typeface="Arial" pitchFamily="34" charset="-120"/>
              </a:rPr>
              <a:t>Init Bwd Win Bytes</a:t>
            </a:r>
            <a:endParaRPr lang="en-US" sz="700" dirty="0"/>
          </a:p>
        </p:txBody>
      </p:sp>
      <p:sp>
        <p:nvSpPr>
          <p:cNvPr id="29" name="Text 27"/>
          <p:cNvSpPr/>
          <p:nvPr/>
        </p:nvSpPr>
        <p:spPr>
          <a:xfrm>
            <a:off x="2924473" y="1722239"/>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30" name="Text 28"/>
          <p:cNvSpPr/>
          <p:nvPr/>
        </p:nvSpPr>
        <p:spPr>
          <a:xfrm>
            <a:off x="2984748" y="1757065"/>
            <a:ext cx="678415" cy="106561"/>
          </a:xfrm>
          <a:prstGeom prst="rect">
            <a:avLst/>
          </a:prstGeom>
          <a:noFill/>
          <a:ln/>
        </p:spPr>
        <p:txBody>
          <a:bodyPr wrap="square" lIns="0" tIns="0" rIns="0" bIns="0" rtlCol="0" anchor="t"/>
          <a:lstStyle/>
          <a:p>
            <a:pPr marL="0" indent="0" algn="l">
              <a:lnSpc>
                <a:spcPts val="840"/>
              </a:lnSpc>
              <a:buNone/>
            </a:pPr>
            <a:r>
              <a:rPr lang="en-US" sz="700" b="1" dirty="0">
                <a:solidFill>
                  <a:srgbClr val="003C71"/>
                </a:solidFill>
                <a:latin typeface="Arial" pitchFamily="34" charset="0"/>
                <a:ea typeface="Arial" pitchFamily="34" charset="-122"/>
                <a:cs typeface="Arial" pitchFamily="34" charset="-120"/>
              </a:rPr>
              <a:t>0.029</a:t>
            </a:r>
            <a:endParaRPr lang="en-US" sz="700" dirty="0"/>
          </a:p>
        </p:txBody>
      </p:sp>
      <p:sp>
        <p:nvSpPr>
          <p:cNvPr id="31" name="Text 29"/>
          <p:cNvSpPr/>
          <p:nvPr/>
        </p:nvSpPr>
        <p:spPr>
          <a:xfrm>
            <a:off x="3710136" y="1722239"/>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32" name="Text 30"/>
          <p:cNvSpPr/>
          <p:nvPr/>
        </p:nvSpPr>
        <p:spPr>
          <a:xfrm>
            <a:off x="3770412" y="1757065"/>
            <a:ext cx="678415"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#23</a:t>
            </a:r>
            <a:endParaRPr lang="en-US" sz="700" dirty="0"/>
          </a:p>
        </p:txBody>
      </p:sp>
      <p:sp>
        <p:nvSpPr>
          <p:cNvPr id="33" name="Text 31"/>
          <p:cNvSpPr/>
          <p:nvPr/>
        </p:nvSpPr>
        <p:spPr>
          <a:xfrm>
            <a:off x="355550" y="1936552"/>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34" name="Text 32"/>
          <p:cNvSpPr/>
          <p:nvPr/>
        </p:nvSpPr>
        <p:spPr>
          <a:xfrm>
            <a:off x="415826" y="1971377"/>
            <a:ext cx="678415"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3</a:t>
            </a:r>
            <a:endParaRPr lang="en-US" sz="700" dirty="0"/>
          </a:p>
        </p:txBody>
      </p:sp>
      <p:sp>
        <p:nvSpPr>
          <p:cNvPr id="35" name="Text 33"/>
          <p:cNvSpPr/>
          <p:nvPr/>
        </p:nvSpPr>
        <p:spPr>
          <a:xfrm>
            <a:off x="1141214" y="1936552"/>
            <a:ext cx="1783259" cy="176213"/>
          </a:xfrm>
          <a:prstGeom prst="rect">
            <a:avLst/>
          </a:prstGeom>
          <a:noFill/>
          <a:ln w="9525">
            <a:solidFill>
              <a:srgbClr val="DDDDDD"/>
            </a:solidFill>
          </a:ln>
        </p:spPr>
        <p:txBody>
          <a:bodyPr wrap="square" rtlCol="0" anchor="ctr"/>
          <a:lstStyle/>
          <a:p>
            <a:pPr marL="0" indent="0">
              <a:buNone/>
            </a:pPr>
            <a:endParaRPr lang="en-US" dirty="0"/>
          </a:p>
        </p:txBody>
      </p:sp>
      <p:sp>
        <p:nvSpPr>
          <p:cNvPr id="36" name="Text 34"/>
          <p:cNvSpPr/>
          <p:nvPr/>
        </p:nvSpPr>
        <p:spPr>
          <a:xfrm>
            <a:off x="1201489" y="1971377"/>
            <a:ext cx="1695962" cy="106561"/>
          </a:xfrm>
          <a:prstGeom prst="rect">
            <a:avLst/>
          </a:prstGeom>
          <a:noFill/>
          <a:ln/>
        </p:spPr>
        <p:txBody>
          <a:bodyPr wrap="square" lIns="0" tIns="0" rIns="0" bIns="0" rtlCol="0" anchor="t"/>
          <a:lstStyle/>
          <a:p>
            <a:pPr marL="0" indent="0" algn="l">
              <a:lnSpc>
                <a:spcPts val="840"/>
              </a:lnSpc>
              <a:buNone/>
            </a:pPr>
            <a:r>
              <a:rPr lang="en-US" sz="700" b="1" dirty="0">
                <a:solidFill>
                  <a:srgbClr val="E75113"/>
                </a:solidFill>
                <a:latin typeface="Arial" pitchFamily="34" charset="0"/>
                <a:ea typeface="Arial" pitchFamily="34" charset="-122"/>
                <a:cs typeface="Arial" pitchFamily="34" charset="-120"/>
              </a:rPr>
              <a:t>Bwd Pkt Len Mean</a:t>
            </a:r>
            <a:endParaRPr lang="en-US" sz="700" dirty="0"/>
          </a:p>
        </p:txBody>
      </p:sp>
      <p:sp>
        <p:nvSpPr>
          <p:cNvPr id="37" name="Text 35"/>
          <p:cNvSpPr/>
          <p:nvPr/>
        </p:nvSpPr>
        <p:spPr>
          <a:xfrm>
            <a:off x="2924473" y="1936552"/>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38" name="Text 36"/>
          <p:cNvSpPr/>
          <p:nvPr/>
        </p:nvSpPr>
        <p:spPr>
          <a:xfrm>
            <a:off x="2984748" y="1971377"/>
            <a:ext cx="678415" cy="106561"/>
          </a:xfrm>
          <a:prstGeom prst="rect">
            <a:avLst/>
          </a:prstGeom>
          <a:noFill/>
          <a:ln/>
        </p:spPr>
        <p:txBody>
          <a:bodyPr wrap="square" lIns="0" tIns="0" rIns="0" bIns="0" rtlCol="0" anchor="t"/>
          <a:lstStyle/>
          <a:p>
            <a:pPr marL="0" indent="0" algn="l">
              <a:lnSpc>
                <a:spcPts val="840"/>
              </a:lnSpc>
              <a:buNone/>
            </a:pPr>
            <a:r>
              <a:rPr lang="en-US" sz="700" b="1" dirty="0">
                <a:solidFill>
                  <a:srgbClr val="003C71"/>
                </a:solidFill>
                <a:latin typeface="Arial" pitchFamily="34" charset="0"/>
                <a:ea typeface="Arial" pitchFamily="34" charset="-122"/>
                <a:cs typeface="Arial" pitchFamily="34" charset="-120"/>
              </a:rPr>
              <a:t>0.028</a:t>
            </a:r>
            <a:endParaRPr lang="en-US" sz="700" dirty="0"/>
          </a:p>
        </p:txBody>
      </p:sp>
      <p:sp>
        <p:nvSpPr>
          <p:cNvPr id="39" name="Text 37"/>
          <p:cNvSpPr/>
          <p:nvPr/>
        </p:nvSpPr>
        <p:spPr>
          <a:xfrm>
            <a:off x="3710136" y="1936552"/>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40" name="Text 38"/>
          <p:cNvSpPr/>
          <p:nvPr/>
        </p:nvSpPr>
        <p:spPr>
          <a:xfrm>
            <a:off x="3770412" y="1971377"/>
            <a:ext cx="678415"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#3</a:t>
            </a:r>
            <a:endParaRPr lang="en-US" sz="700" dirty="0"/>
          </a:p>
        </p:txBody>
      </p:sp>
      <p:sp>
        <p:nvSpPr>
          <p:cNvPr id="41" name="Text 39"/>
          <p:cNvSpPr/>
          <p:nvPr/>
        </p:nvSpPr>
        <p:spPr>
          <a:xfrm>
            <a:off x="355550" y="2150864"/>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42" name="Text 40"/>
          <p:cNvSpPr/>
          <p:nvPr/>
        </p:nvSpPr>
        <p:spPr>
          <a:xfrm>
            <a:off x="415826" y="2185690"/>
            <a:ext cx="678415"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4</a:t>
            </a:r>
            <a:endParaRPr lang="en-US" sz="700" dirty="0"/>
          </a:p>
        </p:txBody>
      </p:sp>
      <p:sp>
        <p:nvSpPr>
          <p:cNvPr id="43" name="Text 41"/>
          <p:cNvSpPr/>
          <p:nvPr/>
        </p:nvSpPr>
        <p:spPr>
          <a:xfrm>
            <a:off x="1141214" y="2150864"/>
            <a:ext cx="1783259" cy="176213"/>
          </a:xfrm>
          <a:prstGeom prst="rect">
            <a:avLst/>
          </a:prstGeom>
          <a:noFill/>
          <a:ln w="9525">
            <a:solidFill>
              <a:srgbClr val="DDDDDD"/>
            </a:solidFill>
          </a:ln>
        </p:spPr>
        <p:txBody>
          <a:bodyPr wrap="square" rtlCol="0" anchor="ctr"/>
          <a:lstStyle/>
          <a:p>
            <a:pPr marL="0" indent="0">
              <a:buNone/>
            </a:pPr>
            <a:endParaRPr lang="en-US" dirty="0"/>
          </a:p>
        </p:txBody>
      </p:sp>
      <p:sp>
        <p:nvSpPr>
          <p:cNvPr id="44" name="Text 42"/>
          <p:cNvSpPr/>
          <p:nvPr/>
        </p:nvSpPr>
        <p:spPr>
          <a:xfrm>
            <a:off x="1201489" y="2185690"/>
            <a:ext cx="1695962" cy="106561"/>
          </a:xfrm>
          <a:prstGeom prst="rect">
            <a:avLst/>
          </a:prstGeom>
          <a:noFill/>
          <a:ln/>
        </p:spPr>
        <p:txBody>
          <a:bodyPr wrap="square" lIns="0" tIns="0" rIns="0" bIns="0" rtlCol="0" anchor="t"/>
          <a:lstStyle/>
          <a:p>
            <a:pPr marL="0" indent="0" algn="l">
              <a:lnSpc>
                <a:spcPts val="840"/>
              </a:lnSpc>
              <a:buNone/>
            </a:pPr>
            <a:r>
              <a:rPr lang="en-US" sz="700" b="1" dirty="0">
                <a:solidFill>
                  <a:srgbClr val="E75113"/>
                </a:solidFill>
                <a:latin typeface="Arial" pitchFamily="34" charset="0"/>
                <a:ea typeface="Arial" pitchFamily="34" charset="-122"/>
                <a:cs typeface="Arial" pitchFamily="34" charset="-120"/>
              </a:rPr>
              <a:t>Pkt Len Variance</a:t>
            </a:r>
            <a:endParaRPr lang="en-US" sz="700" dirty="0"/>
          </a:p>
        </p:txBody>
      </p:sp>
      <p:sp>
        <p:nvSpPr>
          <p:cNvPr id="45" name="Text 43"/>
          <p:cNvSpPr/>
          <p:nvPr/>
        </p:nvSpPr>
        <p:spPr>
          <a:xfrm>
            <a:off x="2924473" y="2150864"/>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46" name="Text 44"/>
          <p:cNvSpPr/>
          <p:nvPr/>
        </p:nvSpPr>
        <p:spPr>
          <a:xfrm>
            <a:off x="2984748" y="2185690"/>
            <a:ext cx="678415" cy="106561"/>
          </a:xfrm>
          <a:prstGeom prst="rect">
            <a:avLst/>
          </a:prstGeom>
          <a:noFill/>
          <a:ln/>
        </p:spPr>
        <p:txBody>
          <a:bodyPr wrap="square" lIns="0" tIns="0" rIns="0" bIns="0" rtlCol="0" anchor="t"/>
          <a:lstStyle/>
          <a:p>
            <a:pPr marL="0" indent="0" algn="l">
              <a:lnSpc>
                <a:spcPts val="840"/>
              </a:lnSpc>
              <a:buNone/>
            </a:pPr>
            <a:r>
              <a:rPr lang="en-US" sz="700" b="1" dirty="0">
                <a:solidFill>
                  <a:srgbClr val="003C71"/>
                </a:solidFill>
                <a:latin typeface="Arial" pitchFamily="34" charset="0"/>
                <a:ea typeface="Arial" pitchFamily="34" charset="-122"/>
                <a:cs typeface="Arial" pitchFamily="34" charset="-120"/>
              </a:rPr>
              <a:t>0.025</a:t>
            </a:r>
            <a:endParaRPr lang="en-US" sz="700" dirty="0"/>
          </a:p>
        </p:txBody>
      </p:sp>
      <p:sp>
        <p:nvSpPr>
          <p:cNvPr id="47" name="Text 45"/>
          <p:cNvSpPr/>
          <p:nvPr/>
        </p:nvSpPr>
        <p:spPr>
          <a:xfrm>
            <a:off x="3710136" y="2150864"/>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48" name="Text 46"/>
          <p:cNvSpPr/>
          <p:nvPr/>
        </p:nvSpPr>
        <p:spPr>
          <a:xfrm>
            <a:off x="3770412" y="2185690"/>
            <a:ext cx="678415"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#1</a:t>
            </a:r>
            <a:endParaRPr lang="en-US" sz="700" dirty="0"/>
          </a:p>
        </p:txBody>
      </p:sp>
      <p:sp>
        <p:nvSpPr>
          <p:cNvPr id="49" name="Text 47"/>
          <p:cNvSpPr/>
          <p:nvPr/>
        </p:nvSpPr>
        <p:spPr>
          <a:xfrm>
            <a:off x="355550" y="2365177"/>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50" name="Text 48"/>
          <p:cNvSpPr/>
          <p:nvPr/>
        </p:nvSpPr>
        <p:spPr>
          <a:xfrm>
            <a:off x="415826" y="2400002"/>
            <a:ext cx="678415"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5</a:t>
            </a:r>
            <a:endParaRPr lang="en-US" sz="700" dirty="0"/>
          </a:p>
        </p:txBody>
      </p:sp>
      <p:sp>
        <p:nvSpPr>
          <p:cNvPr id="51" name="Text 49"/>
          <p:cNvSpPr/>
          <p:nvPr/>
        </p:nvSpPr>
        <p:spPr>
          <a:xfrm>
            <a:off x="1141214" y="2365177"/>
            <a:ext cx="1783259" cy="176213"/>
          </a:xfrm>
          <a:prstGeom prst="rect">
            <a:avLst/>
          </a:prstGeom>
          <a:noFill/>
          <a:ln w="9525">
            <a:solidFill>
              <a:srgbClr val="DDDDDD"/>
            </a:solidFill>
          </a:ln>
        </p:spPr>
        <p:txBody>
          <a:bodyPr wrap="square" rtlCol="0" anchor="ctr"/>
          <a:lstStyle/>
          <a:p>
            <a:pPr marL="0" indent="0">
              <a:buNone/>
            </a:pPr>
            <a:endParaRPr lang="en-US" dirty="0"/>
          </a:p>
        </p:txBody>
      </p:sp>
      <p:sp>
        <p:nvSpPr>
          <p:cNvPr id="52" name="Text 50"/>
          <p:cNvSpPr/>
          <p:nvPr/>
        </p:nvSpPr>
        <p:spPr>
          <a:xfrm>
            <a:off x="1201489" y="2400002"/>
            <a:ext cx="1695962" cy="106561"/>
          </a:xfrm>
          <a:prstGeom prst="rect">
            <a:avLst/>
          </a:prstGeom>
          <a:noFill/>
          <a:ln/>
        </p:spPr>
        <p:txBody>
          <a:bodyPr wrap="square" lIns="0" tIns="0" rIns="0" bIns="0" rtlCol="0" anchor="t"/>
          <a:lstStyle/>
          <a:p>
            <a:pPr marL="0" indent="0" algn="l">
              <a:lnSpc>
                <a:spcPts val="840"/>
              </a:lnSpc>
              <a:buNone/>
            </a:pPr>
            <a:r>
              <a:rPr lang="en-US" sz="700" b="1" dirty="0">
                <a:solidFill>
                  <a:srgbClr val="E75113"/>
                </a:solidFill>
                <a:latin typeface="Arial" pitchFamily="34" charset="0"/>
                <a:ea typeface="Arial" pitchFamily="34" charset="-122"/>
                <a:cs typeface="Arial" pitchFamily="34" charset="-120"/>
              </a:rPr>
              <a:t>Fwd IAT Min</a:t>
            </a:r>
            <a:endParaRPr lang="en-US" sz="700" dirty="0"/>
          </a:p>
        </p:txBody>
      </p:sp>
      <p:sp>
        <p:nvSpPr>
          <p:cNvPr id="53" name="Text 51"/>
          <p:cNvSpPr/>
          <p:nvPr/>
        </p:nvSpPr>
        <p:spPr>
          <a:xfrm>
            <a:off x="2924473" y="2365177"/>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54" name="Text 52"/>
          <p:cNvSpPr/>
          <p:nvPr/>
        </p:nvSpPr>
        <p:spPr>
          <a:xfrm>
            <a:off x="2984748" y="2400002"/>
            <a:ext cx="678415" cy="106561"/>
          </a:xfrm>
          <a:prstGeom prst="rect">
            <a:avLst/>
          </a:prstGeom>
          <a:noFill/>
          <a:ln/>
        </p:spPr>
        <p:txBody>
          <a:bodyPr wrap="square" lIns="0" tIns="0" rIns="0" bIns="0" rtlCol="0" anchor="t"/>
          <a:lstStyle/>
          <a:p>
            <a:pPr marL="0" indent="0" algn="l">
              <a:lnSpc>
                <a:spcPts val="840"/>
              </a:lnSpc>
              <a:buNone/>
            </a:pPr>
            <a:r>
              <a:rPr lang="en-US" sz="700" b="1" dirty="0">
                <a:solidFill>
                  <a:srgbClr val="003C71"/>
                </a:solidFill>
                <a:latin typeface="Arial" pitchFamily="34" charset="0"/>
                <a:ea typeface="Arial" pitchFamily="34" charset="-122"/>
                <a:cs typeface="Arial" pitchFamily="34" charset="-120"/>
              </a:rPr>
              <a:t>0.024</a:t>
            </a:r>
            <a:endParaRPr lang="en-US" sz="700" dirty="0"/>
          </a:p>
        </p:txBody>
      </p:sp>
      <p:sp>
        <p:nvSpPr>
          <p:cNvPr id="55" name="Text 53"/>
          <p:cNvSpPr/>
          <p:nvPr/>
        </p:nvSpPr>
        <p:spPr>
          <a:xfrm>
            <a:off x="3710136" y="2365177"/>
            <a:ext cx="785664" cy="176213"/>
          </a:xfrm>
          <a:prstGeom prst="rect">
            <a:avLst/>
          </a:prstGeom>
          <a:noFill/>
          <a:ln w="9525">
            <a:solidFill>
              <a:srgbClr val="DDDDDD"/>
            </a:solidFill>
          </a:ln>
        </p:spPr>
        <p:txBody>
          <a:bodyPr wrap="square" rtlCol="0" anchor="ctr"/>
          <a:lstStyle/>
          <a:p>
            <a:pPr marL="0" indent="0">
              <a:buNone/>
            </a:pPr>
            <a:endParaRPr lang="en-US" dirty="0"/>
          </a:p>
        </p:txBody>
      </p:sp>
      <p:sp>
        <p:nvSpPr>
          <p:cNvPr id="56" name="Text 54"/>
          <p:cNvSpPr/>
          <p:nvPr/>
        </p:nvSpPr>
        <p:spPr>
          <a:xfrm>
            <a:off x="3770412" y="2400002"/>
            <a:ext cx="678415"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#22</a:t>
            </a:r>
            <a:endParaRPr lang="en-US" sz="700" dirty="0"/>
          </a:p>
        </p:txBody>
      </p:sp>
      <p:sp>
        <p:nvSpPr>
          <p:cNvPr id="57" name="Text 55"/>
          <p:cNvSpPr/>
          <p:nvPr/>
        </p:nvSpPr>
        <p:spPr>
          <a:xfrm>
            <a:off x="355550" y="2579489"/>
            <a:ext cx="4140250" cy="238571"/>
          </a:xfrm>
          <a:prstGeom prst="roundRect">
            <a:avLst>
              <a:gd name="adj" fmla="val 15970"/>
            </a:avLst>
          </a:prstGeom>
          <a:solidFill>
            <a:srgbClr val="E75113"/>
          </a:solidFill>
          <a:ln/>
        </p:spPr>
        <p:txBody>
          <a:bodyPr wrap="square" rtlCol="0" anchor="ctr"/>
          <a:lstStyle/>
          <a:p>
            <a:pPr marL="0" indent="0">
              <a:buNone/>
            </a:pPr>
            <a:endParaRPr lang="en-US" dirty="0"/>
          </a:p>
        </p:txBody>
      </p:sp>
      <p:sp>
        <p:nvSpPr>
          <p:cNvPr id="58" name="Text 56"/>
          <p:cNvSpPr/>
          <p:nvPr/>
        </p:nvSpPr>
        <p:spPr>
          <a:xfrm>
            <a:off x="457051" y="2630239"/>
            <a:ext cx="4015993" cy="137071"/>
          </a:xfrm>
          <a:prstGeom prst="rect">
            <a:avLst/>
          </a:prstGeom>
          <a:noFill/>
          <a:ln/>
        </p:spPr>
        <p:txBody>
          <a:bodyPr wrap="square" lIns="0" tIns="0" rIns="0" bIns="0" rtlCol="0" anchor="t"/>
          <a:lstStyle/>
          <a:p>
            <a:pPr marL="0" indent="0" algn="l">
              <a:lnSpc>
                <a:spcPts val="1080"/>
              </a:lnSpc>
              <a:buNone/>
            </a:pPr>
            <a:r>
              <a:rPr lang="en-US" sz="900" b="1" dirty="0">
                <a:solidFill>
                  <a:srgbClr val="FFFFFF"/>
                </a:solidFill>
                <a:latin typeface="Arial" pitchFamily="34" charset="0"/>
                <a:ea typeface="Arial" pitchFamily="34" charset="-122"/>
                <a:cs typeface="Arial" pitchFamily="34" charset="-120"/>
              </a:rPr>
              <a:t>SHAP vs Gini rho = 0.9444</a:t>
            </a:r>
            <a:endParaRPr lang="en-US" sz="900" dirty="0"/>
          </a:p>
        </p:txBody>
      </p:sp>
      <p:sp>
        <p:nvSpPr>
          <p:cNvPr id="59" name="Text 57"/>
          <p:cNvSpPr/>
          <p:nvPr/>
        </p:nvSpPr>
        <p:spPr>
          <a:xfrm>
            <a:off x="355550" y="2856161"/>
            <a:ext cx="4223055" cy="228600"/>
          </a:xfrm>
          <a:prstGeom prst="rect">
            <a:avLst/>
          </a:prstGeom>
          <a:noFill/>
          <a:ln/>
        </p:spPr>
        <p:txBody>
          <a:bodyPr wrap="square" lIns="0" tIns="0" rIns="0" bIns="0" rtlCol="0" anchor="t"/>
          <a:lstStyle/>
          <a:p>
            <a:pPr marL="0" indent="0" algn="l">
              <a:lnSpc>
                <a:spcPts val="900"/>
              </a:lnSpc>
              <a:spcAft>
                <a:spcPts val="200"/>
              </a:spcAft>
              <a:buNone/>
            </a:pPr>
            <a:r>
              <a:rPr lang="en-US" sz="750" dirty="0">
                <a:solidFill>
                  <a:srgbClr val="555555"/>
                </a:solidFill>
                <a:latin typeface="Arial" pitchFamily="34" charset="0"/>
                <a:ea typeface="Arial" pitchFamily="34" charset="-122"/>
                <a:cs typeface="Arial" pitchFamily="34" charset="-120"/>
              </a:rPr>
              <a:t>SHAP promoted Init Bwd Win Bytes #23 to #2 (captures feature interaction via Shapley axioms vs Gini single-split)</a:t>
            </a:r>
            <a:endParaRPr lang="en-US" sz="750" dirty="0"/>
          </a:p>
        </p:txBody>
      </p:sp>
      <p:sp>
        <p:nvSpPr>
          <p:cNvPr id="60" name="Text 58"/>
          <p:cNvSpPr/>
          <p:nvPr/>
        </p:nvSpPr>
        <p:spPr>
          <a:xfrm>
            <a:off x="4648200" y="698450"/>
            <a:ext cx="4223055" cy="142875"/>
          </a:xfrm>
          <a:prstGeom prst="rect">
            <a:avLst/>
          </a:prstGeom>
          <a:noFill/>
          <a:ln/>
        </p:spPr>
        <p:txBody>
          <a:bodyPr wrap="square" lIns="0" tIns="0" rIns="0" bIns="0" rtlCol="0" anchor="t"/>
          <a:lstStyle/>
          <a:p>
            <a:pPr marL="0" indent="0" algn="l">
              <a:spcAft>
                <a:spcPts val="300"/>
              </a:spcAft>
              <a:buNone/>
            </a:pPr>
            <a:r>
              <a:rPr lang="en-US" sz="1000" b="1" dirty="0">
                <a:solidFill>
                  <a:srgbClr val="003C71"/>
                </a:solidFill>
                <a:latin typeface="Arial" pitchFamily="34" charset="0"/>
                <a:ea typeface="Arial" pitchFamily="34" charset="-122"/>
                <a:cs typeface="Arial" pitchFamily="34" charset="-120"/>
              </a:rPr>
              <a:t>E10: IG + Attention on Stage 2</a:t>
            </a:r>
            <a:endParaRPr lang="en-US" sz="1000" dirty="0"/>
          </a:p>
        </p:txBody>
      </p:sp>
      <p:sp>
        <p:nvSpPr>
          <p:cNvPr id="61" name="Text 59"/>
          <p:cNvSpPr/>
          <p:nvPr/>
        </p:nvSpPr>
        <p:spPr>
          <a:xfrm>
            <a:off x="4648200" y="917525"/>
            <a:ext cx="4223055" cy="121890"/>
          </a:xfrm>
          <a:prstGeom prst="rect">
            <a:avLst/>
          </a:prstGeom>
          <a:noFill/>
          <a:ln/>
        </p:spPr>
        <p:txBody>
          <a:bodyPr wrap="square" lIns="0" tIns="0" rIns="0" bIns="0" rtlCol="0" anchor="t"/>
          <a:lstStyle/>
          <a:p>
            <a:pPr marL="0" indent="0" algn="l">
              <a:lnSpc>
                <a:spcPts val="960"/>
              </a:lnSpc>
              <a:spcAft>
                <a:spcPts val="100"/>
              </a:spcAft>
              <a:buNone/>
            </a:pPr>
            <a:r>
              <a:rPr lang="en-US" sz="800" b="1" dirty="0">
                <a:solidFill>
                  <a:srgbClr val="333333"/>
                </a:solidFill>
                <a:latin typeface="Arial" pitchFamily="34" charset="0"/>
                <a:ea typeface="Arial" pitchFamily="34" charset="-122"/>
                <a:cs typeface="Arial" pitchFamily="34" charset="-120"/>
              </a:rPr>
              <a:t>Table 6</a:t>
            </a:r>
            <a:endParaRPr lang="en-US" sz="800" dirty="0"/>
          </a:p>
        </p:txBody>
      </p:sp>
      <p:sp>
        <p:nvSpPr>
          <p:cNvPr id="62" name="Text 60"/>
          <p:cNvSpPr/>
          <p:nvPr/>
        </p:nvSpPr>
        <p:spPr>
          <a:xfrm>
            <a:off x="4648200" y="1090166"/>
            <a:ext cx="4223055" cy="121890"/>
          </a:xfrm>
          <a:prstGeom prst="rect">
            <a:avLst/>
          </a:prstGeom>
          <a:noFill/>
          <a:ln/>
        </p:spPr>
        <p:txBody>
          <a:bodyPr wrap="square" lIns="0" tIns="0" rIns="0" bIns="0" rtlCol="0" anchor="t"/>
          <a:lstStyle/>
          <a:p>
            <a:pPr marL="0" indent="0" algn="l">
              <a:lnSpc>
                <a:spcPts val="960"/>
              </a:lnSpc>
              <a:spcAft>
                <a:spcPts val="200"/>
              </a:spcAft>
              <a:buNone/>
            </a:pPr>
            <a:r>
              <a:rPr lang="en-US" sz="800" i="1" dirty="0">
                <a:solidFill>
                  <a:srgbClr val="333333"/>
                </a:solidFill>
                <a:latin typeface="Arial" pitchFamily="34" charset="0"/>
                <a:ea typeface="Arial" pitchFamily="34" charset="-122"/>
                <a:cs typeface="Arial" pitchFamily="34" charset="-120"/>
              </a:rPr>
              <a:t>Integrated Gradients and Attention Attribution for Stage 2 (E10)</a:t>
            </a:r>
            <a:endParaRPr lang="en-US" sz="800" dirty="0"/>
          </a:p>
        </p:txBody>
      </p:sp>
      <p:sp>
        <p:nvSpPr>
          <p:cNvPr id="63" name="Text 61"/>
          <p:cNvSpPr/>
          <p:nvPr/>
        </p:nvSpPr>
        <p:spPr>
          <a:xfrm>
            <a:off x="4648200" y="1275457"/>
            <a:ext cx="1047304" cy="19437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64" name="Text 62"/>
          <p:cNvSpPr/>
          <p:nvPr/>
        </p:nvSpPr>
        <p:spPr>
          <a:xfrm>
            <a:off x="4708475" y="1323082"/>
            <a:ext cx="945288" cy="99120"/>
          </a:xfrm>
          <a:prstGeom prst="rect">
            <a:avLst/>
          </a:prstGeom>
          <a:noFill/>
          <a:ln/>
        </p:spPr>
        <p:txBody>
          <a:bodyPr wrap="square" lIns="0" tIns="0" rIns="0" bIns="0" rtlCol="0" anchor="t"/>
          <a:lstStyle/>
          <a:p>
            <a:pPr marL="0" indent="0" algn="l">
              <a:lnSpc>
                <a:spcPts val="780"/>
              </a:lnSpc>
              <a:buNone/>
            </a:pPr>
            <a:r>
              <a:rPr lang="en-US" sz="650" b="1" dirty="0">
                <a:solidFill>
                  <a:srgbClr val="FFFFFF"/>
                </a:solidFill>
                <a:latin typeface="Arial" pitchFamily="34" charset="0"/>
                <a:ea typeface="Arial" pitchFamily="34" charset="-122"/>
                <a:cs typeface="Arial" pitchFamily="34" charset="-120"/>
              </a:rPr>
              <a:t>Method</a:t>
            </a:r>
            <a:endParaRPr lang="en-US" sz="650" dirty="0"/>
          </a:p>
        </p:txBody>
      </p:sp>
      <p:sp>
        <p:nvSpPr>
          <p:cNvPr id="65" name="Text 63"/>
          <p:cNvSpPr/>
          <p:nvPr/>
        </p:nvSpPr>
        <p:spPr>
          <a:xfrm>
            <a:off x="5695504" y="1275457"/>
            <a:ext cx="1546473" cy="19437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66" name="Text 64"/>
          <p:cNvSpPr/>
          <p:nvPr/>
        </p:nvSpPr>
        <p:spPr>
          <a:xfrm>
            <a:off x="5755779" y="1323082"/>
            <a:ext cx="1454441" cy="99120"/>
          </a:xfrm>
          <a:prstGeom prst="rect">
            <a:avLst/>
          </a:prstGeom>
          <a:noFill/>
          <a:ln/>
        </p:spPr>
        <p:txBody>
          <a:bodyPr wrap="square" lIns="0" tIns="0" rIns="0" bIns="0" rtlCol="0" anchor="t"/>
          <a:lstStyle/>
          <a:p>
            <a:pPr marL="0" indent="0" algn="l">
              <a:lnSpc>
                <a:spcPts val="780"/>
              </a:lnSpc>
              <a:buNone/>
            </a:pPr>
            <a:r>
              <a:rPr lang="en-US" sz="650" b="1" dirty="0">
                <a:solidFill>
                  <a:srgbClr val="FFFFFF"/>
                </a:solidFill>
                <a:latin typeface="Arial" pitchFamily="34" charset="0"/>
                <a:ea typeface="Arial" pitchFamily="34" charset="-122"/>
                <a:cs typeface="Arial" pitchFamily="34" charset="-120"/>
              </a:rPr>
              <a:t>Top-1 Feature</a:t>
            </a:r>
            <a:endParaRPr lang="en-US" sz="650" dirty="0"/>
          </a:p>
        </p:txBody>
      </p:sp>
      <p:sp>
        <p:nvSpPr>
          <p:cNvPr id="67" name="Text 65"/>
          <p:cNvSpPr/>
          <p:nvPr/>
        </p:nvSpPr>
        <p:spPr>
          <a:xfrm>
            <a:off x="7241977" y="1275457"/>
            <a:ext cx="1546473" cy="19437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68" name="Text 66"/>
          <p:cNvSpPr/>
          <p:nvPr/>
        </p:nvSpPr>
        <p:spPr>
          <a:xfrm>
            <a:off x="7302252" y="1323082"/>
            <a:ext cx="1454441" cy="99120"/>
          </a:xfrm>
          <a:prstGeom prst="rect">
            <a:avLst/>
          </a:prstGeom>
          <a:noFill/>
          <a:ln/>
        </p:spPr>
        <p:txBody>
          <a:bodyPr wrap="square" lIns="0" tIns="0" rIns="0" bIns="0" rtlCol="0" anchor="t"/>
          <a:lstStyle/>
          <a:p>
            <a:pPr marL="0" indent="0" algn="l">
              <a:lnSpc>
                <a:spcPts val="780"/>
              </a:lnSpc>
              <a:buNone/>
            </a:pPr>
            <a:r>
              <a:rPr lang="en-US" sz="650" b="1" dirty="0">
                <a:solidFill>
                  <a:srgbClr val="FFFFFF"/>
                </a:solidFill>
                <a:latin typeface="Arial" pitchFamily="34" charset="0"/>
                <a:ea typeface="Arial" pitchFamily="34" charset="-122"/>
                <a:cs typeface="Arial" pitchFamily="34" charset="-120"/>
              </a:rPr>
              <a:t>Key Top-5</a:t>
            </a:r>
            <a:endParaRPr lang="en-US" sz="650" dirty="0"/>
          </a:p>
        </p:txBody>
      </p:sp>
      <p:sp>
        <p:nvSpPr>
          <p:cNvPr id="69" name="Text 67"/>
          <p:cNvSpPr/>
          <p:nvPr/>
        </p:nvSpPr>
        <p:spPr>
          <a:xfrm>
            <a:off x="4648200" y="1507927"/>
            <a:ext cx="1047304" cy="282773"/>
          </a:xfrm>
          <a:prstGeom prst="rect">
            <a:avLst/>
          </a:prstGeom>
          <a:noFill/>
          <a:ln w="9525">
            <a:solidFill>
              <a:srgbClr val="DDDDDD"/>
            </a:solidFill>
          </a:ln>
        </p:spPr>
        <p:txBody>
          <a:bodyPr wrap="square" rtlCol="0" anchor="ctr"/>
          <a:lstStyle/>
          <a:p>
            <a:pPr marL="0" indent="0">
              <a:buNone/>
            </a:pPr>
            <a:endParaRPr lang="en-US" dirty="0"/>
          </a:p>
        </p:txBody>
      </p:sp>
      <p:sp>
        <p:nvSpPr>
          <p:cNvPr id="70" name="Text 68"/>
          <p:cNvSpPr/>
          <p:nvPr/>
        </p:nvSpPr>
        <p:spPr>
          <a:xfrm>
            <a:off x="4708475" y="1542752"/>
            <a:ext cx="945288"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Integrated Gradients</a:t>
            </a:r>
            <a:endParaRPr lang="en-US" sz="700" dirty="0"/>
          </a:p>
        </p:txBody>
      </p:sp>
      <p:sp>
        <p:nvSpPr>
          <p:cNvPr id="71" name="Text 69"/>
          <p:cNvSpPr/>
          <p:nvPr/>
        </p:nvSpPr>
        <p:spPr>
          <a:xfrm>
            <a:off x="5695504" y="1507927"/>
            <a:ext cx="1546473" cy="282773"/>
          </a:xfrm>
          <a:prstGeom prst="rect">
            <a:avLst/>
          </a:prstGeom>
          <a:noFill/>
          <a:ln w="9525">
            <a:solidFill>
              <a:srgbClr val="DDDDDD"/>
            </a:solidFill>
          </a:ln>
        </p:spPr>
        <p:txBody>
          <a:bodyPr wrap="square" rtlCol="0" anchor="ctr"/>
          <a:lstStyle/>
          <a:p>
            <a:pPr marL="0" indent="0">
              <a:buNone/>
            </a:pPr>
            <a:endParaRPr lang="en-US" dirty="0"/>
          </a:p>
        </p:txBody>
      </p:sp>
      <p:sp>
        <p:nvSpPr>
          <p:cNvPr id="72" name="Text 70"/>
          <p:cNvSpPr/>
          <p:nvPr/>
        </p:nvSpPr>
        <p:spPr>
          <a:xfrm>
            <a:off x="5755779" y="1542752"/>
            <a:ext cx="1454441" cy="106561"/>
          </a:xfrm>
          <a:prstGeom prst="rect">
            <a:avLst/>
          </a:prstGeom>
          <a:noFill/>
          <a:ln/>
        </p:spPr>
        <p:txBody>
          <a:bodyPr wrap="square" lIns="0" tIns="0" rIns="0" bIns="0" rtlCol="0" anchor="t"/>
          <a:lstStyle/>
          <a:p>
            <a:pPr marL="0" indent="0" algn="l">
              <a:lnSpc>
                <a:spcPts val="840"/>
              </a:lnSpc>
              <a:buNone/>
            </a:pPr>
            <a:r>
              <a:rPr lang="en-US" sz="700" b="1" dirty="0">
                <a:solidFill>
                  <a:srgbClr val="E75113"/>
                </a:solidFill>
                <a:latin typeface="Arial" pitchFamily="34" charset="0"/>
                <a:ea typeface="Arial" pitchFamily="34" charset="-122"/>
                <a:cs typeface="Arial" pitchFamily="34" charset="-120"/>
              </a:rPr>
              <a:t>Init Fwd Win Bytes (IG=2.107)</a:t>
            </a:r>
            <a:endParaRPr lang="en-US" sz="700" dirty="0"/>
          </a:p>
        </p:txBody>
      </p:sp>
      <p:sp>
        <p:nvSpPr>
          <p:cNvPr id="73" name="Text 71"/>
          <p:cNvSpPr/>
          <p:nvPr/>
        </p:nvSpPr>
        <p:spPr>
          <a:xfrm>
            <a:off x="7241977" y="1507927"/>
            <a:ext cx="1546473" cy="282773"/>
          </a:xfrm>
          <a:prstGeom prst="rect">
            <a:avLst/>
          </a:prstGeom>
          <a:noFill/>
          <a:ln w="9525">
            <a:solidFill>
              <a:srgbClr val="DDDDDD"/>
            </a:solidFill>
          </a:ln>
        </p:spPr>
        <p:txBody>
          <a:bodyPr wrap="square" rtlCol="0" anchor="ctr"/>
          <a:lstStyle/>
          <a:p>
            <a:pPr marL="0" indent="0">
              <a:buNone/>
            </a:pPr>
            <a:endParaRPr lang="en-US" dirty="0"/>
          </a:p>
        </p:txBody>
      </p:sp>
      <p:sp>
        <p:nvSpPr>
          <p:cNvPr id="74" name="Text 72"/>
          <p:cNvSpPr/>
          <p:nvPr/>
        </p:nvSpPr>
        <p:spPr>
          <a:xfrm>
            <a:off x="7302252" y="1542752"/>
            <a:ext cx="1454441" cy="213122"/>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Flow Pkts/s, Bwd Hdr Len, Fwd Seg Min</a:t>
            </a:r>
            <a:endParaRPr lang="en-US" sz="700" dirty="0"/>
          </a:p>
        </p:txBody>
      </p:sp>
      <p:sp>
        <p:nvSpPr>
          <p:cNvPr id="75" name="Text 73"/>
          <p:cNvSpPr/>
          <p:nvPr/>
        </p:nvSpPr>
        <p:spPr>
          <a:xfrm>
            <a:off x="4648200" y="1828800"/>
            <a:ext cx="1047304" cy="176213"/>
          </a:xfrm>
          <a:prstGeom prst="rect">
            <a:avLst/>
          </a:prstGeom>
          <a:noFill/>
          <a:ln w="9525">
            <a:solidFill>
              <a:srgbClr val="DDDDDD"/>
            </a:solidFill>
          </a:ln>
        </p:spPr>
        <p:txBody>
          <a:bodyPr wrap="square" rtlCol="0" anchor="ctr"/>
          <a:lstStyle/>
          <a:p>
            <a:pPr marL="0" indent="0">
              <a:buNone/>
            </a:pPr>
            <a:endParaRPr lang="en-US" dirty="0"/>
          </a:p>
        </p:txBody>
      </p:sp>
      <p:sp>
        <p:nvSpPr>
          <p:cNvPr id="76" name="Text 74"/>
          <p:cNvSpPr/>
          <p:nvPr/>
        </p:nvSpPr>
        <p:spPr>
          <a:xfrm>
            <a:off x="4708475" y="1863626"/>
            <a:ext cx="945288"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Attention Rollout</a:t>
            </a:r>
            <a:endParaRPr lang="en-US" sz="700" dirty="0"/>
          </a:p>
        </p:txBody>
      </p:sp>
      <p:sp>
        <p:nvSpPr>
          <p:cNvPr id="77" name="Text 75"/>
          <p:cNvSpPr/>
          <p:nvPr/>
        </p:nvSpPr>
        <p:spPr>
          <a:xfrm>
            <a:off x="5695504" y="1828800"/>
            <a:ext cx="1546473" cy="176213"/>
          </a:xfrm>
          <a:prstGeom prst="rect">
            <a:avLst/>
          </a:prstGeom>
          <a:noFill/>
          <a:ln w="9525">
            <a:solidFill>
              <a:srgbClr val="DDDDDD"/>
            </a:solidFill>
          </a:ln>
        </p:spPr>
        <p:txBody>
          <a:bodyPr wrap="square" rtlCol="0" anchor="ctr"/>
          <a:lstStyle/>
          <a:p>
            <a:pPr marL="0" indent="0">
              <a:buNone/>
            </a:pPr>
            <a:endParaRPr lang="en-US" dirty="0"/>
          </a:p>
        </p:txBody>
      </p:sp>
      <p:sp>
        <p:nvSpPr>
          <p:cNvPr id="78" name="Text 76"/>
          <p:cNvSpPr/>
          <p:nvPr/>
        </p:nvSpPr>
        <p:spPr>
          <a:xfrm>
            <a:off x="5755779" y="1863626"/>
            <a:ext cx="1454441" cy="106561"/>
          </a:xfrm>
          <a:prstGeom prst="rect">
            <a:avLst/>
          </a:prstGeom>
          <a:noFill/>
          <a:ln/>
        </p:spPr>
        <p:txBody>
          <a:bodyPr wrap="square" lIns="0" tIns="0" rIns="0" bIns="0" rtlCol="0" anchor="t"/>
          <a:lstStyle/>
          <a:p>
            <a:pPr marL="0" indent="0" algn="l">
              <a:lnSpc>
                <a:spcPts val="840"/>
              </a:lnSpc>
              <a:buNone/>
            </a:pPr>
            <a:r>
              <a:rPr lang="en-US" sz="700" b="1" dirty="0">
                <a:solidFill>
                  <a:srgbClr val="E75113"/>
                </a:solidFill>
                <a:latin typeface="Arial" pitchFamily="34" charset="0"/>
                <a:ea typeface="Arial" pitchFamily="34" charset="-122"/>
                <a:cs typeface="Arial" pitchFamily="34" charset="-120"/>
              </a:rPr>
              <a:t>Fwd IAT Mean</a:t>
            </a:r>
            <a:endParaRPr lang="en-US" sz="700" dirty="0"/>
          </a:p>
        </p:txBody>
      </p:sp>
      <p:sp>
        <p:nvSpPr>
          <p:cNvPr id="79" name="Text 77"/>
          <p:cNvSpPr/>
          <p:nvPr/>
        </p:nvSpPr>
        <p:spPr>
          <a:xfrm>
            <a:off x="7241977" y="1828800"/>
            <a:ext cx="1546473" cy="176213"/>
          </a:xfrm>
          <a:prstGeom prst="rect">
            <a:avLst/>
          </a:prstGeom>
          <a:noFill/>
          <a:ln w="9525">
            <a:solidFill>
              <a:srgbClr val="DDDDDD"/>
            </a:solidFill>
          </a:ln>
        </p:spPr>
        <p:txBody>
          <a:bodyPr wrap="square" rtlCol="0" anchor="ctr"/>
          <a:lstStyle/>
          <a:p>
            <a:pPr marL="0" indent="0">
              <a:buNone/>
            </a:pPr>
            <a:endParaRPr lang="en-US" dirty="0"/>
          </a:p>
        </p:txBody>
      </p:sp>
      <p:sp>
        <p:nvSpPr>
          <p:cNvPr id="80" name="Text 78"/>
          <p:cNvSpPr/>
          <p:nvPr/>
        </p:nvSpPr>
        <p:spPr>
          <a:xfrm>
            <a:off x="7302252" y="1863626"/>
            <a:ext cx="1454441"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Fwd Pkt Max, Flow Bytes/s, Init Win</a:t>
            </a:r>
            <a:endParaRPr lang="en-US" sz="700" dirty="0"/>
          </a:p>
        </p:txBody>
      </p:sp>
      <p:sp>
        <p:nvSpPr>
          <p:cNvPr id="81" name="Text 79"/>
          <p:cNvSpPr/>
          <p:nvPr/>
        </p:nvSpPr>
        <p:spPr>
          <a:xfrm>
            <a:off x="4648200" y="2043113"/>
            <a:ext cx="1047304" cy="176213"/>
          </a:xfrm>
          <a:prstGeom prst="rect">
            <a:avLst/>
          </a:prstGeom>
          <a:noFill/>
          <a:ln w="9525">
            <a:solidFill>
              <a:srgbClr val="DDDDDD"/>
            </a:solidFill>
          </a:ln>
        </p:spPr>
        <p:txBody>
          <a:bodyPr wrap="square" rtlCol="0" anchor="ctr"/>
          <a:lstStyle/>
          <a:p>
            <a:pPr marL="0" indent="0">
              <a:buNone/>
            </a:pPr>
            <a:endParaRPr lang="en-US" dirty="0"/>
          </a:p>
        </p:txBody>
      </p:sp>
      <p:sp>
        <p:nvSpPr>
          <p:cNvPr id="82" name="Text 80"/>
          <p:cNvSpPr/>
          <p:nvPr/>
        </p:nvSpPr>
        <p:spPr>
          <a:xfrm>
            <a:off x="4708475" y="2077938"/>
            <a:ext cx="945288"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ECA Channel Attn</a:t>
            </a:r>
            <a:endParaRPr lang="en-US" sz="700" dirty="0"/>
          </a:p>
        </p:txBody>
      </p:sp>
      <p:sp>
        <p:nvSpPr>
          <p:cNvPr id="83" name="Text 81"/>
          <p:cNvSpPr/>
          <p:nvPr/>
        </p:nvSpPr>
        <p:spPr>
          <a:xfrm>
            <a:off x="5695504" y="2043113"/>
            <a:ext cx="1546473" cy="176213"/>
          </a:xfrm>
          <a:prstGeom prst="rect">
            <a:avLst/>
          </a:prstGeom>
          <a:noFill/>
          <a:ln w="9525">
            <a:solidFill>
              <a:srgbClr val="DDDDDD"/>
            </a:solidFill>
          </a:ln>
        </p:spPr>
        <p:txBody>
          <a:bodyPr wrap="square" rtlCol="0" anchor="ctr"/>
          <a:lstStyle/>
          <a:p>
            <a:pPr marL="0" indent="0">
              <a:buNone/>
            </a:pPr>
            <a:endParaRPr lang="en-US" dirty="0"/>
          </a:p>
        </p:txBody>
      </p:sp>
      <p:sp>
        <p:nvSpPr>
          <p:cNvPr id="84" name="Text 82"/>
          <p:cNvSpPr/>
          <p:nvPr/>
        </p:nvSpPr>
        <p:spPr>
          <a:xfrm>
            <a:off x="5755779" y="2077938"/>
            <a:ext cx="1454441"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mean=0.449, std=0.009</a:t>
            </a:r>
            <a:endParaRPr lang="en-US" sz="700" dirty="0"/>
          </a:p>
        </p:txBody>
      </p:sp>
      <p:sp>
        <p:nvSpPr>
          <p:cNvPr id="85" name="Text 83"/>
          <p:cNvSpPr/>
          <p:nvPr/>
        </p:nvSpPr>
        <p:spPr>
          <a:xfrm>
            <a:off x="7241977" y="2043113"/>
            <a:ext cx="1546473" cy="176213"/>
          </a:xfrm>
          <a:prstGeom prst="rect">
            <a:avLst/>
          </a:prstGeom>
          <a:noFill/>
          <a:ln w="9525">
            <a:solidFill>
              <a:srgbClr val="DDDDDD"/>
            </a:solidFill>
          </a:ln>
        </p:spPr>
        <p:txBody>
          <a:bodyPr wrap="square" rtlCol="0" anchor="ctr"/>
          <a:lstStyle/>
          <a:p>
            <a:pPr marL="0" indent="0">
              <a:buNone/>
            </a:pPr>
            <a:endParaRPr lang="en-US" dirty="0"/>
          </a:p>
        </p:txBody>
      </p:sp>
      <p:sp>
        <p:nvSpPr>
          <p:cNvPr id="86" name="Text 84"/>
          <p:cNvSpPr/>
          <p:nvPr/>
        </p:nvSpPr>
        <p:spPr>
          <a:xfrm>
            <a:off x="7302252" y="2077938"/>
            <a:ext cx="1454441"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CV=0.020 (near-uniform)</a:t>
            </a:r>
            <a:endParaRPr lang="en-US" sz="700" dirty="0"/>
          </a:p>
        </p:txBody>
      </p:sp>
      <p:sp>
        <p:nvSpPr>
          <p:cNvPr id="87" name="Text 85"/>
          <p:cNvSpPr/>
          <p:nvPr/>
        </p:nvSpPr>
        <p:spPr>
          <a:xfrm>
            <a:off x="4648200" y="2282726"/>
            <a:ext cx="4140250" cy="871835"/>
          </a:xfrm>
          <a:prstGeom prst="roundRect">
            <a:avLst>
              <a:gd name="adj" fmla="val 5827"/>
            </a:avLst>
          </a:prstGeom>
          <a:solidFill>
            <a:srgbClr val="F0F2F5"/>
          </a:solidFill>
          <a:ln w="9525">
            <a:solidFill>
              <a:srgbClr val="003C71"/>
            </a:solidFill>
          </a:ln>
        </p:spPr>
        <p:txBody>
          <a:bodyPr wrap="square" rtlCol="0" anchor="ctr"/>
          <a:lstStyle/>
          <a:p>
            <a:pPr marL="0" indent="0">
              <a:buNone/>
            </a:pPr>
            <a:endParaRPr lang="en-US" dirty="0"/>
          </a:p>
        </p:txBody>
      </p:sp>
      <p:sp>
        <p:nvSpPr>
          <p:cNvPr id="88" name="Text 86"/>
          <p:cNvSpPr/>
          <p:nvPr/>
        </p:nvSpPr>
        <p:spPr>
          <a:xfrm>
            <a:off x="4746575" y="2355652"/>
            <a:ext cx="4022369" cy="114300"/>
          </a:xfrm>
          <a:prstGeom prst="rect">
            <a:avLst/>
          </a:prstGeom>
          <a:noFill/>
          <a:ln/>
        </p:spPr>
        <p:txBody>
          <a:bodyPr wrap="square" lIns="0" tIns="0" rIns="0" bIns="0" rtlCol="0" anchor="t"/>
          <a:lstStyle/>
          <a:p>
            <a:pPr marL="0" indent="0" algn="l">
              <a:spcAft>
                <a:spcPts val="200"/>
              </a:spcAft>
              <a:buNone/>
            </a:pPr>
            <a:r>
              <a:rPr lang="en-US" sz="800" b="1" dirty="0">
                <a:solidFill>
                  <a:srgbClr val="003C71"/>
                </a:solidFill>
                <a:latin typeface="Arial" pitchFamily="34" charset="0"/>
                <a:ea typeface="Arial" pitchFamily="34" charset="-122"/>
                <a:cs typeface="Arial" pitchFamily="34" charset="-120"/>
              </a:rPr>
              <a:t>Cross-Model Triangulation</a:t>
            </a:r>
            <a:endParaRPr lang="en-US" sz="800" dirty="0"/>
          </a:p>
        </p:txBody>
      </p:sp>
      <p:sp>
        <p:nvSpPr>
          <p:cNvPr id="89" name="Text 87"/>
          <p:cNvSpPr/>
          <p:nvPr/>
        </p:nvSpPr>
        <p:spPr>
          <a:xfrm>
            <a:off x="4746575" y="2495252"/>
            <a:ext cx="4022369" cy="204192"/>
          </a:xfrm>
          <a:prstGeom prst="rect">
            <a:avLst/>
          </a:prstGeom>
          <a:noFill/>
          <a:ln/>
        </p:spPr>
        <p:txBody>
          <a:bodyPr wrap="square" lIns="0" tIns="0" rIns="0" bIns="0" rtlCol="0" anchor="t"/>
          <a:lstStyle/>
          <a:p>
            <a:pPr marL="0" indent="0" algn="l">
              <a:lnSpc>
                <a:spcPts val="805"/>
              </a:lnSpc>
              <a:spcAft>
                <a:spcPts val="200"/>
              </a:spcAft>
              <a:buNone/>
            </a:pPr>
            <a:r>
              <a:rPr lang="en-US" sz="700" b="1" dirty="0">
                <a:solidFill>
                  <a:srgbClr val="555555"/>
                </a:solidFill>
                <a:latin typeface="Arial" pitchFamily="34" charset="0"/>
                <a:ea typeface="Arial" pitchFamily="34" charset="-122"/>
                <a:cs typeface="Arial" pitchFamily="34" charset="-120"/>
              </a:rPr>
              <a:t>Two methods</a:t>
            </a:r>
            <a:r>
              <a:rPr lang="en-US" sz="700" dirty="0">
                <a:solidFill>
                  <a:srgbClr val="555555"/>
                </a:solidFill>
                <a:latin typeface="Arial" pitchFamily="34" charset="0"/>
                <a:ea typeface="Arial" pitchFamily="34" charset="-122"/>
                <a:cs typeface="Arial" pitchFamily="34" charset="-120"/>
              </a:rPr>
              <a:t> (SHAP: Shapley axioms; IG: completeness axiom) on </a:t>
            </a:r>
            <a:r>
              <a:rPr lang="en-US" sz="700" b="1" dirty="0">
                <a:solidFill>
                  <a:srgbClr val="555555"/>
                </a:solidFill>
                <a:latin typeface="Arial" pitchFamily="34" charset="0"/>
                <a:ea typeface="Arial" pitchFamily="34" charset="-122"/>
                <a:cs typeface="Arial" pitchFamily="34" charset="-120"/>
              </a:rPr>
              <a:t>two architectures</a:t>
            </a:r>
            <a:r>
              <a:rPr lang="en-US" sz="700" dirty="0">
                <a:solidFill>
                  <a:srgbClr val="555555"/>
                </a:solidFill>
                <a:latin typeface="Arial" pitchFamily="34" charset="0"/>
                <a:ea typeface="Arial" pitchFamily="34" charset="-122"/>
                <a:cs typeface="Arial" pitchFamily="34" charset="-120"/>
              </a:rPr>
              <a:t> (RF vs TransECA) </a:t>
            </a:r>
            <a:r>
              <a:rPr lang="en-US" sz="700" b="1" dirty="0">
                <a:solidFill>
                  <a:srgbClr val="555555"/>
                </a:solidFill>
                <a:latin typeface="Arial" pitchFamily="34" charset="0"/>
                <a:ea typeface="Arial" pitchFamily="34" charset="-122"/>
                <a:cs typeface="Arial" pitchFamily="34" charset="-120"/>
              </a:rPr>
              <a:t>converge</a:t>
            </a:r>
            <a:r>
              <a:rPr lang="en-US" sz="700" dirty="0">
                <a:solidFill>
                  <a:srgbClr val="555555"/>
                </a:solidFill>
                <a:latin typeface="Arial" pitchFamily="34" charset="0"/>
                <a:ea typeface="Arial" pitchFamily="34" charset="-122"/>
                <a:cs typeface="Arial" pitchFamily="34" charset="-120"/>
              </a:rPr>
              <a:t>:</a:t>
            </a:r>
            <a:endParaRPr lang="en-US" sz="700" dirty="0"/>
          </a:p>
        </p:txBody>
      </p:sp>
      <p:sp>
        <p:nvSpPr>
          <p:cNvPr id="90" name="Text 88"/>
          <p:cNvSpPr/>
          <p:nvPr/>
        </p:nvSpPr>
        <p:spPr>
          <a:xfrm>
            <a:off x="4746575" y="2724745"/>
            <a:ext cx="4022369" cy="204192"/>
          </a:xfrm>
          <a:prstGeom prst="rect">
            <a:avLst/>
          </a:prstGeom>
          <a:noFill/>
          <a:ln/>
        </p:spPr>
        <p:txBody>
          <a:bodyPr wrap="square" lIns="0" tIns="0" rIns="0" bIns="0" rtlCol="0" anchor="t"/>
          <a:lstStyle/>
          <a:p>
            <a:pPr marL="0" indent="0" algn="l">
              <a:lnSpc>
                <a:spcPts val="805"/>
              </a:lnSpc>
              <a:spcAft>
                <a:spcPts val="200"/>
              </a:spcAft>
              <a:buNone/>
            </a:pPr>
            <a:r>
              <a:rPr lang="en-US" sz="700" dirty="0">
                <a:solidFill>
                  <a:srgbClr val="555555"/>
                </a:solidFill>
                <a:latin typeface="Arial" pitchFamily="34" charset="0"/>
                <a:ea typeface="Arial" pitchFamily="34" charset="-122"/>
                <a:cs typeface="Arial" pitchFamily="34" charset="-120"/>
              </a:rPr>
              <a:t>Both rank </a:t>
            </a:r>
            <a:r>
              <a:rPr lang="en-US" sz="700" b="1" dirty="0">
                <a:solidFill>
                  <a:srgbClr val="555555"/>
                </a:solidFill>
                <a:latin typeface="Arial" pitchFamily="34" charset="0"/>
                <a:ea typeface="Arial" pitchFamily="34" charset="-122"/>
                <a:cs typeface="Arial" pitchFamily="34" charset="-120"/>
              </a:rPr>
              <a:t>Init Win Bytes</a:t>
            </a:r>
            <a:r>
              <a:rPr lang="en-US" sz="700" dirty="0">
                <a:solidFill>
                  <a:srgbClr val="555555"/>
                </a:solidFill>
                <a:latin typeface="Arial" pitchFamily="34" charset="0"/>
                <a:ea typeface="Arial" pitchFamily="34" charset="-122"/>
                <a:cs typeface="Arial" pitchFamily="34" charset="-120"/>
              </a:rPr>
              <a:t> in Top-2; both focus on IAT statistics — aligned with Sharafaldin et al. (2018) domain knowledge.</a:t>
            </a:r>
            <a:endParaRPr lang="en-US" sz="700" dirty="0"/>
          </a:p>
        </p:txBody>
      </p:sp>
      <p:sp>
        <p:nvSpPr>
          <p:cNvPr id="91" name="Text 89"/>
          <p:cNvSpPr/>
          <p:nvPr/>
        </p:nvSpPr>
        <p:spPr>
          <a:xfrm>
            <a:off x="4746575" y="2954238"/>
            <a:ext cx="4022369" cy="102096"/>
          </a:xfrm>
          <a:prstGeom prst="rect">
            <a:avLst/>
          </a:prstGeom>
          <a:noFill/>
          <a:ln/>
        </p:spPr>
        <p:txBody>
          <a:bodyPr wrap="square" lIns="0" tIns="0" rIns="0" bIns="0" rtlCol="0" anchor="t"/>
          <a:lstStyle/>
          <a:p>
            <a:pPr marL="0" indent="0" algn="l">
              <a:lnSpc>
                <a:spcPts val="805"/>
              </a:lnSpc>
              <a:spcAft>
                <a:spcPts val="200"/>
              </a:spcAft>
              <a:buNone/>
            </a:pPr>
            <a:r>
              <a:rPr lang="en-US" sz="700" b="1" dirty="0">
                <a:solidFill>
                  <a:srgbClr val="555555"/>
                </a:solidFill>
                <a:latin typeface="Arial" pitchFamily="34" charset="0"/>
                <a:ea typeface="Arial" pitchFamily="34" charset="-122"/>
                <a:cs typeface="Arial" pitchFamily="34" charset="-120"/>
              </a:rPr>
              <a:t>Independent guarantees x Independent models = High credibility</a:t>
            </a:r>
            <a:endParaRPr lang="en-US" sz="700" dirty="0"/>
          </a:p>
        </p:txBody>
      </p:sp>
      <p:sp>
        <p:nvSpPr>
          <p:cNvPr id="92" name="Text 90"/>
          <p:cNvSpPr/>
          <p:nvPr/>
        </p:nvSpPr>
        <p:spPr>
          <a:xfrm>
            <a:off x="0" y="4950619"/>
            <a:ext cx="9144000" cy="192881"/>
          </a:xfrm>
          <a:prstGeom prst="rect">
            <a:avLst/>
          </a:prstGeom>
          <a:solidFill>
            <a:srgbClr val="F0F2F5"/>
          </a:solidFill>
          <a:ln/>
        </p:spPr>
        <p:txBody>
          <a:bodyPr wrap="square" rtlCol="0" anchor="ctr"/>
          <a:lstStyle/>
          <a:p>
            <a:pPr marL="0" indent="0">
              <a:buNone/>
            </a:pPr>
            <a:endParaRPr lang="en-US" dirty="0"/>
          </a:p>
        </p:txBody>
      </p:sp>
      <p:sp>
        <p:nvSpPr>
          <p:cNvPr id="93" name="Text 91"/>
          <p:cNvSpPr/>
          <p:nvPr/>
        </p:nvSpPr>
        <p:spPr>
          <a:xfrm>
            <a:off x="355550" y="5001369"/>
            <a:ext cx="8601557" cy="91380"/>
          </a:xfrm>
          <a:prstGeom prst="rect">
            <a:avLst/>
          </a:prstGeom>
          <a:noFill/>
          <a:ln/>
        </p:spPr>
        <p:txBody>
          <a:bodyPr wrap="square" lIns="0" tIns="0" rIns="0" bIns="0" rtlCol="0" anchor="t"/>
          <a:lstStyle/>
          <a:p>
            <a:pPr marL="0" indent="0" algn="l">
              <a:lnSpc>
                <a:spcPts val="720"/>
              </a:lnSpc>
              <a:buNone/>
            </a:pPr>
            <a:r>
              <a:rPr lang="en-US" sz="600" dirty="0">
                <a:solidFill>
                  <a:srgbClr val="888888"/>
                </a:solidFill>
                <a:latin typeface="Arial" pitchFamily="34" charset="0"/>
                <a:ea typeface="Arial" pitchFamily="34" charset="-122"/>
                <a:cs typeface="Arial" pitchFamily="34" charset="-120"/>
              </a:rPr>
              <a:t>Lundberg, S. M., &amp; Lee, S. I. (2017). SHAP. | Sundararajan, M., et al. (2017). IG. | Sharafaldin, I., et al. (2018). CIC-IDS2017.</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4553685"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Statistical Reliability: Bootstrap CI (E6)</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355550" y="723751"/>
            <a:ext cx="4210151" cy="114300"/>
          </a:xfrm>
          <a:prstGeom prst="rect">
            <a:avLst/>
          </a:prstGeom>
          <a:noFill/>
          <a:ln/>
        </p:spPr>
        <p:txBody>
          <a:bodyPr wrap="square" lIns="0" tIns="0" rIns="0" bIns="0" rtlCol="0" anchor="t"/>
          <a:lstStyle/>
          <a:p>
            <a:pPr marL="0" indent="0" algn="l">
              <a:spcAft>
                <a:spcPts val="100"/>
              </a:spcAft>
              <a:buNone/>
            </a:pPr>
            <a:r>
              <a:rPr lang="en-US" sz="800" b="1" dirty="0">
                <a:solidFill>
                  <a:srgbClr val="333333"/>
                </a:solidFill>
                <a:latin typeface="Arial" pitchFamily="34" charset="0"/>
                <a:ea typeface="Arial" pitchFamily="34" charset="-122"/>
                <a:cs typeface="Arial" pitchFamily="34" charset="-120"/>
              </a:rPr>
              <a:t>Table 7</a:t>
            </a:r>
            <a:endParaRPr lang="en-US" sz="800" dirty="0"/>
          </a:p>
        </p:txBody>
      </p:sp>
      <p:sp>
        <p:nvSpPr>
          <p:cNvPr id="7" name="Text 5"/>
          <p:cNvSpPr/>
          <p:nvPr/>
        </p:nvSpPr>
        <p:spPr>
          <a:xfrm>
            <a:off x="355550" y="888802"/>
            <a:ext cx="4210151" cy="114300"/>
          </a:xfrm>
          <a:prstGeom prst="rect">
            <a:avLst/>
          </a:prstGeom>
          <a:noFill/>
          <a:ln/>
        </p:spPr>
        <p:txBody>
          <a:bodyPr wrap="square" lIns="0" tIns="0" rIns="0" bIns="0" rtlCol="0" anchor="t"/>
          <a:lstStyle/>
          <a:p>
            <a:pPr marL="0" indent="0" algn="l">
              <a:spcAft>
                <a:spcPts val="200"/>
              </a:spcAft>
              <a:buNone/>
            </a:pPr>
            <a:r>
              <a:rPr lang="en-US" sz="800" i="1" dirty="0">
                <a:solidFill>
                  <a:srgbClr val="333333"/>
                </a:solidFill>
                <a:latin typeface="Arial" pitchFamily="34" charset="0"/>
                <a:ea typeface="Arial" pitchFamily="34" charset="-122"/>
                <a:cs typeface="Arial" pitchFamily="34" charset="-120"/>
              </a:rPr>
              <a:t>Bootstrap 95% Confidence Intervals for Stage 1 and Stage 2 Metrics (E6)</a:t>
            </a:r>
            <a:endParaRPr lang="en-US" sz="800" dirty="0"/>
          </a:p>
        </p:txBody>
      </p:sp>
      <p:sp>
        <p:nvSpPr>
          <p:cNvPr id="8" name="Text 6"/>
          <p:cNvSpPr/>
          <p:nvPr/>
        </p:nvSpPr>
        <p:spPr>
          <a:xfrm>
            <a:off x="355550" y="1066502"/>
            <a:ext cx="761405"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9" name="Text 7"/>
          <p:cNvSpPr/>
          <p:nvPr/>
        </p:nvSpPr>
        <p:spPr>
          <a:xfrm>
            <a:off x="415826" y="1114127"/>
            <a:ext cx="653671"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Stage</a:t>
            </a:r>
            <a:endParaRPr lang="en-US" sz="700" dirty="0"/>
          </a:p>
        </p:txBody>
      </p:sp>
      <p:sp>
        <p:nvSpPr>
          <p:cNvPr id="10" name="Text 8"/>
          <p:cNvSpPr/>
          <p:nvPr/>
        </p:nvSpPr>
        <p:spPr>
          <a:xfrm>
            <a:off x="1116955" y="1066502"/>
            <a:ext cx="761554"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1" name="Text 9"/>
          <p:cNvSpPr/>
          <p:nvPr/>
        </p:nvSpPr>
        <p:spPr>
          <a:xfrm>
            <a:off x="1177230" y="1114127"/>
            <a:ext cx="653823"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Metric</a:t>
            </a:r>
            <a:endParaRPr lang="en-US" sz="700" dirty="0"/>
          </a:p>
        </p:txBody>
      </p:sp>
      <p:sp>
        <p:nvSpPr>
          <p:cNvPr id="12" name="Text 10"/>
          <p:cNvSpPr/>
          <p:nvPr/>
        </p:nvSpPr>
        <p:spPr>
          <a:xfrm>
            <a:off x="1878509" y="1066502"/>
            <a:ext cx="761405"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3" name="Text 11"/>
          <p:cNvSpPr/>
          <p:nvPr/>
        </p:nvSpPr>
        <p:spPr>
          <a:xfrm>
            <a:off x="1938784" y="1114127"/>
            <a:ext cx="653671"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Estimate</a:t>
            </a:r>
            <a:endParaRPr lang="en-US" sz="700" dirty="0"/>
          </a:p>
        </p:txBody>
      </p:sp>
      <p:sp>
        <p:nvSpPr>
          <p:cNvPr id="14" name="Text 12"/>
          <p:cNvSpPr/>
          <p:nvPr/>
        </p:nvSpPr>
        <p:spPr>
          <a:xfrm>
            <a:off x="2639913" y="1066502"/>
            <a:ext cx="1081832"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5" name="Text 13"/>
          <p:cNvSpPr/>
          <p:nvPr/>
        </p:nvSpPr>
        <p:spPr>
          <a:xfrm>
            <a:off x="2700189" y="1114127"/>
            <a:ext cx="980506"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95% CI</a:t>
            </a:r>
            <a:endParaRPr lang="en-US" sz="700" dirty="0"/>
          </a:p>
        </p:txBody>
      </p:sp>
      <p:sp>
        <p:nvSpPr>
          <p:cNvPr id="16" name="Text 14"/>
          <p:cNvSpPr/>
          <p:nvPr/>
        </p:nvSpPr>
        <p:spPr>
          <a:xfrm>
            <a:off x="3721745" y="1066502"/>
            <a:ext cx="761405"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7" name="Text 15"/>
          <p:cNvSpPr/>
          <p:nvPr/>
        </p:nvSpPr>
        <p:spPr>
          <a:xfrm>
            <a:off x="3782020" y="1114127"/>
            <a:ext cx="653671"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Width</a:t>
            </a:r>
            <a:endParaRPr lang="en-US" sz="700" dirty="0"/>
          </a:p>
        </p:txBody>
      </p:sp>
      <p:sp>
        <p:nvSpPr>
          <p:cNvPr id="18" name="Text 16"/>
          <p:cNvSpPr/>
          <p:nvPr/>
        </p:nvSpPr>
        <p:spPr>
          <a:xfrm>
            <a:off x="355550" y="12951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19" name="Text 17"/>
          <p:cNvSpPr/>
          <p:nvPr/>
        </p:nvSpPr>
        <p:spPr>
          <a:xfrm>
            <a:off x="415826" y="1342727"/>
            <a:ext cx="653671" cy="95250"/>
          </a:xfrm>
          <a:prstGeom prst="rect">
            <a:avLst/>
          </a:prstGeom>
          <a:noFill/>
          <a:ln/>
        </p:spPr>
        <p:txBody>
          <a:bodyPr wrap="square" lIns="0" tIns="0" rIns="0" bIns="0" rtlCol="0" anchor="t"/>
          <a:lstStyle/>
          <a:p>
            <a:pPr marL="0" indent="0" algn="l">
              <a:buNone/>
            </a:pPr>
            <a:r>
              <a:rPr lang="en-US" sz="700" b="1" dirty="0">
                <a:solidFill>
                  <a:srgbClr val="333333"/>
                </a:solidFill>
                <a:latin typeface="Arial" pitchFamily="34" charset="0"/>
                <a:ea typeface="Arial" pitchFamily="34" charset="-122"/>
                <a:cs typeface="Arial" pitchFamily="34" charset="-120"/>
              </a:rPr>
              <a:t>S1 RF</a:t>
            </a:r>
            <a:endParaRPr lang="en-US" sz="700" dirty="0"/>
          </a:p>
        </p:txBody>
      </p:sp>
      <p:sp>
        <p:nvSpPr>
          <p:cNvPr id="20" name="Text 18"/>
          <p:cNvSpPr/>
          <p:nvPr/>
        </p:nvSpPr>
        <p:spPr>
          <a:xfrm>
            <a:off x="1116955" y="1295102"/>
            <a:ext cx="761554" cy="190500"/>
          </a:xfrm>
          <a:prstGeom prst="rect">
            <a:avLst/>
          </a:prstGeom>
          <a:noFill/>
          <a:ln w="9525">
            <a:solidFill>
              <a:srgbClr val="DDDDDD"/>
            </a:solidFill>
          </a:ln>
        </p:spPr>
        <p:txBody>
          <a:bodyPr wrap="square" rtlCol="0" anchor="ctr"/>
          <a:lstStyle/>
          <a:p>
            <a:pPr marL="0" indent="0">
              <a:buNone/>
            </a:pPr>
            <a:endParaRPr lang="en-US" dirty="0"/>
          </a:p>
        </p:txBody>
      </p:sp>
      <p:sp>
        <p:nvSpPr>
          <p:cNvPr id="21" name="Text 19"/>
          <p:cNvSpPr/>
          <p:nvPr/>
        </p:nvSpPr>
        <p:spPr>
          <a:xfrm>
            <a:off x="1177230" y="1342727"/>
            <a:ext cx="653823"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Acc</a:t>
            </a:r>
            <a:endParaRPr lang="en-US" sz="700" dirty="0"/>
          </a:p>
        </p:txBody>
      </p:sp>
      <p:sp>
        <p:nvSpPr>
          <p:cNvPr id="22" name="Text 20"/>
          <p:cNvSpPr/>
          <p:nvPr/>
        </p:nvSpPr>
        <p:spPr>
          <a:xfrm>
            <a:off x="1878509" y="12951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23" name="Text 21"/>
          <p:cNvSpPr/>
          <p:nvPr/>
        </p:nvSpPr>
        <p:spPr>
          <a:xfrm>
            <a:off x="1938784" y="1342727"/>
            <a:ext cx="653671"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0.9991</a:t>
            </a:r>
            <a:endParaRPr lang="en-US" sz="700" dirty="0"/>
          </a:p>
        </p:txBody>
      </p:sp>
      <p:sp>
        <p:nvSpPr>
          <p:cNvPr id="24" name="Text 22"/>
          <p:cNvSpPr/>
          <p:nvPr/>
        </p:nvSpPr>
        <p:spPr>
          <a:xfrm>
            <a:off x="2639913" y="1295102"/>
            <a:ext cx="1081832" cy="190500"/>
          </a:xfrm>
          <a:prstGeom prst="rect">
            <a:avLst/>
          </a:prstGeom>
          <a:noFill/>
          <a:ln w="9525">
            <a:solidFill>
              <a:srgbClr val="DDDDDD"/>
            </a:solidFill>
          </a:ln>
        </p:spPr>
        <p:txBody>
          <a:bodyPr wrap="square" rtlCol="0" anchor="ctr"/>
          <a:lstStyle/>
          <a:p>
            <a:pPr marL="0" indent="0">
              <a:buNone/>
            </a:pPr>
            <a:endParaRPr lang="en-US" dirty="0"/>
          </a:p>
        </p:txBody>
      </p:sp>
      <p:sp>
        <p:nvSpPr>
          <p:cNvPr id="25" name="Text 23"/>
          <p:cNvSpPr/>
          <p:nvPr/>
        </p:nvSpPr>
        <p:spPr>
          <a:xfrm>
            <a:off x="2700189" y="1342727"/>
            <a:ext cx="980506"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[0.9990, 0.9992]</a:t>
            </a:r>
            <a:endParaRPr lang="en-US" sz="700" dirty="0"/>
          </a:p>
        </p:txBody>
      </p:sp>
      <p:sp>
        <p:nvSpPr>
          <p:cNvPr id="26" name="Text 24"/>
          <p:cNvSpPr/>
          <p:nvPr/>
        </p:nvSpPr>
        <p:spPr>
          <a:xfrm>
            <a:off x="3721745" y="12951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27" name="Text 25"/>
          <p:cNvSpPr/>
          <p:nvPr/>
        </p:nvSpPr>
        <p:spPr>
          <a:xfrm>
            <a:off x="3782020" y="1342727"/>
            <a:ext cx="653671"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0.0002</a:t>
            </a:r>
            <a:endParaRPr lang="en-US" sz="700" dirty="0"/>
          </a:p>
        </p:txBody>
      </p:sp>
      <p:sp>
        <p:nvSpPr>
          <p:cNvPr id="28" name="Text 26"/>
          <p:cNvSpPr/>
          <p:nvPr/>
        </p:nvSpPr>
        <p:spPr>
          <a:xfrm>
            <a:off x="355550" y="15237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29" name="Text 27"/>
          <p:cNvSpPr/>
          <p:nvPr/>
        </p:nvSpPr>
        <p:spPr>
          <a:xfrm>
            <a:off x="415826" y="1571327"/>
            <a:ext cx="653671" cy="95250"/>
          </a:xfrm>
          <a:prstGeom prst="rect">
            <a:avLst/>
          </a:prstGeom>
          <a:noFill/>
          <a:ln/>
        </p:spPr>
        <p:txBody>
          <a:bodyPr wrap="square" lIns="0" tIns="0" rIns="0" bIns="0" rtlCol="0" anchor="t"/>
          <a:lstStyle/>
          <a:p>
            <a:pPr marL="0" indent="0" algn="l">
              <a:buNone/>
            </a:pPr>
            <a:r>
              <a:rPr lang="en-US" sz="700" b="1" dirty="0">
                <a:solidFill>
                  <a:srgbClr val="333333"/>
                </a:solidFill>
                <a:latin typeface="Arial" pitchFamily="34" charset="0"/>
                <a:ea typeface="Arial" pitchFamily="34" charset="-122"/>
                <a:cs typeface="Arial" pitchFamily="34" charset="-120"/>
              </a:rPr>
              <a:t>S1 RF</a:t>
            </a:r>
            <a:endParaRPr lang="en-US" sz="700" dirty="0"/>
          </a:p>
        </p:txBody>
      </p:sp>
      <p:sp>
        <p:nvSpPr>
          <p:cNvPr id="30" name="Text 28"/>
          <p:cNvSpPr/>
          <p:nvPr/>
        </p:nvSpPr>
        <p:spPr>
          <a:xfrm>
            <a:off x="1116955" y="1523702"/>
            <a:ext cx="761554" cy="190500"/>
          </a:xfrm>
          <a:prstGeom prst="rect">
            <a:avLst/>
          </a:prstGeom>
          <a:noFill/>
          <a:ln w="9525">
            <a:solidFill>
              <a:srgbClr val="DDDDDD"/>
            </a:solidFill>
          </a:ln>
        </p:spPr>
        <p:txBody>
          <a:bodyPr wrap="square" rtlCol="0" anchor="ctr"/>
          <a:lstStyle/>
          <a:p>
            <a:pPr marL="0" indent="0">
              <a:buNone/>
            </a:pPr>
            <a:endParaRPr lang="en-US" dirty="0"/>
          </a:p>
        </p:txBody>
      </p:sp>
      <p:sp>
        <p:nvSpPr>
          <p:cNvPr id="31" name="Text 29"/>
          <p:cNvSpPr/>
          <p:nvPr/>
        </p:nvSpPr>
        <p:spPr>
          <a:xfrm>
            <a:off x="1177230" y="1571327"/>
            <a:ext cx="653823"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W-F1</a:t>
            </a:r>
            <a:endParaRPr lang="en-US" sz="700" dirty="0"/>
          </a:p>
        </p:txBody>
      </p:sp>
      <p:sp>
        <p:nvSpPr>
          <p:cNvPr id="32" name="Text 30"/>
          <p:cNvSpPr/>
          <p:nvPr/>
        </p:nvSpPr>
        <p:spPr>
          <a:xfrm>
            <a:off x="1878509" y="15237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33" name="Text 31"/>
          <p:cNvSpPr/>
          <p:nvPr/>
        </p:nvSpPr>
        <p:spPr>
          <a:xfrm>
            <a:off x="1938784" y="1571327"/>
            <a:ext cx="653671"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0.9991</a:t>
            </a:r>
            <a:endParaRPr lang="en-US" sz="700" dirty="0"/>
          </a:p>
        </p:txBody>
      </p:sp>
      <p:sp>
        <p:nvSpPr>
          <p:cNvPr id="34" name="Text 32"/>
          <p:cNvSpPr/>
          <p:nvPr/>
        </p:nvSpPr>
        <p:spPr>
          <a:xfrm>
            <a:off x="2639913" y="1523702"/>
            <a:ext cx="1081832" cy="190500"/>
          </a:xfrm>
          <a:prstGeom prst="rect">
            <a:avLst/>
          </a:prstGeom>
          <a:noFill/>
          <a:ln w="9525">
            <a:solidFill>
              <a:srgbClr val="DDDDDD"/>
            </a:solidFill>
          </a:ln>
        </p:spPr>
        <p:txBody>
          <a:bodyPr wrap="square" rtlCol="0" anchor="ctr"/>
          <a:lstStyle/>
          <a:p>
            <a:pPr marL="0" indent="0">
              <a:buNone/>
            </a:pPr>
            <a:endParaRPr lang="en-US" dirty="0"/>
          </a:p>
        </p:txBody>
      </p:sp>
      <p:sp>
        <p:nvSpPr>
          <p:cNvPr id="35" name="Text 33"/>
          <p:cNvSpPr/>
          <p:nvPr/>
        </p:nvSpPr>
        <p:spPr>
          <a:xfrm>
            <a:off x="2700189" y="1571327"/>
            <a:ext cx="980506"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[0.9990, 0.9992]</a:t>
            </a:r>
            <a:endParaRPr lang="en-US" sz="700" dirty="0"/>
          </a:p>
        </p:txBody>
      </p:sp>
      <p:sp>
        <p:nvSpPr>
          <p:cNvPr id="36" name="Text 34"/>
          <p:cNvSpPr/>
          <p:nvPr/>
        </p:nvSpPr>
        <p:spPr>
          <a:xfrm>
            <a:off x="3721745" y="15237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37" name="Text 35"/>
          <p:cNvSpPr/>
          <p:nvPr/>
        </p:nvSpPr>
        <p:spPr>
          <a:xfrm>
            <a:off x="3782020" y="1571327"/>
            <a:ext cx="653671"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0.0002</a:t>
            </a:r>
            <a:endParaRPr lang="en-US" sz="700" dirty="0"/>
          </a:p>
        </p:txBody>
      </p:sp>
      <p:sp>
        <p:nvSpPr>
          <p:cNvPr id="38" name="Text 36"/>
          <p:cNvSpPr/>
          <p:nvPr/>
        </p:nvSpPr>
        <p:spPr>
          <a:xfrm>
            <a:off x="355550" y="17523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39" name="Text 37"/>
          <p:cNvSpPr/>
          <p:nvPr/>
        </p:nvSpPr>
        <p:spPr>
          <a:xfrm>
            <a:off x="415826" y="1799927"/>
            <a:ext cx="653671" cy="95250"/>
          </a:xfrm>
          <a:prstGeom prst="rect">
            <a:avLst/>
          </a:prstGeom>
          <a:noFill/>
          <a:ln/>
        </p:spPr>
        <p:txBody>
          <a:bodyPr wrap="square" lIns="0" tIns="0" rIns="0" bIns="0" rtlCol="0" anchor="t"/>
          <a:lstStyle/>
          <a:p>
            <a:pPr marL="0" indent="0" algn="l">
              <a:buNone/>
            </a:pPr>
            <a:r>
              <a:rPr lang="en-US" sz="700" b="1" dirty="0">
                <a:solidFill>
                  <a:srgbClr val="333333"/>
                </a:solidFill>
                <a:latin typeface="Arial" pitchFamily="34" charset="0"/>
                <a:ea typeface="Arial" pitchFamily="34" charset="-122"/>
                <a:cs typeface="Arial" pitchFamily="34" charset="-120"/>
              </a:rPr>
              <a:t>S1 RF</a:t>
            </a:r>
            <a:endParaRPr lang="en-US" sz="700" dirty="0"/>
          </a:p>
        </p:txBody>
      </p:sp>
      <p:sp>
        <p:nvSpPr>
          <p:cNvPr id="40" name="Text 38"/>
          <p:cNvSpPr/>
          <p:nvPr/>
        </p:nvSpPr>
        <p:spPr>
          <a:xfrm>
            <a:off x="1116955" y="1752302"/>
            <a:ext cx="761554" cy="190500"/>
          </a:xfrm>
          <a:prstGeom prst="rect">
            <a:avLst/>
          </a:prstGeom>
          <a:noFill/>
          <a:ln w="9525">
            <a:solidFill>
              <a:srgbClr val="DDDDDD"/>
            </a:solidFill>
          </a:ln>
        </p:spPr>
        <p:txBody>
          <a:bodyPr wrap="square" rtlCol="0" anchor="ctr"/>
          <a:lstStyle/>
          <a:p>
            <a:pPr marL="0" indent="0">
              <a:buNone/>
            </a:pPr>
            <a:endParaRPr lang="en-US" dirty="0"/>
          </a:p>
        </p:txBody>
      </p:sp>
      <p:sp>
        <p:nvSpPr>
          <p:cNvPr id="41" name="Text 39"/>
          <p:cNvSpPr/>
          <p:nvPr/>
        </p:nvSpPr>
        <p:spPr>
          <a:xfrm>
            <a:off x="1177230" y="1799927"/>
            <a:ext cx="653823"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M-F1</a:t>
            </a:r>
            <a:endParaRPr lang="en-US" sz="700" dirty="0"/>
          </a:p>
        </p:txBody>
      </p:sp>
      <p:sp>
        <p:nvSpPr>
          <p:cNvPr id="42" name="Text 40"/>
          <p:cNvSpPr/>
          <p:nvPr/>
        </p:nvSpPr>
        <p:spPr>
          <a:xfrm>
            <a:off x="1878509" y="17523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43" name="Text 41"/>
          <p:cNvSpPr/>
          <p:nvPr/>
        </p:nvSpPr>
        <p:spPr>
          <a:xfrm>
            <a:off x="1938784" y="1799927"/>
            <a:ext cx="653671"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0.9982</a:t>
            </a:r>
            <a:endParaRPr lang="en-US" sz="700" dirty="0"/>
          </a:p>
        </p:txBody>
      </p:sp>
      <p:sp>
        <p:nvSpPr>
          <p:cNvPr id="44" name="Text 42"/>
          <p:cNvSpPr/>
          <p:nvPr/>
        </p:nvSpPr>
        <p:spPr>
          <a:xfrm>
            <a:off x="2639913" y="1752302"/>
            <a:ext cx="1081832" cy="190500"/>
          </a:xfrm>
          <a:prstGeom prst="rect">
            <a:avLst/>
          </a:prstGeom>
          <a:noFill/>
          <a:ln w="9525">
            <a:solidFill>
              <a:srgbClr val="DDDDDD"/>
            </a:solidFill>
          </a:ln>
        </p:spPr>
        <p:txBody>
          <a:bodyPr wrap="square" rtlCol="0" anchor="ctr"/>
          <a:lstStyle/>
          <a:p>
            <a:pPr marL="0" indent="0">
              <a:buNone/>
            </a:pPr>
            <a:endParaRPr lang="en-US" dirty="0"/>
          </a:p>
        </p:txBody>
      </p:sp>
      <p:sp>
        <p:nvSpPr>
          <p:cNvPr id="45" name="Text 43"/>
          <p:cNvSpPr/>
          <p:nvPr/>
        </p:nvSpPr>
        <p:spPr>
          <a:xfrm>
            <a:off x="2700189" y="1799927"/>
            <a:ext cx="980506"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[0.9980, 0.9983]</a:t>
            </a:r>
            <a:endParaRPr lang="en-US" sz="700" dirty="0"/>
          </a:p>
        </p:txBody>
      </p:sp>
      <p:sp>
        <p:nvSpPr>
          <p:cNvPr id="46" name="Text 44"/>
          <p:cNvSpPr/>
          <p:nvPr/>
        </p:nvSpPr>
        <p:spPr>
          <a:xfrm>
            <a:off x="3721745" y="17523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47" name="Text 45"/>
          <p:cNvSpPr/>
          <p:nvPr/>
        </p:nvSpPr>
        <p:spPr>
          <a:xfrm>
            <a:off x="3782020" y="1799927"/>
            <a:ext cx="653671"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0.0003</a:t>
            </a:r>
            <a:endParaRPr lang="en-US" sz="700" dirty="0"/>
          </a:p>
        </p:txBody>
      </p:sp>
      <p:sp>
        <p:nvSpPr>
          <p:cNvPr id="48" name="Text 46"/>
          <p:cNvSpPr/>
          <p:nvPr/>
        </p:nvSpPr>
        <p:spPr>
          <a:xfrm>
            <a:off x="355550" y="19809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49" name="Text 47"/>
          <p:cNvSpPr/>
          <p:nvPr/>
        </p:nvSpPr>
        <p:spPr>
          <a:xfrm>
            <a:off x="415826" y="2028527"/>
            <a:ext cx="653671" cy="95250"/>
          </a:xfrm>
          <a:prstGeom prst="rect">
            <a:avLst/>
          </a:prstGeom>
          <a:noFill/>
          <a:ln/>
        </p:spPr>
        <p:txBody>
          <a:bodyPr wrap="square" lIns="0" tIns="0" rIns="0" bIns="0" rtlCol="0" anchor="t"/>
          <a:lstStyle/>
          <a:p>
            <a:pPr marL="0" indent="0" algn="l">
              <a:buNone/>
            </a:pPr>
            <a:r>
              <a:rPr lang="en-US" sz="700" b="1" dirty="0">
                <a:solidFill>
                  <a:srgbClr val="333333"/>
                </a:solidFill>
                <a:latin typeface="Arial" pitchFamily="34" charset="0"/>
                <a:ea typeface="Arial" pitchFamily="34" charset="-122"/>
                <a:cs typeface="Arial" pitchFamily="34" charset="-120"/>
              </a:rPr>
              <a:t>S2 DL</a:t>
            </a:r>
            <a:endParaRPr lang="en-US" sz="700" dirty="0"/>
          </a:p>
        </p:txBody>
      </p:sp>
      <p:sp>
        <p:nvSpPr>
          <p:cNvPr id="50" name="Text 48"/>
          <p:cNvSpPr/>
          <p:nvPr/>
        </p:nvSpPr>
        <p:spPr>
          <a:xfrm>
            <a:off x="1116955" y="1980902"/>
            <a:ext cx="761554" cy="190500"/>
          </a:xfrm>
          <a:prstGeom prst="rect">
            <a:avLst/>
          </a:prstGeom>
          <a:noFill/>
          <a:ln w="9525">
            <a:solidFill>
              <a:srgbClr val="DDDDDD"/>
            </a:solidFill>
          </a:ln>
        </p:spPr>
        <p:txBody>
          <a:bodyPr wrap="square" rtlCol="0" anchor="ctr"/>
          <a:lstStyle/>
          <a:p>
            <a:pPr marL="0" indent="0">
              <a:buNone/>
            </a:pPr>
            <a:endParaRPr lang="en-US" dirty="0"/>
          </a:p>
        </p:txBody>
      </p:sp>
      <p:sp>
        <p:nvSpPr>
          <p:cNvPr id="51" name="Text 49"/>
          <p:cNvSpPr/>
          <p:nvPr/>
        </p:nvSpPr>
        <p:spPr>
          <a:xfrm>
            <a:off x="1177230" y="2028527"/>
            <a:ext cx="653823"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Acc</a:t>
            </a:r>
            <a:endParaRPr lang="en-US" sz="700" dirty="0"/>
          </a:p>
        </p:txBody>
      </p:sp>
      <p:sp>
        <p:nvSpPr>
          <p:cNvPr id="52" name="Text 50"/>
          <p:cNvSpPr/>
          <p:nvPr/>
        </p:nvSpPr>
        <p:spPr>
          <a:xfrm>
            <a:off x="1878509" y="19809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53" name="Text 51"/>
          <p:cNvSpPr/>
          <p:nvPr/>
        </p:nvSpPr>
        <p:spPr>
          <a:xfrm>
            <a:off x="1938784" y="2028527"/>
            <a:ext cx="653671"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0.9259</a:t>
            </a:r>
            <a:endParaRPr lang="en-US" sz="700" dirty="0"/>
          </a:p>
        </p:txBody>
      </p:sp>
      <p:sp>
        <p:nvSpPr>
          <p:cNvPr id="54" name="Text 52"/>
          <p:cNvSpPr/>
          <p:nvPr/>
        </p:nvSpPr>
        <p:spPr>
          <a:xfrm>
            <a:off x="2639913" y="1980902"/>
            <a:ext cx="1081832" cy="190500"/>
          </a:xfrm>
          <a:prstGeom prst="rect">
            <a:avLst/>
          </a:prstGeom>
          <a:noFill/>
          <a:ln w="9525">
            <a:solidFill>
              <a:srgbClr val="DDDDDD"/>
            </a:solidFill>
          </a:ln>
        </p:spPr>
        <p:txBody>
          <a:bodyPr wrap="square" rtlCol="0" anchor="ctr"/>
          <a:lstStyle/>
          <a:p>
            <a:pPr marL="0" indent="0">
              <a:buNone/>
            </a:pPr>
            <a:endParaRPr lang="en-US" dirty="0"/>
          </a:p>
        </p:txBody>
      </p:sp>
      <p:sp>
        <p:nvSpPr>
          <p:cNvPr id="55" name="Text 53"/>
          <p:cNvSpPr/>
          <p:nvPr/>
        </p:nvSpPr>
        <p:spPr>
          <a:xfrm>
            <a:off x="2700189" y="2028527"/>
            <a:ext cx="980506"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[0.9237, 0.9279]</a:t>
            </a:r>
            <a:endParaRPr lang="en-US" sz="700" dirty="0"/>
          </a:p>
        </p:txBody>
      </p:sp>
      <p:sp>
        <p:nvSpPr>
          <p:cNvPr id="56" name="Text 54"/>
          <p:cNvSpPr/>
          <p:nvPr/>
        </p:nvSpPr>
        <p:spPr>
          <a:xfrm>
            <a:off x="3721745" y="19809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57" name="Text 55"/>
          <p:cNvSpPr/>
          <p:nvPr/>
        </p:nvSpPr>
        <p:spPr>
          <a:xfrm>
            <a:off x="3782020" y="2028527"/>
            <a:ext cx="653671"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0.0042</a:t>
            </a:r>
            <a:endParaRPr lang="en-US" sz="700" dirty="0"/>
          </a:p>
        </p:txBody>
      </p:sp>
      <p:sp>
        <p:nvSpPr>
          <p:cNvPr id="58" name="Text 56"/>
          <p:cNvSpPr/>
          <p:nvPr/>
        </p:nvSpPr>
        <p:spPr>
          <a:xfrm>
            <a:off x="355550" y="22095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59" name="Text 57"/>
          <p:cNvSpPr/>
          <p:nvPr/>
        </p:nvSpPr>
        <p:spPr>
          <a:xfrm>
            <a:off x="415826" y="2257127"/>
            <a:ext cx="653671" cy="95250"/>
          </a:xfrm>
          <a:prstGeom prst="rect">
            <a:avLst/>
          </a:prstGeom>
          <a:noFill/>
          <a:ln/>
        </p:spPr>
        <p:txBody>
          <a:bodyPr wrap="square" lIns="0" tIns="0" rIns="0" bIns="0" rtlCol="0" anchor="t"/>
          <a:lstStyle/>
          <a:p>
            <a:pPr marL="0" indent="0" algn="l">
              <a:buNone/>
            </a:pPr>
            <a:r>
              <a:rPr lang="en-US" sz="700" b="1" dirty="0">
                <a:solidFill>
                  <a:srgbClr val="333333"/>
                </a:solidFill>
                <a:latin typeface="Arial" pitchFamily="34" charset="0"/>
                <a:ea typeface="Arial" pitchFamily="34" charset="-122"/>
                <a:cs typeface="Arial" pitchFamily="34" charset="-120"/>
              </a:rPr>
              <a:t>S2 DL</a:t>
            </a:r>
            <a:endParaRPr lang="en-US" sz="700" dirty="0"/>
          </a:p>
        </p:txBody>
      </p:sp>
      <p:sp>
        <p:nvSpPr>
          <p:cNvPr id="60" name="Text 58"/>
          <p:cNvSpPr/>
          <p:nvPr/>
        </p:nvSpPr>
        <p:spPr>
          <a:xfrm>
            <a:off x="1116955" y="2209502"/>
            <a:ext cx="761554" cy="190500"/>
          </a:xfrm>
          <a:prstGeom prst="rect">
            <a:avLst/>
          </a:prstGeom>
          <a:noFill/>
          <a:ln w="9525">
            <a:solidFill>
              <a:srgbClr val="DDDDDD"/>
            </a:solidFill>
          </a:ln>
        </p:spPr>
        <p:txBody>
          <a:bodyPr wrap="square" rtlCol="0" anchor="ctr"/>
          <a:lstStyle/>
          <a:p>
            <a:pPr marL="0" indent="0">
              <a:buNone/>
            </a:pPr>
            <a:endParaRPr lang="en-US" dirty="0"/>
          </a:p>
        </p:txBody>
      </p:sp>
      <p:sp>
        <p:nvSpPr>
          <p:cNvPr id="61" name="Text 59"/>
          <p:cNvSpPr/>
          <p:nvPr/>
        </p:nvSpPr>
        <p:spPr>
          <a:xfrm>
            <a:off x="1177230" y="2257127"/>
            <a:ext cx="653823"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W-F1</a:t>
            </a:r>
            <a:endParaRPr lang="en-US" sz="700" dirty="0"/>
          </a:p>
        </p:txBody>
      </p:sp>
      <p:sp>
        <p:nvSpPr>
          <p:cNvPr id="62" name="Text 60"/>
          <p:cNvSpPr/>
          <p:nvPr/>
        </p:nvSpPr>
        <p:spPr>
          <a:xfrm>
            <a:off x="1878509" y="22095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63" name="Text 61"/>
          <p:cNvSpPr/>
          <p:nvPr/>
        </p:nvSpPr>
        <p:spPr>
          <a:xfrm>
            <a:off x="1938784" y="2257127"/>
            <a:ext cx="653671"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0.9506</a:t>
            </a:r>
            <a:endParaRPr lang="en-US" sz="700" dirty="0"/>
          </a:p>
        </p:txBody>
      </p:sp>
      <p:sp>
        <p:nvSpPr>
          <p:cNvPr id="64" name="Text 62"/>
          <p:cNvSpPr/>
          <p:nvPr/>
        </p:nvSpPr>
        <p:spPr>
          <a:xfrm>
            <a:off x="2639913" y="2209502"/>
            <a:ext cx="1081832" cy="190500"/>
          </a:xfrm>
          <a:prstGeom prst="rect">
            <a:avLst/>
          </a:prstGeom>
          <a:noFill/>
          <a:ln w="9525">
            <a:solidFill>
              <a:srgbClr val="DDDDDD"/>
            </a:solidFill>
          </a:ln>
        </p:spPr>
        <p:txBody>
          <a:bodyPr wrap="square" rtlCol="0" anchor="ctr"/>
          <a:lstStyle/>
          <a:p>
            <a:pPr marL="0" indent="0">
              <a:buNone/>
            </a:pPr>
            <a:endParaRPr lang="en-US" dirty="0"/>
          </a:p>
        </p:txBody>
      </p:sp>
      <p:sp>
        <p:nvSpPr>
          <p:cNvPr id="65" name="Text 63"/>
          <p:cNvSpPr/>
          <p:nvPr/>
        </p:nvSpPr>
        <p:spPr>
          <a:xfrm>
            <a:off x="2700189" y="2257127"/>
            <a:ext cx="980506"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[0.9491, 0.9520]</a:t>
            </a:r>
            <a:endParaRPr lang="en-US" sz="700" dirty="0"/>
          </a:p>
        </p:txBody>
      </p:sp>
      <p:sp>
        <p:nvSpPr>
          <p:cNvPr id="66" name="Text 64"/>
          <p:cNvSpPr/>
          <p:nvPr/>
        </p:nvSpPr>
        <p:spPr>
          <a:xfrm>
            <a:off x="3721745" y="22095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67" name="Text 65"/>
          <p:cNvSpPr/>
          <p:nvPr/>
        </p:nvSpPr>
        <p:spPr>
          <a:xfrm>
            <a:off x="3782020" y="2257127"/>
            <a:ext cx="653671"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0.0029</a:t>
            </a:r>
            <a:endParaRPr lang="en-US" sz="700" dirty="0"/>
          </a:p>
        </p:txBody>
      </p:sp>
      <p:sp>
        <p:nvSpPr>
          <p:cNvPr id="68" name="Text 66"/>
          <p:cNvSpPr/>
          <p:nvPr/>
        </p:nvSpPr>
        <p:spPr>
          <a:xfrm>
            <a:off x="355550" y="24381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69" name="Text 67"/>
          <p:cNvSpPr/>
          <p:nvPr/>
        </p:nvSpPr>
        <p:spPr>
          <a:xfrm>
            <a:off x="415826" y="2485727"/>
            <a:ext cx="653671" cy="95250"/>
          </a:xfrm>
          <a:prstGeom prst="rect">
            <a:avLst/>
          </a:prstGeom>
          <a:noFill/>
          <a:ln/>
        </p:spPr>
        <p:txBody>
          <a:bodyPr wrap="square" lIns="0" tIns="0" rIns="0" bIns="0" rtlCol="0" anchor="t"/>
          <a:lstStyle/>
          <a:p>
            <a:pPr marL="0" indent="0" algn="l">
              <a:buNone/>
            </a:pPr>
            <a:r>
              <a:rPr lang="en-US" sz="700" b="1" dirty="0">
                <a:solidFill>
                  <a:srgbClr val="333333"/>
                </a:solidFill>
                <a:latin typeface="Arial" pitchFamily="34" charset="0"/>
                <a:ea typeface="Arial" pitchFamily="34" charset="-122"/>
                <a:cs typeface="Arial" pitchFamily="34" charset="-120"/>
              </a:rPr>
              <a:t>S2 DL</a:t>
            </a:r>
            <a:endParaRPr lang="en-US" sz="700" dirty="0"/>
          </a:p>
        </p:txBody>
      </p:sp>
      <p:sp>
        <p:nvSpPr>
          <p:cNvPr id="70" name="Text 68"/>
          <p:cNvSpPr/>
          <p:nvPr/>
        </p:nvSpPr>
        <p:spPr>
          <a:xfrm>
            <a:off x="1116955" y="2438102"/>
            <a:ext cx="761554" cy="190500"/>
          </a:xfrm>
          <a:prstGeom prst="rect">
            <a:avLst/>
          </a:prstGeom>
          <a:noFill/>
          <a:ln w="9525">
            <a:solidFill>
              <a:srgbClr val="DDDDDD"/>
            </a:solidFill>
          </a:ln>
        </p:spPr>
        <p:txBody>
          <a:bodyPr wrap="square" rtlCol="0" anchor="ctr"/>
          <a:lstStyle/>
          <a:p>
            <a:pPr marL="0" indent="0">
              <a:buNone/>
            </a:pPr>
            <a:endParaRPr lang="en-US" dirty="0"/>
          </a:p>
        </p:txBody>
      </p:sp>
      <p:sp>
        <p:nvSpPr>
          <p:cNvPr id="71" name="Text 69"/>
          <p:cNvSpPr/>
          <p:nvPr/>
        </p:nvSpPr>
        <p:spPr>
          <a:xfrm>
            <a:off x="1177230" y="2485727"/>
            <a:ext cx="653823"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M-F1</a:t>
            </a:r>
            <a:endParaRPr lang="en-US" sz="700" dirty="0"/>
          </a:p>
        </p:txBody>
      </p:sp>
      <p:sp>
        <p:nvSpPr>
          <p:cNvPr id="72" name="Text 70"/>
          <p:cNvSpPr/>
          <p:nvPr/>
        </p:nvSpPr>
        <p:spPr>
          <a:xfrm>
            <a:off x="1878509" y="24381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73" name="Text 71"/>
          <p:cNvSpPr/>
          <p:nvPr/>
        </p:nvSpPr>
        <p:spPr>
          <a:xfrm>
            <a:off x="1938784" y="2485727"/>
            <a:ext cx="653671"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0.7658</a:t>
            </a:r>
            <a:endParaRPr lang="en-US" sz="700" dirty="0"/>
          </a:p>
        </p:txBody>
      </p:sp>
      <p:sp>
        <p:nvSpPr>
          <p:cNvPr id="74" name="Text 72"/>
          <p:cNvSpPr/>
          <p:nvPr/>
        </p:nvSpPr>
        <p:spPr>
          <a:xfrm>
            <a:off x="2639913" y="2438102"/>
            <a:ext cx="1081832" cy="190500"/>
          </a:xfrm>
          <a:prstGeom prst="rect">
            <a:avLst/>
          </a:prstGeom>
          <a:noFill/>
          <a:ln w="9525">
            <a:solidFill>
              <a:srgbClr val="DDDDDD"/>
            </a:solidFill>
          </a:ln>
        </p:spPr>
        <p:txBody>
          <a:bodyPr wrap="square" rtlCol="0" anchor="ctr"/>
          <a:lstStyle/>
          <a:p>
            <a:pPr marL="0" indent="0">
              <a:buNone/>
            </a:pPr>
            <a:endParaRPr lang="en-US" dirty="0"/>
          </a:p>
        </p:txBody>
      </p:sp>
      <p:sp>
        <p:nvSpPr>
          <p:cNvPr id="75" name="Text 73"/>
          <p:cNvSpPr/>
          <p:nvPr/>
        </p:nvSpPr>
        <p:spPr>
          <a:xfrm>
            <a:off x="2700189" y="2485727"/>
            <a:ext cx="980506"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[0.7391, 0.8127]</a:t>
            </a:r>
            <a:endParaRPr lang="en-US" sz="700" dirty="0"/>
          </a:p>
        </p:txBody>
      </p:sp>
      <p:sp>
        <p:nvSpPr>
          <p:cNvPr id="76" name="Text 74"/>
          <p:cNvSpPr/>
          <p:nvPr/>
        </p:nvSpPr>
        <p:spPr>
          <a:xfrm>
            <a:off x="3721745" y="2438102"/>
            <a:ext cx="761405" cy="190500"/>
          </a:xfrm>
          <a:prstGeom prst="rect">
            <a:avLst/>
          </a:prstGeom>
          <a:noFill/>
          <a:ln w="9525">
            <a:solidFill>
              <a:srgbClr val="DDDDDD"/>
            </a:solidFill>
          </a:ln>
        </p:spPr>
        <p:txBody>
          <a:bodyPr wrap="square" rtlCol="0" anchor="ctr"/>
          <a:lstStyle/>
          <a:p>
            <a:pPr marL="0" indent="0">
              <a:buNone/>
            </a:pPr>
            <a:endParaRPr lang="en-US" dirty="0"/>
          </a:p>
        </p:txBody>
      </p:sp>
      <p:sp>
        <p:nvSpPr>
          <p:cNvPr id="77" name="Text 75"/>
          <p:cNvSpPr/>
          <p:nvPr/>
        </p:nvSpPr>
        <p:spPr>
          <a:xfrm>
            <a:off x="3782020" y="2485727"/>
            <a:ext cx="653671" cy="95250"/>
          </a:xfrm>
          <a:prstGeom prst="rect">
            <a:avLst/>
          </a:prstGeom>
          <a:noFill/>
          <a:ln/>
        </p:spPr>
        <p:txBody>
          <a:bodyPr wrap="square" lIns="0" tIns="0" rIns="0" bIns="0" rtlCol="0" anchor="t"/>
          <a:lstStyle/>
          <a:p>
            <a:pPr marL="0" indent="0" algn="l">
              <a:buNone/>
            </a:pPr>
            <a:r>
              <a:rPr lang="en-US" sz="700" dirty="0">
                <a:solidFill>
                  <a:srgbClr val="E75113"/>
                </a:solidFill>
                <a:latin typeface="Arial" pitchFamily="34" charset="0"/>
                <a:ea typeface="Arial" pitchFamily="34" charset="-122"/>
                <a:cs typeface="Arial" pitchFamily="34" charset="-120"/>
              </a:rPr>
              <a:t>0.0736</a:t>
            </a:r>
            <a:endParaRPr lang="en-US" sz="700" dirty="0"/>
          </a:p>
        </p:txBody>
      </p:sp>
      <p:sp>
        <p:nvSpPr>
          <p:cNvPr id="78" name="Text 76"/>
          <p:cNvSpPr/>
          <p:nvPr/>
        </p:nvSpPr>
        <p:spPr>
          <a:xfrm>
            <a:off x="355550" y="2704802"/>
            <a:ext cx="4127599" cy="623292"/>
          </a:xfrm>
          <a:prstGeom prst="roundRect">
            <a:avLst>
              <a:gd name="adj" fmla="val 6113"/>
            </a:avLst>
          </a:prstGeom>
          <a:solidFill>
            <a:srgbClr val="F0F2F5"/>
          </a:solidFill>
          <a:ln/>
        </p:spPr>
        <p:txBody>
          <a:bodyPr wrap="square" rtlCol="0" anchor="ctr"/>
          <a:lstStyle/>
          <a:p>
            <a:pPr marL="0" indent="0">
              <a:buNone/>
            </a:pPr>
            <a:endParaRPr lang="en-US" dirty="0"/>
          </a:p>
        </p:txBody>
      </p:sp>
      <p:sp>
        <p:nvSpPr>
          <p:cNvPr id="79" name="Shape 77"/>
          <p:cNvSpPr/>
          <p:nvPr/>
        </p:nvSpPr>
        <p:spPr>
          <a:xfrm>
            <a:off x="374600" y="2704802"/>
            <a:ext cx="0" cy="623292"/>
          </a:xfrm>
          <a:prstGeom prst="line">
            <a:avLst/>
          </a:prstGeom>
          <a:noFill/>
          <a:ln w="38100">
            <a:solidFill>
              <a:srgbClr val="003C71"/>
            </a:solidFill>
            <a:prstDash val="solid"/>
          </a:ln>
        </p:spPr>
      </p:sp>
      <p:sp>
        <p:nvSpPr>
          <p:cNvPr id="80" name="Text 78"/>
          <p:cNvSpPr/>
          <p:nvPr/>
        </p:nvSpPr>
        <p:spPr>
          <a:xfrm>
            <a:off x="482501" y="2768203"/>
            <a:ext cx="3990034" cy="114300"/>
          </a:xfrm>
          <a:prstGeom prst="rect">
            <a:avLst/>
          </a:prstGeom>
          <a:noFill/>
          <a:ln/>
        </p:spPr>
        <p:txBody>
          <a:bodyPr wrap="square" lIns="0" tIns="0" rIns="0" bIns="0" rtlCol="0" anchor="t"/>
          <a:lstStyle/>
          <a:p>
            <a:pPr marL="0" indent="0" algn="l">
              <a:spcAft>
                <a:spcPts val="200"/>
              </a:spcAft>
              <a:buNone/>
            </a:pPr>
            <a:r>
              <a:rPr lang="en-US" sz="800" b="1" dirty="0">
                <a:solidFill>
                  <a:srgbClr val="003C71"/>
                </a:solidFill>
                <a:latin typeface="Arial" pitchFamily="34" charset="0"/>
                <a:ea typeface="Arial" pitchFamily="34" charset="-122"/>
                <a:cs typeface="Arial" pitchFamily="34" charset="-120"/>
              </a:rPr>
              <a:t>Analysis</a:t>
            </a:r>
            <a:endParaRPr lang="en-US" sz="800" dirty="0"/>
          </a:p>
        </p:txBody>
      </p:sp>
      <p:sp>
        <p:nvSpPr>
          <p:cNvPr id="81" name="Text 79"/>
          <p:cNvSpPr/>
          <p:nvPr/>
        </p:nvSpPr>
        <p:spPr>
          <a:xfrm>
            <a:off x="482501" y="2907804"/>
            <a:ext cx="3990034" cy="102096"/>
          </a:xfrm>
          <a:prstGeom prst="rect">
            <a:avLst/>
          </a:prstGeom>
          <a:noFill/>
          <a:ln/>
        </p:spPr>
        <p:txBody>
          <a:bodyPr wrap="square" lIns="0" tIns="0" rIns="0" bIns="0" rtlCol="0" anchor="t"/>
          <a:lstStyle/>
          <a:p>
            <a:pPr marL="0" indent="0" algn="l">
              <a:lnSpc>
                <a:spcPts val="805"/>
              </a:lnSpc>
              <a:spcAft>
                <a:spcPts val="200"/>
              </a:spcAft>
              <a:buNone/>
            </a:pPr>
            <a:r>
              <a:rPr lang="en-US" sz="700" b="1" dirty="0">
                <a:solidFill>
                  <a:srgbClr val="555555"/>
                </a:solidFill>
                <a:latin typeface="Arial" pitchFamily="34" charset="0"/>
                <a:ea typeface="Arial" pitchFamily="34" charset="-122"/>
                <a:cs typeface="Arial" pitchFamily="34" charset="-120"/>
              </a:rPr>
              <a:t>S1 CI &lt; 0.001</a:t>
            </a:r>
            <a:r>
              <a:rPr lang="en-US" sz="700" dirty="0">
                <a:solidFill>
                  <a:srgbClr val="555555"/>
                </a:solidFill>
                <a:latin typeface="Arial" pitchFamily="34" charset="0"/>
                <a:ea typeface="Arial" pitchFamily="34" charset="-122"/>
                <a:cs typeface="Arial" pitchFamily="34" charset="-120"/>
              </a:rPr>
              <a:t>: Large test set (n=462K) = highly reliable.</a:t>
            </a:r>
            <a:endParaRPr lang="en-US" sz="700" dirty="0"/>
          </a:p>
        </p:txBody>
      </p:sp>
      <p:sp>
        <p:nvSpPr>
          <p:cNvPr id="82" name="Text 80"/>
          <p:cNvSpPr/>
          <p:nvPr/>
        </p:nvSpPr>
        <p:spPr>
          <a:xfrm>
            <a:off x="482501" y="3035201"/>
            <a:ext cx="3990034" cy="204192"/>
          </a:xfrm>
          <a:prstGeom prst="rect">
            <a:avLst/>
          </a:prstGeom>
          <a:noFill/>
          <a:ln/>
        </p:spPr>
        <p:txBody>
          <a:bodyPr wrap="square" lIns="0" tIns="0" rIns="0" bIns="0" rtlCol="0" anchor="t"/>
          <a:lstStyle/>
          <a:p>
            <a:pPr marL="0" indent="0" algn="l">
              <a:lnSpc>
                <a:spcPts val="805"/>
              </a:lnSpc>
              <a:spcAft>
                <a:spcPts val="200"/>
              </a:spcAft>
              <a:buNone/>
            </a:pPr>
            <a:r>
              <a:rPr lang="en-US" sz="700" b="1" dirty="0">
                <a:solidFill>
                  <a:srgbClr val="555555"/>
                </a:solidFill>
                <a:latin typeface="Arial" pitchFamily="34" charset="0"/>
                <a:ea typeface="Arial" pitchFamily="34" charset="-122"/>
                <a:cs typeface="Arial" pitchFamily="34" charset="-120"/>
              </a:rPr>
              <a:t>S2 M-F1 CI = 0.074</a:t>
            </a:r>
            <a:r>
              <a:rPr lang="en-US" sz="700" dirty="0">
                <a:solidFill>
                  <a:srgbClr val="555555"/>
                </a:solidFill>
                <a:latin typeface="Arial" pitchFamily="34" charset="0"/>
                <a:ea typeface="Arial" pitchFamily="34" charset="-122"/>
                <a:cs typeface="Arial" pitchFamily="34" charset="-120"/>
              </a:rPr>
              <a:t>: Extreme minority classes (Heartbleed n=11) dominate variance — inherent uncertainty, not model deficiency.</a:t>
            </a:r>
            <a:endParaRPr lang="en-US" sz="700" dirty="0"/>
          </a:p>
        </p:txBody>
      </p:sp>
      <p:sp>
        <p:nvSpPr>
          <p:cNvPr id="83" name="Text 81"/>
          <p:cNvSpPr/>
          <p:nvPr/>
        </p:nvSpPr>
        <p:spPr>
          <a:xfrm>
            <a:off x="4660850" y="723751"/>
            <a:ext cx="4210151" cy="114300"/>
          </a:xfrm>
          <a:prstGeom prst="rect">
            <a:avLst/>
          </a:prstGeom>
          <a:noFill/>
          <a:ln/>
        </p:spPr>
        <p:txBody>
          <a:bodyPr wrap="square" lIns="0" tIns="0" rIns="0" bIns="0" rtlCol="0" anchor="t"/>
          <a:lstStyle/>
          <a:p>
            <a:pPr>
              <a:spcAft>
                <a:spcPts val="100"/>
              </a:spcAft>
            </a:pPr>
            <a:r>
              <a:rPr lang="en-US" sz="800" b="1" dirty="0">
                <a:solidFill>
                  <a:srgbClr val="333333"/>
                </a:solidFill>
                <a:latin typeface="Arial" pitchFamily="34" charset="0"/>
                <a:ea typeface="Arial" pitchFamily="34" charset="-122"/>
                <a:cs typeface="Arial" pitchFamily="34" charset="-120"/>
              </a:rPr>
              <a:t>Figure 4</a:t>
            </a:r>
            <a:r>
              <a:rPr lang="zh-CN" altLang="en-US" sz="800" b="1" dirty="0">
                <a:solidFill>
                  <a:srgbClr val="333333"/>
                </a:solidFill>
                <a:latin typeface="Arial" pitchFamily="34" charset="0"/>
                <a:ea typeface="Arial" pitchFamily="34" charset="-122"/>
                <a:cs typeface="Arial" pitchFamily="34" charset="-120"/>
              </a:rPr>
              <a:t>：</a:t>
            </a:r>
            <a:r>
              <a:rPr lang="en-US" altLang="zh-CN" sz="800" i="1" dirty="0">
                <a:solidFill>
                  <a:srgbClr val="333333"/>
                </a:solidFill>
                <a:latin typeface="Arial" pitchFamily="34" charset="0"/>
                <a:ea typeface="Arial" pitchFamily="34" charset="-122"/>
                <a:cs typeface="Arial" pitchFamily="34" charset="-120"/>
              </a:rPr>
              <a:t>Bootstrap Confidence Interval Distributions (E6)</a:t>
            </a:r>
            <a:endParaRPr lang="en-US" altLang="zh-CN" sz="800" dirty="0"/>
          </a:p>
          <a:p>
            <a:pPr marL="0" indent="0" algn="l">
              <a:spcAft>
                <a:spcPts val="100"/>
              </a:spcAft>
              <a:buNone/>
            </a:pPr>
            <a:endParaRPr lang="en-US" sz="800" dirty="0"/>
          </a:p>
        </p:txBody>
      </p:sp>
      <p:sp>
        <p:nvSpPr>
          <p:cNvPr id="84" name="Text 82"/>
          <p:cNvSpPr/>
          <p:nvPr/>
        </p:nvSpPr>
        <p:spPr>
          <a:xfrm>
            <a:off x="4660850" y="850702"/>
            <a:ext cx="4210151" cy="114300"/>
          </a:xfrm>
          <a:prstGeom prst="rect">
            <a:avLst/>
          </a:prstGeom>
          <a:noFill/>
          <a:ln/>
        </p:spPr>
        <p:txBody>
          <a:bodyPr wrap="square" lIns="0" tIns="0" rIns="0" bIns="0" rtlCol="0" anchor="t"/>
          <a:lstStyle/>
          <a:p>
            <a:pPr marL="0" indent="0" algn="l">
              <a:spcAft>
                <a:spcPts val="300"/>
              </a:spcAft>
              <a:buNone/>
            </a:pPr>
            <a:endParaRPr lang="en-US" sz="800" dirty="0"/>
          </a:p>
        </p:txBody>
      </p:sp>
      <p:sp>
        <p:nvSpPr>
          <p:cNvPr id="85" name="Text 83"/>
          <p:cNvSpPr/>
          <p:nvPr/>
        </p:nvSpPr>
        <p:spPr>
          <a:xfrm>
            <a:off x="4660850" y="4697760"/>
            <a:ext cx="4210151" cy="198239"/>
          </a:xfrm>
          <a:prstGeom prst="rect">
            <a:avLst/>
          </a:prstGeom>
          <a:noFill/>
          <a:ln/>
        </p:spPr>
        <p:txBody>
          <a:bodyPr wrap="square" lIns="0" tIns="0" rIns="0" bIns="0" rtlCol="0" anchor="t"/>
          <a:lstStyle/>
          <a:p>
            <a:pPr marL="0" indent="0" algn="l">
              <a:lnSpc>
                <a:spcPts val="780"/>
              </a:lnSpc>
              <a:spcBef>
                <a:spcPts val="300"/>
              </a:spcBef>
              <a:buNone/>
            </a:pPr>
            <a:r>
              <a:rPr lang="en-US" sz="650" i="1" dirty="0">
                <a:solidFill>
                  <a:srgbClr val="555555"/>
                </a:solidFill>
                <a:latin typeface="Arial" pitchFamily="34" charset="0"/>
                <a:ea typeface="Arial" pitchFamily="34" charset="-122"/>
                <a:cs typeface="Arial" pitchFamily="34" charset="-120"/>
              </a:rPr>
              <a:t>Note.</a:t>
            </a:r>
            <a:r>
              <a:rPr lang="en-US" sz="650" dirty="0">
                <a:solidFill>
                  <a:srgbClr val="555555"/>
                </a:solidFill>
                <a:latin typeface="Arial" pitchFamily="34" charset="0"/>
                <a:ea typeface="Arial" pitchFamily="34" charset="-122"/>
                <a:cs typeface="Arial" pitchFamily="34" charset="-120"/>
              </a:rPr>
              <a:t> Histograms show bootstrap distributions (1,000 iterations) for accuracy, weighted F1, and macro F1. Dashed lines indicate 95% percentile confidence interval boundaries per Efron (1979).</a:t>
            </a:r>
            <a:endParaRPr lang="en-US" sz="650" dirty="0"/>
          </a:p>
        </p:txBody>
      </p:sp>
      <p:sp>
        <p:nvSpPr>
          <p:cNvPr id="86" name="Text 84"/>
          <p:cNvSpPr/>
          <p:nvPr/>
        </p:nvSpPr>
        <p:spPr>
          <a:xfrm>
            <a:off x="0" y="4946749"/>
            <a:ext cx="9144000" cy="196751"/>
          </a:xfrm>
          <a:prstGeom prst="rect">
            <a:avLst/>
          </a:prstGeom>
          <a:solidFill>
            <a:srgbClr val="F0F2F5"/>
          </a:solidFill>
          <a:ln/>
        </p:spPr>
        <p:txBody>
          <a:bodyPr wrap="square" rtlCol="0" anchor="ctr"/>
          <a:lstStyle/>
          <a:p>
            <a:pPr marL="0" indent="0">
              <a:buNone/>
            </a:pPr>
            <a:endParaRPr lang="en-US" dirty="0"/>
          </a:p>
        </p:txBody>
      </p:sp>
      <p:sp>
        <p:nvSpPr>
          <p:cNvPr id="87" name="Text 85"/>
          <p:cNvSpPr/>
          <p:nvPr/>
        </p:nvSpPr>
        <p:spPr>
          <a:xfrm>
            <a:off x="355550" y="4997500"/>
            <a:ext cx="8601557" cy="95250"/>
          </a:xfrm>
          <a:prstGeom prst="rect">
            <a:avLst/>
          </a:prstGeom>
          <a:noFill/>
          <a:ln/>
        </p:spPr>
        <p:txBody>
          <a:bodyPr wrap="square" lIns="0" tIns="0" rIns="0" bIns="0" rtlCol="0" anchor="t"/>
          <a:lstStyle/>
          <a:p>
            <a:pPr marL="0" indent="0" algn="l">
              <a:buNone/>
            </a:pPr>
            <a:r>
              <a:rPr lang="en-US" sz="700" dirty="0">
                <a:solidFill>
                  <a:srgbClr val="888888"/>
                </a:solidFill>
                <a:latin typeface="Arial" pitchFamily="34" charset="0"/>
                <a:ea typeface="Arial" pitchFamily="34" charset="-122"/>
                <a:cs typeface="Arial" pitchFamily="34" charset="-120"/>
              </a:rPr>
              <a:t>Efron, B. (1979). Bootstrap methods: Another look at the jackknife. The Annals of Statistics, 7(1), 1-26.</a:t>
            </a:r>
            <a:endParaRPr lang="en-US" sz="700" dirty="0"/>
          </a:p>
        </p:txBody>
      </p:sp>
      <p:pic>
        <p:nvPicPr>
          <p:cNvPr id="88" name="Image 0" descr="preencoded.png"/>
          <p:cNvPicPr>
            <a:picLocks noChangeAspect="1"/>
          </p:cNvPicPr>
          <p:nvPr/>
        </p:nvPicPr>
        <p:blipFill>
          <a:blip r:embed="rId3"/>
          <a:stretch>
            <a:fillRect/>
          </a:stretch>
        </p:blipFill>
        <p:spPr>
          <a:xfrm>
            <a:off x="4699168" y="1150959"/>
            <a:ext cx="4171833" cy="22123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4559150"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Adversarial Robustness Analysis (E14)</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355550" y="723751"/>
            <a:ext cx="4631106" cy="114300"/>
          </a:xfrm>
          <a:prstGeom prst="rect">
            <a:avLst/>
          </a:prstGeom>
          <a:noFill/>
          <a:ln/>
        </p:spPr>
        <p:txBody>
          <a:bodyPr wrap="square" lIns="0" tIns="0" rIns="0" bIns="0" rtlCol="0" anchor="t"/>
          <a:lstStyle/>
          <a:p>
            <a:pPr marL="0" indent="0" algn="l">
              <a:spcAft>
                <a:spcPts val="100"/>
              </a:spcAft>
              <a:buNone/>
            </a:pPr>
            <a:r>
              <a:rPr lang="en-US" sz="800" b="1" dirty="0">
                <a:solidFill>
                  <a:srgbClr val="333333"/>
                </a:solidFill>
                <a:latin typeface="Arial" pitchFamily="34" charset="0"/>
                <a:ea typeface="Arial" pitchFamily="34" charset="-122"/>
                <a:cs typeface="Arial" pitchFamily="34" charset="-120"/>
              </a:rPr>
              <a:t>Table 8</a:t>
            </a:r>
            <a:endParaRPr lang="en-US" sz="800" dirty="0"/>
          </a:p>
        </p:txBody>
      </p:sp>
      <p:sp>
        <p:nvSpPr>
          <p:cNvPr id="7" name="Text 5"/>
          <p:cNvSpPr/>
          <p:nvPr/>
        </p:nvSpPr>
        <p:spPr>
          <a:xfrm>
            <a:off x="355550" y="888802"/>
            <a:ext cx="4631106" cy="114300"/>
          </a:xfrm>
          <a:prstGeom prst="rect">
            <a:avLst/>
          </a:prstGeom>
          <a:noFill/>
          <a:ln/>
        </p:spPr>
        <p:txBody>
          <a:bodyPr wrap="square" lIns="0" tIns="0" rIns="0" bIns="0" rtlCol="0" anchor="t"/>
          <a:lstStyle/>
          <a:p>
            <a:pPr marL="0" indent="0" algn="l">
              <a:spcAft>
                <a:spcPts val="200"/>
              </a:spcAft>
              <a:buNone/>
            </a:pPr>
            <a:r>
              <a:rPr lang="en-US" sz="800" i="1" dirty="0">
                <a:solidFill>
                  <a:srgbClr val="333333"/>
                </a:solidFill>
                <a:latin typeface="Arial" pitchFamily="34" charset="0"/>
                <a:ea typeface="Arial" pitchFamily="34" charset="-122"/>
                <a:cs typeface="Arial" pitchFamily="34" charset="-120"/>
              </a:rPr>
              <a:t>Adversarial Attack Accuracy Across Perturbation Budgets (E14)</a:t>
            </a:r>
            <a:endParaRPr lang="en-US" sz="800" dirty="0"/>
          </a:p>
        </p:txBody>
      </p:sp>
      <p:sp>
        <p:nvSpPr>
          <p:cNvPr id="8" name="Text 6"/>
          <p:cNvSpPr/>
          <p:nvPr/>
        </p:nvSpPr>
        <p:spPr>
          <a:xfrm>
            <a:off x="355550" y="1066502"/>
            <a:ext cx="1194495"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9" name="Text 7"/>
          <p:cNvSpPr/>
          <p:nvPr/>
        </p:nvSpPr>
        <p:spPr>
          <a:xfrm>
            <a:off x="415826" y="1114127"/>
            <a:ext cx="1095423"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Attack</a:t>
            </a:r>
            <a:endParaRPr lang="en-US" sz="700" dirty="0"/>
          </a:p>
        </p:txBody>
      </p:sp>
      <p:sp>
        <p:nvSpPr>
          <p:cNvPr id="10" name="Text 8"/>
          <p:cNvSpPr/>
          <p:nvPr/>
        </p:nvSpPr>
        <p:spPr>
          <a:xfrm>
            <a:off x="1550045" y="1066502"/>
            <a:ext cx="836414"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1" name="Text 9"/>
          <p:cNvSpPr/>
          <p:nvPr/>
        </p:nvSpPr>
        <p:spPr>
          <a:xfrm>
            <a:off x="1610320" y="1114127"/>
            <a:ext cx="730181"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Clean</a:t>
            </a:r>
            <a:endParaRPr lang="en-US" sz="700" dirty="0"/>
          </a:p>
        </p:txBody>
      </p:sp>
      <p:sp>
        <p:nvSpPr>
          <p:cNvPr id="12" name="Text 10"/>
          <p:cNvSpPr/>
          <p:nvPr/>
        </p:nvSpPr>
        <p:spPr>
          <a:xfrm>
            <a:off x="2386459" y="1066502"/>
            <a:ext cx="836563"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3" name="Text 11"/>
          <p:cNvSpPr/>
          <p:nvPr/>
        </p:nvSpPr>
        <p:spPr>
          <a:xfrm>
            <a:off x="2446734" y="1114127"/>
            <a:ext cx="730332"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e=0.001</a:t>
            </a:r>
            <a:endParaRPr lang="en-US" sz="700" dirty="0"/>
          </a:p>
        </p:txBody>
      </p:sp>
      <p:sp>
        <p:nvSpPr>
          <p:cNvPr id="14" name="Text 12"/>
          <p:cNvSpPr/>
          <p:nvPr/>
        </p:nvSpPr>
        <p:spPr>
          <a:xfrm>
            <a:off x="3223022" y="1066502"/>
            <a:ext cx="836414"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5" name="Text 13"/>
          <p:cNvSpPr/>
          <p:nvPr/>
        </p:nvSpPr>
        <p:spPr>
          <a:xfrm>
            <a:off x="3283297" y="1114127"/>
            <a:ext cx="730181"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e=0.01</a:t>
            </a:r>
            <a:endParaRPr lang="en-US" sz="700" dirty="0"/>
          </a:p>
        </p:txBody>
      </p:sp>
      <p:sp>
        <p:nvSpPr>
          <p:cNvPr id="16" name="Text 14"/>
          <p:cNvSpPr/>
          <p:nvPr/>
        </p:nvSpPr>
        <p:spPr>
          <a:xfrm>
            <a:off x="4059436" y="1066502"/>
            <a:ext cx="836414"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7" name="Text 15"/>
          <p:cNvSpPr/>
          <p:nvPr/>
        </p:nvSpPr>
        <p:spPr>
          <a:xfrm>
            <a:off x="4119711" y="1114127"/>
            <a:ext cx="730181" cy="95250"/>
          </a:xfrm>
          <a:prstGeom prst="rect">
            <a:avLst/>
          </a:prstGeom>
          <a:noFill/>
          <a:ln/>
        </p:spPr>
        <p:txBody>
          <a:bodyPr wrap="square" lIns="0" tIns="0" rIns="0" bIns="0" rtlCol="0" anchor="t"/>
          <a:lstStyle/>
          <a:p>
            <a:pPr marL="0" indent="0" algn="l">
              <a:buNone/>
            </a:pPr>
            <a:r>
              <a:rPr lang="en-US" sz="700" b="1" dirty="0">
                <a:solidFill>
                  <a:srgbClr val="FFFFFF"/>
                </a:solidFill>
                <a:latin typeface="Arial" pitchFamily="34" charset="0"/>
                <a:ea typeface="Arial" pitchFamily="34" charset="-122"/>
                <a:cs typeface="Arial" pitchFamily="34" charset="-120"/>
              </a:rPr>
              <a:t>e=0.1</a:t>
            </a:r>
            <a:endParaRPr lang="en-US" sz="700" dirty="0"/>
          </a:p>
        </p:txBody>
      </p:sp>
      <p:sp>
        <p:nvSpPr>
          <p:cNvPr id="18" name="Text 16"/>
          <p:cNvSpPr/>
          <p:nvPr/>
        </p:nvSpPr>
        <p:spPr>
          <a:xfrm>
            <a:off x="355550" y="1295102"/>
            <a:ext cx="1194495" cy="190500"/>
          </a:xfrm>
          <a:prstGeom prst="rect">
            <a:avLst/>
          </a:prstGeom>
          <a:noFill/>
          <a:ln w="9525">
            <a:solidFill>
              <a:srgbClr val="DDDDDD"/>
            </a:solidFill>
          </a:ln>
        </p:spPr>
        <p:txBody>
          <a:bodyPr wrap="square" rtlCol="0" anchor="ctr"/>
          <a:lstStyle/>
          <a:p>
            <a:pPr marL="0" indent="0">
              <a:buNone/>
            </a:pPr>
            <a:endParaRPr lang="en-US" dirty="0"/>
          </a:p>
        </p:txBody>
      </p:sp>
      <p:sp>
        <p:nvSpPr>
          <p:cNvPr id="19" name="Text 17"/>
          <p:cNvSpPr/>
          <p:nvPr/>
        </p:nvSpPr>
        <p:spPr>
          <a:xfrm>
            <a:off x="415826" y="1342727"/>
            <a:ext cx="1095423" cy="95250"/>
          </a:xfrm>
          <a:prstGeom prst="rect">
            <a:avLst/>
          </a:prstGeom>
          <a:noFill/>
          <a:ln/>
        </p:spPr>
        <p:txBody>
          <a:bodyPr wrap="square" lIns="0" tIns="0" rIns="0" bIns="0" rtlCol="0" anchor="t"/>
          <a:lstStyle/>
          <a:p>
            <a:pPr marL="0" indent="0" algn="l">
              <a:buNone/>
            </a:pPr>
            <a:r>
              <a:rPr lang="en-US" sz="700" b="1" dirty="0">
                <a:solidFill>
                  <a:srgbClr val="333333"/>
                </a:solidFill>
                <a:latin typeface="Arial" pitchFamily="34" charset="0"/>
                <a:ea typeface="Arial" pitchFamily="34" charset="-122"/>
                <a:cs typeface="Arial" pitchFamily="34" charset="-120"/>
              </a:rPr>
              <a:t>RF (L-inf noise)</a:t>
            </a:r>
            <a:endParaRPr lang="en-US" sz="700" dirty="0"/>
          </a:p>
        </p:txBody>
      </p:sp>
      <p:sp>
        <p:nvSpPr>
          <p:cNvPr id="20" name="Text 18"/>
          <p:cNvSpPr/>
          <p:nvPr/>
        </p:nvSpPr>
        <p:spPr>
          <a:xfrm>
            <a:off x="1550045" y="1295102"/>
            <a:ext cx="836414" cy="190500"/>
          </a:xfrm>
          <a:prstGeom prst="rect">
            <a:avLst/>
          </a:prstGeom>
          <a:noFill/>
          <a:ln w="9525">
            <a:solidFill>
              <a:srgbClr val="DDDDDD"/>
            </a:solidFill>
          </a:ln>
        </p:spPr>
        <p:txBody>
          <a:bodyPr wrap="square" rtlCol="0" anchor="ctr"/>
          <a:lstStyle/>
          <a:p>
            <a:pPr marL="0" indent="0">
              <a:buNone/>
            </a:pPr>
            <a:endParaRPr lang="en-US" dirty="0"/>
          </a:p>
        </p:txBody>
      </p:sp>
      <p:sp>
        <p:nvSpPr>
          <p:cNvPr id="21" name="Text 19"/>
          <p:cNvSpPr/>
          <p:nvPr/>
        </p:nvSpPr>
        <p:spPr>
          <a:xfrm>
            <a:off x="1610320" y="1342727"/>
            <a:ext cx="730181"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99.59%</a:t>
            </a:r>
            <a:endParaRPr lang="en-US" sz="700" dirty="0"/>
          </a:p>
        </p:txBody>
      </p:sp>
      <p:sp>
        <p:nvSpPr>
          <p:cNvPr id="22" name="Text 20"/>
          <p:cNvSpPr/>
          <p:nvPr/>
        </p:nvSpPr>
        <p:spPr>
          <a:xfrm>
            <a:off x="2386459" y="1295102"/>
            <a:ext cx="836563" cy="190500"/>
          </a:xfrm>
          <a:prstGeom prst="rect">
            <a:avLst/>
          </a:prstGeom>
          <a:noFill/>
          <a:ln w="9525">
            <a:solidFill>
              <a:srgbClr val="DDDDDD"/>
            </a:solidFill>
          </a:ln>
        </p:spPr>
        <p:txBody>
          <a:bodyPr wrap="square" rtlCol="0" anchor="ctr"/>
          <a:lstStyle/>
          <a:p>
            <a:pPr marL="0" indent="0">
              <a:buNone/>
            </a:pPr>
            <a:endParaRPr lang="en-US" dirty="0"/>
          </a:p>
        </p:txBody>
      </p:sp>
      <p:sp>
        <p:nvSpPr>
          <p:cNvPr id="23" name="Text 21"/>
          <p:cNvSpPr/>
          <p:nvPr/>
        </p:nvSpPr>
        <p:spPr>
          <a:xfrm>
            <a:off x="2446734" y="1342727"/>
            <a:ext cx="730332"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46.94%</a:t>
            </a:r>
            <a:endParaRPr lang="en-US" sz="700" dirty="0"/>
          </a:p>
        </p:txBody>
      </p:sp>
      <p:sp>
        <p:nvSpPr>
          <p:cNvPr id="24" name="Text 22"/>
          <p:cNvSpPr/>
          <p:nvPr/>
        </p:nvSpPr>
        <p:spPr>
          <a:xfrm>
            <a:off x="3223022" y="1295102"/>
            <a:ext cx="836414" cy="190500"/>
          </a:xfrm>
          <a:prstGeom prst="rect">
            <a:avLst/>
          </a:prstGeom>
          <a:noFill/>
          <a:ln w="9525">
            <a:solidFill>
              <a:srgbClr val="DDDDDD"/>
            </a:solidFill>
          </a:ln>
        </p:spPr>
        <p:txBody>
          <a:bodyPr wrap="square" rtlCol="0" anchor="ctr"/>
          <a:lstStyle/>
          <a:p>
            <a:pPr marL="0" indent="0">
              <a:buNone/>
            </a:pPr>
            <a:endParaRPr lang="en-US" dirty="0"/>
          </a:p>
        </p:txBody>
      </p:sp>
      <p:sp>
        <p:nvSpPr>
          <p:cNvPr id="25" name="Text 23"/>
          <p:cNvSpPr/>
          <p:nvPr/>
        </p:nvSpPr>
        <p:spPr>
          <a:xfrm>
            <a:off x="3283297" y="1342727"/>
            <a:ext cx="730181"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6.45%</a:t>
            </a:r>
            <a:endParaRPr lang="en-US" sz="700" dirty="0"/>
          </a:p>
        </p:txBody>
      </p:sp>
      <p:sp>
        <p:nvSpPr>
          <p:cNvPr id="26" name="Text 24"/>
          <p:cNvSpPr/>
          <p:nvPr/>
        </p:nvSpPr>
        <p:spPr>
          <a:xfrm>
            <a:off x="4059436" y="1295102"/>
            <a:ext cx="836414" cy="190500"/>
          </a:xfrm>
          <a:prstGeom prst="rect">
            <a:avLst/>
          </a:prstGeom>
          <a:noFill/>
          <a:ln w="9525">
            <a:solidFill>
              <a:srgbClr val="DDDDDD"/>
            </a:solidFill>
          </a:ln>
        </p:spPr>
        <p:txBody>
          <a:bodyPr wrap="square" rtlCol="0" anchor="ctr"/>
          <a:lstStyle/>
          <a:p>
            <a:pPr marL="0" indent="0">
              <a:buNone/>
            </a:pPr>
            <a:endParaRPr lang="en-US" dirty="0"/>
          </a:p>
        </p:txBody>
      </p:sp>
      <p:sp>
        <p:nvSpPr>
          <p:cNvPr id="27" name="Text 25"/>
          <p:cNvSpPr/>
          <p:nvPr/>
        </p:nvSpPr>
        <p:spPr>
          <a:xfrm>
            <a:off x="4119711" y="1342727"/>
            <a:ext cx="730181"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0.43%</a:t>
            </a:r>
            <a:endParaRPr lang="en-US" sz="700" dirty="0"/>
          </a:p>
        </p:txBody>
      </p:sp>
      <p:sp>
        <p:nvSpPr>
          <p:cNvPr id="28" name="Text 26"/>
          <p:cNvSpPr/>
          <p:nvPr/>
        </p:nvSpPr>
        <p:spPr>
          <a:xfrm>
            <a:off x="355550" y="1523702"/>
            <a:ext cx="1194495" cy="190500"/>
          </a:xfrm>
          <a:prstGeom prst="rect">
            <a:avLst/>
          </a:prstGeom>
          <a:noFill/>
          <a:ln w="9525">
            <a:solidFill>
              <a:srgbClr val="DDDDDD"/>
            </a:solidFill>
          </a:ln>
        </p:spPr>
        <p:txBody>
          <a:bodyPr wrap="square" rtlCol="0" anchor="ctr"/>
          <a:lstStyle/>
          <a:p>
            <a:pPr marL="0" indent="0">
              <a:buNone/>
            </a:pPr>
            <a:endParaRPr lang="en-US" dirty="0"/>
          </a:p>
        </p:txBody>
      </p:sp>
      <p:sp>
        <p:nvSpPr>
          <p:cNvPr id="29" name="Text 27"/>
          <p:cNvSpPr/>
          <p:nvPr/>
        </p:nvSpPr>
        <p:spPr>
          <a:xfrm>
            <a:off x="415826" y="1571327"/>
            <a:ext cx="1095423" cy="95250"/>
          </a:xfrm>
          <a:prstGeom prst="rect">
            <a:avLst/>
          </a:prstGeom>
          <a:noFill/>
          <a:ln/>
        </p:spPr>
        <p:txBody>
          <a:bodyPr wrap="square" lIns="0" tIns="0" rIns="0" bIns="0" rtlCol="0" anchor="t"/>
          <a:lstStyle/>
          <a:p>
            <a:pPr marL="0" indent="0" algn="l">
              <a:buNone/>
            </a:pPr>
            <a:r>
              <a:rPr lang="en-US" sz="700" b="1" dirty="0">
                <a:solidFill>
                  <a:srgbClr val="333333"/>
                </a:solidFill>
                <a:latin typeface="Arial" pitchFamily="34" charset="0"/>
                <a:ea typeface="Arial" pitchFamily="34" charset="-122"/>
                <a:cs typeface="Arial" pitchFamily="34" charset="-120"/>
              </a:rPr>
              <a:t>TransECA FGSM</a:t>
            </a:r>
            <a:endParaRPr lang="en-US" sz="700" dirty="0"/>
          </a:p>
        </p:txBody>
      </p:sp>
      <p:sp>
        <p:nvSpPr>
          <p:cNvPr id="30" name="Text 28"/>
          <p:cNvSpPr/>
          <p:nvPr/>
        </p:nvSpPr>
        <p:spPr>
          <a:xfrm>
            <a:off x="1550045" y="1523702"/>
            <a:ext cx="836414" cy="190500"/>
          </a:xfrm>
          <a:prstGeom prst="rect">
            <a:avLst/>
          </a:prstGeom>
          <a:noFill/>
          <a:ln w="9525">
            <a:solidFill>
              <a:srgbClr val="DDDDDD"/>
            </a:solidFill>
          </a:ln>
        </p:spPr>
        <p:txBody>
          <a:bodyPr wrap="square" rtlCol="0" anchor="ctr"/>
          <a:lstStyle/>
          <a:p>
            <a:pPr marL="0" indent="0">
              <a:buNone/>
            </a:pPr>
            <a:endParaRPr lang="en-US" dirty="0"/>
          </a:p>
        </p:txBody>
      </p:sp>
      <p:sp>
        <p:nvSpPr>
          <p:cNvPr id="31" name="Text 29"/>
          <p:cNvSpPr/>
          <p:nvPr/>
        </p:nvSpPr>
        <p:spPr>
          <a:xfrm>
            <a:off x="1610320" y="1571327"/>
            <a:ext cx="730181"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92.16%</a:t>
            </a:r>
            <a:endParaRPr lang="en-US" sz="700" dirty="0"/>
          </a:p>
        </p:txBody>
      </p:sp>
      <p:sp>
        <p:nvSpPr>
          <p:cNvPr id="32" name="Text 30"/>
          <p:cNvSpPr/>
          <p:nvPr/>
        </p:nvSpPr>
        <p:spPr>
          <a:xfrm>
            <a:off x="2386459" y="1523702"/>
            <a:ext cx="836563" cy="190500"/>
          </a:xfrm>
          <a:prstGeom prst="rect">
            <a:avLst/>
          </a:prstGeom>
          <a:noFill/>
          <a:ln w="9525">
            <a:solidFill>
              <a:srgbClr val="DDDDDD"/>
            </a:solidFill>
          </a:ln>
        </p:spPr>
        <p:txBody>
          <a:bodyPr wrap="square" rtlCol="0" anchor="ctr"/>
          <a:lstStyle/>
          <a:p>
            <a:pPr marL="0" indent="0">
              <a:buNone/>
            </a:pPr>
            <a:endParaRPr lang="en-US" dirty="0"/>
          </a:p>
        </p:txBody>
      </p:sp>
      <p:sp>
        <p:nvSpPr>
          <p:cNvPr id="33" name="Text 31"/>
          <p:cNvSpPr/>
          <p:nvPr/>
        </p:nvSpPr>
        <p:spPr>
          <a:xfrm>
            <a:off x="2446734" y="1571327"/>
            <a:ext cx="730332" cy="95250"/>
          </a:xfrm>
          <a:prstGeom prst="rect">
            <a:avLst/>
          </a:prstGeom>
          <a:noFill/>
          <a:ln/>
        </p:spPr>
        <p:txBody>
          <a:bodyPr wrap="square" lIns="0" tIns="0" rIns="0" bIns="0" rtlCol="0" anchor="t"/>
          <a:lstStyle/>
          <a:p>
            <a:pPr marL="0" indent="0" algn="l">
              <a:buNone/>
            </a:pPr>
            <a:r>
              <a:rPr lang="en-US" sz="700" dirty="0">
                <a:solidFill>
                  <a:srgbClr val="2E7D32"/>
                </a:solidFill>
                <a:latin typeface="Arial" pitchFamily="34" charset="0"/>
                <a:ea typeface="Arial" pitchFamily="34" charset="-122"/>
                <a:cs typeface="Arial" pitchFamily="34" charset="-120"/>
              </a:rPr>
              <a:t>90.26%</a:t>
            </a:r>
            <a:endParaRPr lang="en-US" sz="700" dirty="0"/>
          </a:p>
        </p:txBody>
      </p:sp>
      <p:sp>
        <p:nvSpPr>
          <p:cNvPr id="34" name="Text 32"/>
          <p:cNvSpPr/>
          <p:nvPr/>
        </p:nvSpPr>
        <p:spPr>
          <a:xfrm>
            <a:off x="3223022" y="1523702"/>
            <a:ext cx="836414" cy="190500"/>
          </a:xfrm>
          <a:prstGeom prst="rect">
            <a:avLst/>
          </a:prstGeom>
          <a:noFill/>
          <a:ln w="9525">
            <a:solidFill>
              <a:srgbClr val="DDDDDD"/>
            </a:solidFill>
          </a:ln>
        </p:spPr>
        <p:txBody>
          <a:bodyPr wrap="square" rtlCol="0" anchor="ctr"/>
          <a:lstStyle/>
          <a:p>
            <a:pPr marL="0" indent="0">
              <a:buNone/>
            </a:pPr>
            <a:endParaRPr lang="en-US" dirty="0"/>
          </a:p>
        </p:txBody>
      </p:sp>
      <p:sp>
        <p:nvSpPr>
          <p:cNvPr id="35" name="Text 33"/>
          <p:cNvSpPr/>
          <p:nvPr/>
        </p:nvSpPr>
        <p:spPr>
          <a:xfrm>
            <a:off x="3283297" y="1571327"/>
            <a:ext cx="730181" cy="95250"/>
          </a:xfrm>
          <a:prstGeom prst="rect">
            <a:avLst/>
          </a:prstGeom>
          <a:noFill/>
          <a:ln/>
        </p:spPr>
        <p:txBody>
          <a:bodyPr wrap="square" lIns="0" tIns="0" rIns="0" bIns="0" rtlCol="0" anchor="t"/>
          <a:lstStyle/>
          <a:p>
            <a:pPr marL="0" indent="0" algn="l">
              <a:buNone/>
            </a:pPr>
            <a:r>
              <a:rPr lang="en-US" sz="700" dirty="0">
                <a:solidFill>
                  <a:srgbClr val="2E7D32"/>
                </a:solidFill>
                <a:latin typeface="Arial" pitchFamily="34" charset="0"/>
                <a:ea typeface="Arial" pitchFamily="34" charset="-122"/>
                <a:cs typeface="Arial" pitchFamily="34" charset="-120"/>
              </a:rPr>
              <a:t>75.73%</a:t>
            </a:r>
            <a:endParaRPr lang="en-US" sz="700" dirty="0"/>
          </a:p>
        </p:txBody>
      </p:sp>
      <p:sp>
        <p:nvSpPr>
          <p:cNvPr id="36" name="Text 34"/>
          <p:cNvSpPr/>
          <p:nvPr/>
        </p:nvSpPr>
        <p:spPr>
          <a:xfrm>
            <a:off x="4059436" y="1523702"/>
            <a:ext cx="836414" cy="190500"/>
          </a:xfrm>
          <a:prstGeom prst="rect">
            <a:avLst/>
          </a:prstGeom>
          <a:noFill/>
          <a:ln w="9525">
            <a:solidFill>
              <a:srgbClr val="DDDDDD"/>
            </a:solidFill>
          </a:ln>
        </p:spPr>
        <p:txBody>
          <a:bodyPr wrap="square" rtlCol="0" anchor="ctr"/>
          <a:lstStyle/>
          <a:p>
            <a:pPr marL="0" indent="0">
              <a:buNone/>
            </a:pPr>
            <a:endParaRPr lang="en-US" dirty="0"/>
          </a:p>
        </p:txBody>
      </p:sp>
      <p:sp>
        <p:nvSpPr>
          <p:cNvPr id="37" name="Text 35"/>
          <p:cNvSpPr/>
          <p:nvPr/>
        </p:nvSpPr>
        <p:spPr>
          <a:xfrm>
            <a:off x="4119711" y="1571327"/>
            <a:ext cx="730181"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6.09%</a:t>
            </a:r>
            <a:endParaRPr lang="en-US" sz="700" dirty="0"/>
          </a:p>
        </p:txBody>
      </p:sp>
      <p:sp>
        <p:nvSpPr>
          <p:cNvPr id="38" name="Text 36"/>
          <p:cNvSpPr/>
          <p:nvPr/>
        </p:nvSpPr>
        <p:spPr>
          <a:xfrm>
            <a:off x="355550" y="1752302"/>
            <a:ext cx="1194495" cy="190500"/>
          </a:xfrm>
          <a:prstGeom prst="rect">
            <a:avLst/>
          </a:prstGeom>
          <a:noFill/>
          <a:ln w="9525">
            <a:solidFill>
              <a:srgbClr val="DDDDDD"/>
            </a:solidFill>
          </a:ln>
        </p:spPr>
        <p:txBody>
          <a:bodyPr wrap="square" rtlCol="0" anchor="ctr"/>
          <a:lstStyle/>
          <a:p>
            <a:pPr marL="0" indent="0">
              <a:buNone/>
            </a:pPr>
            <a:endParaRPr lang="en-US" dirty="0"/>
          </a:p>
        </p:txBody>
      </p:sp>
      <p:sp>
        <p:nvSpPr>
          <p:cNvPr id="39" name="Text 37"/>
          <p:cNvSpPr/>
          <p:nvPr/>
        </p:nvSpPr>
        <p:spPr>
          <a:xfrm>
            <a:off x="415826" y="1799927"/>
            <a:ext cx="1095423" cy="95250"/>
          </a:xfrm>
          <a:prstGeom prst="rect">
            <a:avLst/>
          </a:prstGeom>
          <a:noFill/>
          <a:ln/>
        </p:spPr>
        <p:txBody>
          <a:bodyPr wrap="square" lIns="0" tIns="0" rIns="0" bIns="0" rtlCol="0" anchor="t"/>
          <a:lstStyle/>
          <a:p>
            <a:pPr marL="0" indent="0" algn="l">
              <a:buNone/>
            </a:pPr>
            <a:r>
              <a:rPr lang="en-US" sz="700" b="1" dirty="0">
                <a:solidFill>
                  <a:srgbClr val="333333"/>
                </a:solidFill>
                <a:latin typeface="Arial" pitchFamily="34" charset="0"/>
                <a:ea typeface="Arial" pitchFamily="34" charset="-122"/>
                <a:cs typeface="Arial" pitchFamily="34" charset="-120"/>
              </a:rPr>
              <a:t>TransECA PGD</a:t>
            </a:r>
            <a:endParaRPr lang="en-US" sz="700" dirty="0"/>
          </a:p>
        </p:txBody>
      </p:sp>
      <p:sp>
        <p:nvSpPr>
          <p:cNvPr id="40" name="Text 38"/>
          <p:cNvSpPr/>
          <p:nvPr/>
        </p:nvSpPr>
        <p:spPr>
          <a:xfrm>
            <a:off x="1550045" y="1752302"/>
            <a:ext cx="836414" cy="190500"/>
          </a:xfrm>
          <a:prstGeom prst="rect">
            <a:avLst/>
          </a:prstGeom>
          <a:noFill/>
          <a:ln w="9525">
            <a:solidFill>
              <a:srgbClr val="DDDDDD"/>
            </a:solidFill>
          </a:ln>
        </p:spPr>
        <p:txBody>
          <a:bodyPr wrap="square" rtlCol="0" anchor="ctr"/>
          <a:lstStyle/>
          <a:p>
            <a:pPr marL="0" indent="0">
              <a:buNone/>
            </a:pPr>
            <a:endParaRPr lang="en-US" dirty="0"/>
          </a:p>
        </p:txBody>
      </p:sp>
      <p:sp>
        <p:nvSpPr>
          <p:cNvPr id="41" name="Text 39"/>
          <p:cNvSpPr/>
          <p:nvPr/>
        </p:nvSpPr>
        <p:spPr>
          <a:xfrm>
            <a:off x="1610320" y="1799927"/>
            <a:ext cx="730181"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92.16%</a:t>
            </a:r>
            <a:endParaRPr lang="en-US" sz="700" dirty="0"/>
          </a:p>
        </p:txBody>
      </p:sp>
      <p:sp>
        <p:nvSpPr>
          <p:cNvPr id="42" name="Text 40"/>
          <p:cNvSpPr/>
          <p:nvPr/>
        </p:nvSpPr>
        <p:spPr>
          <a:xfrm>
            <a:off x="2386459" y="1752302"/>
            <a:ext cx="836563" cy="190500"/>
          </a:xfrm>
          <a:prstGeom prst="rect">
            <a:avLst/>
          </a:prstGeom>
          <a:noFill/>
          <a:ln w="9525">
            <a:solidFill>
              <a:srgbClr val="DDDDDD"/>
            </a:solidFill>
          </a:ln>
        </p:spPr>
        <p:txBody>
          <a:bodyPr wrap="square" rtlCol="0" anchor="ctr"/>
          <a:lstStyle/>
          <a:p>
            <a:pPr marL="0" indent="0">
              <a:buNone/>
            </a:pPr>
            <a:endParaRPr lang="en-US" dirty="0"/>
          </a:p>
        </p:txBody>
      </p:sp>
      <p:sp>
        <p:nvSpPr>
          <p:cNvPr id="43" name="Text 41"/>
          <p:cNvSpPr/>
          <p:nvPr/>
        </p:nvSpPr>
        <p:spPr>
          <a:xfrm>
            <a:off x="2446734" y="1799927"/>
            <a:ext cx="730332" cy="95250"/>
          </a:xfrm>
          <a:prstGeom prst="rect">
            <a:avLst/>
          </a:prstGeom>
          <a:noFill/>
          <a:ln/>
        </p:spPr>
        <p:txBody>
          <a:bodyPr wrap="square" lIns="0" tIns="0" rIns="0" bIns="0" rtlCol="0" anchor="t"/>
          <a:lstStyle/>
          <a:p>
            <a:pPr marL="0" indent="0" algn="l">
              <a:buNone/>
            </a:pPr>
            <a:r>
              <a:rPr lang="en-US" sz="700" dirty="0">
                <a:solidFill>
                  <a:srgbClr val="2E7D32"/>
                </a:solidFill>
                <a:latin typeface="Arial" pitchFamily="34" charset="0"/>
                <a:ea typeface="Arial" pitchFamily="34" charset="-122"/>
                <a:cs typeface="Arial" pitchFamily="34" charset="-120"/>
              </a:rPr>
              <a:t>90.20%</a:t>
            </a:r>
            <a:endParaRPr lang="en-US" sz="700" dirty="0"/>
          </a:p>
        </p:txBody>
      </p:sp>
      <p:sp>
        <p:nvSpPr>
          <p:cNvPr id="44" name="Text 42"/>
          <p:cNvSpPr/>
          <p:nvPr/>
        </p:nvSpPr>
        <p:spPr>
          <a:xfrm>
            <a:off x="3223022" y="1752302"/>
            <a:ext cx="836414" cy="190500"/>
          </a:xfrm>
          <a:prstGeom prst="rect">
            <a:avLst/>
          </a:prstGeom>
          <a:noFill/>
          <a:ln w="9525">
            <a:solidFill>
              <a:srgbClr val="DDDDDD"/>
            </a:solidFill>
          </a:ln>
        </p:spPr>
        <p:txBody>
          <a:bodyPr wrap="square" rtlCol="0" anchor="ctr"/>
          <a:lstStyle/>
          <a:p>
            <a:pPr marL="0" indent="0">
              <a:buNone/>
            </a:pPr>
            <a:endParaRPr lang="en-US" dirty="0"/>
          </a:p>
        </p:txBody>
      </p:sp>
      <p:sp>
        <p:nvSpPr>
          <p:cNvPr id="45" name="Text 43"/>
          <p:cNvSpPr/>
          <p:nvPr/>
        </p:nvSpPr>
        <p:spPr>
          <a:xfrm>
            <a:off x="3283297" y="1799927"/>
            <a:ext cx="730181"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47.28%</a:t>
            </a:r>
            <a:endParaRPr lang="en-US" sz="700" dirty="0"/>
          </a:p>
        </p:txBody>
      </p:sp>
      <p:sp>
        <p:nvSpPr>
          <p:cNvPr id="46" name="Text 44"/>
          <p:cNvSpPr/>
          <p:nvPr/>
        </p:nvSpPr>
        <p:spPr>
          <a:xfrm>
            <a:off x="4059436" y="1752302"/>
            <a:ext cx="836414" cy="190500"/>
          </a:xfrm>
          <a:prstGeom prst="rect">
            <a:avLst/>
          </a:prstGeom>
          <a:noFill/>
          <a:ln w="9525">
            <a:solidFill>
              <a:srgbClr val="DDDDDD"/>
            </a:solidFill>
          </a:ln>
        </p:spPr>
        <p:txBody>
          <a:bodyPr wrap="square" rtlCol="0" anchor="ctr"/>
          <a:lstStyle/>
          <a:p>
            <a:pPr marL="0" indent="0">
              <a:buNone/>
            </a:pPr>
            <a:endParaRPr lang="en-US" dirty="0"/>
          </a:p>
        </p:txBody>
      </p:sp>
      <p:sp>
        <p:nvSpPr>
          <p:cNvPr id="47" name="Text 45"/>
          <p:cNvSpPr/>
          <p:nvPr/>
        </p:nvSpPr>
        <p:spPr>
          <a:xfrm>
            <a:off x="4119711" y="1799927"/>
            <a:ext cx="730181"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0.66%</a:t>
            </a:r>
            <a:endParaRPr lang="en-US" sz="700" dirty="0"/>
          </a:p>
        </p:txBody>
      </p:sp>
      <p:sp>
        <p:nvSpPr>
          <p:cNvPr id="48" name="Text 46"/>
          <p:cNvSpPr/>
          <p:nvPr/>
        </p:nvSpPr>
        <p:spPr>
          <a:xfrm>
            <a:off x="355550" y="2006203"/>
            <a:ext cx="4540300" cy="304354"/>
          </a:xfrm>
          <a:prstGeom prst="roundRect">
            <a:avLst>
              <a:gd name="adj" fmla="val 12518"/>
            </a:avLst>
          </a:prstGeom>
          <a:solidFill>
            <a:srgbClr val="FFF3EE"/>
          </a:solidFill>
          <a:ln/>
        </p:spPr>
        <p:txBody>
          <a:bodyPr wrap="square" rtlCol="0" anchor="ctr"/>
          <a:lstStyle/>
          <a:p>
            <a:pPr marL="0" indent="0">
              <a:buNone/>
            </a:pPr>
            <a:endParaRPr lang="en-US" dirty="0"/>
          </a:p>
        </p:txBody>
      </p:sp>
      <p:sp>
        <p:nvSpPr>
          <p:cNvPr id="49" name="Shape 47"/>
          <p:cNvSpPr/>
          <p:nvPr/>
        </p:nvSpPr>
        <p:spPr>
          <a:xfrm>
            <a:off x="374600" y="2006203"/>
            <a:ext cx="0" cy="304354"/>
          </a:xfrm>
          <a:prstGeom prst="line">
            <a:avLst/>
          </a:prstGeom>
          <a:noFill/>
          <a:ln w="38100">
            <a:solidFill>
              <a:srgbClr val="E75113"/>
            </a:solidFill>
            <a:prstDash val="solid"/>
          </a:ln>
        </p:spPr>
      </p:sp>
      <p:sp>
        <p:nvSpPr>
          <p:cNvPr id="50" name="Text 48"/>
          <p:cNvSpPr/>
          <p:nvPr/>
        </p:nvSpPr>
        <p:spPr>
          <a:xfrm>
            <a:off x="469850" y="2056954"/>
            <a:ext cx="4436796" cy="95250"/>
          </a:xfrm>
          <a:prstGeom prst="rect">
            <a:avLst/>
          </a:prstGeom>
          <a:noFill/>
          <a:ln/>
        </p:spPr>
        <p:txBody>
          <a:bodyPr wrap="square" lIns="0" tIns="0" rIns="0" bIns="0" rtlCol="0" anchor="t"/>
          <a:lstStyle/>
          <a:p>
            <a:pPr marL="0" indent="0" algn="l">
              <a:spcAft>
                <a:spcPts val="100"/>
              </a:spcAft>
              <a:buNone/>
            </a:pPr>
            <a:r>
              <a:rPr lang="en-US" sz="700" b="1" dirty="0">
                <a:solidFill>
                  <a:srgbClr val="E75113"/>
                </a:solidFill>
                <a:latin typeface="Arial" pitchFamily="34" charset="0"/>
                <a:ea typeface="Arial" pitchFamily="34" charset="-122"/>
                <a:cs typeface="Arial" pitchFamily="34" charset="-120"/>
              </a:rPr>
              <a:t>1. RF Unexpectedly Fragile</a:t>
            </a:r>
            <a:endParaRPr lang="en-US" sz="700" dirty="0"/>
          </a:p>
        </p:txBody>
      </p:sp>
      <p:sp>
        <p:nvSpPr>
          <p:cNvPr id="51" name="Text 49"/>
          <p:cNvSpPr/>
          <p:nvPr/>
        </p:nvSpPr>
        <p:spPr>
          <a:xfrm>
            <a:off x="469850" y="2164854"/>
            <a:ext cx="4436796" cy="94952"/>
          </a:xfrm>
          <a:prstGeom prst="rect">
            <a:avLst/>
          </a:prstGeom>
          <a:noFill/>
          <a:ln/>
        </p:spPr>
        <p:txBody>
          <a:bodyPr wrap="square" lIns="0" tIns="0" rIns="0" bIns="0" rtlCol="0" anchor="t"/>
          <a:lstStyle/>
          <a:p>
            <a:pPr marL="0" indent="0" algn="l">
              <a:lnSpc>
                <a:spcPts val="748"/>
              </a:lnSpc>
              <a:buNone/>
            </a:pPr>
            <a:r>
              <a:rPr lang="en-US" sz="650" dirty="0">
                <a:solidFill>
                  <a:srgbClr val="8B3A0F"/>
                </a:solidFill>
                <a:latin typeface="Arial" pitchFamily="34" charset="0"/>
                <a:ea typeface="Arial" pitchFamily="34" charset="-122"/>
                <a:cs typeface="Arial" pitchFamily="34" charset="-120"/>
              </a:rPr>
              <a:t>e=0.001 drops 99.6% to 47%. Axis-aligned boundaries allow minimal perturbations to cross.</a:t>
            </a:r>
            <a:endParaRPr lang="en-US" sz="650" dirty="0"/>
          </a:p>
        </p:txBody>
      </p:sp>
      <p:sp>
        <p:nvSpPr>
          <p:cNvPr id="52" name="Text 50"/>
          <p:cNvSpPr/>
          <p:nvPr/>
        </p:nvSpPr>
        <p:spPr>
          <a:xfrm>
            <a:off x="355550" y="2373957"/>
            <a:ext cx="4540300" cy="304354"/>
          </a:xfrm>
          <a:prstGeom prst="roundRect">
            <a:avLst>
              <a:gd name="adj" fmla="val 12518"/>
            </a:avLst>
          </a:prstGeom>
          <a:solidFill>
            <a:srgbClr val="FFF3EE"/>
          </a:solidFill>
          <a:ln/>
        </p:spPr>
        <p:txBody>
          <a:bodyPr wrap="square" rtlCol="0" anchor="ctr"/>
          <a:lstStyle/>
          <a:p>
            <a:pPr marL="0" indent="0">
              <a:buNone/>
            </a:pPr>
            <a:endParaRPr lang="en-US" dirty="0"/>
          </a:p>
        </p:txBody>
      </p:sp>
      <p:sp>
        <p:nvSpPr>
          <p:cNvPr id="53" name="Shape 51"/>
          <p:cNvSpPr/>
          <p:nvPr/>
        </p:nvSpPr>
        <p:spPr>
          <a:xfrm>
            <a:off x="374600" y="2373957"/>
            <a:ext cx="0" cy="304354"/>
          </a:xfrm>
          <a:prstGeom prst="line">
            <a:avLst/>
          </a:prstGeom>
          <a:noFill/>
          <a:ln w="38100">
            <a:solidFill>
              <a:srgbClr val="E75113"/>
            </a:solidFill>
            <a:prstDash val="solid"/>
          </a:ln>
        </p:spPr>
      </p:sp>
      <p:sp>
        <p:nvSpPr>
          <p:cNvPr id="54" name="Text 52"/>
          <p:cNvSpPr/>
          <p:nvPr/>
        </p:nvSpPr>
        <p:spPr>
          <a:xfrm>
            <a:off x="469850" y="2424708"/>
            <a:ext cx="4436796" cy="95250"/>
          </a:xfrm>
          <a:prstGeom prst="rect">
            <a:avLst/>
          </a:prstGeom>
          <a:noFill/>
          <a:ln/>
        </p:spPr>
        <p:txBody>
          <a:bodyPr wrap="square" lIns="0" tIns="0" rIns="0" bIns="0" rtlCol="0" anchor="t"/>
          <a:lstStyle/>
          <a:p>
            <a:pPr marL="0" indent="0" algn="l">
              <a:spcAft>
                <a:spcPts val="100"/>
              </a:spcAft>
              <a:buNone/>
            </a:pPr>
            <a:r>
              <a:rPr lang="en-US" sz="700" b="1" dirty="0">
                <a:solidFill>
                  <a:srgbClr val="E75113"/>
                </a:solidFill>
                <a:latin typeface="Arial" pitchFamily="34" charset="0"/>
                <a:ea typeface="Arial" pitchFamily="34" charset="-122"/>
                <a:cs typeface="Arial" pitchFamily="34" charset="-120"/>
              </a:rPr>
              <a:t>2. PGD Stronger than FGSM</a:t>
            </a:r>
            <a:endParaRPr lang="en-US" sz="700" dirty="0"/>
          </a:p>
        </p:txBody>
      </p:sp>
      <p:sp>
        <p:nvSpPr>
          <p:cNvPr id="55" name="Text 53"/>
          <p:cNvSpPr/>
          <p:nvPr/>
        </p:nvSpPr>
        <p:spPr>
          <a:xfrm>
            <a:off x="469850" y="2532608"/>
            <a:ext cx="4436796" cy="94952"/>
          </a:xfrm>
          <a:prstGeom prst="rect">
            <a:avLst/>
          </a:prstGeom>
          <a:noFill/>
          <a:ln/>
        </p:spPr>
        <p:txBody>
          <a:bodyPr wrap="square" lIns="0" tIns="0" rIns="0" bIns="0" rtlCol="0" anchor="t"/>
          <a:lstStyle/>
          <a:p>
            <a:pPr marL="0" indent="0" algn="l">
              <a:lnSpc>
                <a:spcPts val="748"/>
              </a:lnSpc>
              <a:buNone/>
            </a:pPr>
            <a:r>
              <a:rPr lang="en-US" sz="650" dirty="0">
                <a:solidFill>
                  <a:srgbClr val="8B3A0F"/>
                </a:solidFill>
                <a:latin typeface="Arial" pitchFamily="34" charset="0"/>
                <a:ea typeface="Arial" pitchFamily="34" charset="-122"/>
                <a:cs typeface="Arial" pitchFamily="34" charset="-120"/>
              </a:rPr>
              <a:t>At e=0.01: PGD 28.5pp lower (47% vs 76%). Multi-step optimization finds stronger examples.</a:t>
            </a:r>
            <a:endParaRPr lang="en-US" sz="650" dirty="0"/>
          </a:p>
        </p:txBody>
      </p:sp>
      <p:sp>
        <p:nvSpPr>
          <p:cNvPr id="56" name="Text 54"/>
          <p:cNvSpPr/>
          <p:nvPr/>
        </p:nvSpPr>
        <p:spPr>
          <a:xfrm>
            <a:off x="355550" y="2741712"/>
            <a:ext cx="4540300" cy="399306"/>
          </a:xfrm>
          <a:prstGeom prst="roundRect">
            <a:avLst>
              <a:gd name="adj" fmla="val 9542"/>
            </a:avLst>
          </a:prstGeom>
          <a:solidFill>
            <a:srgbClr val="FFF3EE"/>
          </a:solidFill>
          <a:ln/>
        </p:spPr>
        <p:txBody>
          <a:bodyPr wrap="square" rtlCol="0" anchor="ctr"/>
          <a:lstStyle/>
          <a:p>
            <a:pPr marL="0" indent="0">
              <a:buNone/>
            </a:pPr>
            <a:endParaRPr lang="en-US" dirty="0"/>
          </a:p>
        </p:txBody>
      </p:sp>
      <p:sp>
        <p:nvSpPr>
          <p:cNvPr id="57" name="Shape 55"/>
          <p:cNvSpPr/>
          <p:nvPr/>
        </p:nvSpPr>
        <p:spPr>
          <a:xfrm>
            <a:off x="374600" y="2741712"/>
            <a:ext cx="0" cy="399306"/>
          </a:xfrm>
          <a:prstGeom prst="line">
            <a:avLst/>
          </a:prstGeom>
          <a:noFill/>
          <a:ln w="38100">
            <a:solidFill>
              <a:srgbClr val="E75113"/>
            </a:solidFill>
            <a:prstDash val="solid"/>
          </a:ln>
        </p:spPr>
      </p:sp>
      <p:sp>
        <p:nvSpPr>
          <p:cNvPr id="58" name="Text 56"/>
          <p:cNvSpPr/>
          <p:nvPr/>
        </p:nvSpPr>
        <p:spPr>
          <a:xfrm>
            <a:off x="469850" y="2792462"/>
            <a:ext cx="4436796" cy="95250"/>
          </a:xfrm>
          <a:prstGeom prst="rect">
            <a:avLst/>
          </a:prstGeom>
          <a:noFill/>
          <a:ln/>
        </p:spPr>
        <p:txBody>
          <a:bodyPr wrap="square" lIns="0" tIns="0" rIns="0" bIns="0" rtlCol="0" anchor="t"/>
          <a:lstStyle/>
          <a:p>
            <a:pPr marL="0" indent="0" algn="l">
              <a:spcAft>
                <a:spcPts val="100"/>
              </a:spcAft>
              <a:buNone/>
            </a:pPr>
            <a:r>
              <a:rPr lang="en-US" sz="700" b="1" dirty="0">
                <a:solidFill>
                  <a:srgbClr val="E75113"/>
                </a:solidFill>
                <a:latin typeface="Arial" pitchFamily="34" charset="0"/>
                <a:ea typeface="Arial" pitchFamily="34" charset="-122"/>
                <a:cs typeface="Arial" pitchFamily="34" charset="-120"/>
              </a:rPr>
              <a:t>3. Orthogonal Weaknesses</a:t>
            </a:r>
            <a:endParaRPr lang="en-US" sz="700" dirty="0"/>
          </a:p>
        </p:txBody>
      </p:sp>
      <p:sp>
        <p:nvSpPr>
          <p:cNvPr id="59" name="Text 57"/>
          <p:cNvSpPr/>
          <p:nvPr/>
        </p:nvSpPr>
        <p:spPr>
          <a:xfrm>
            <a:off x="469850" y="2900363"/>
            <a:ext cx="4436796" cy="189905"/>
          </a:xfrm>
          <a:prstGeom prst="rect">
            <a:avLst/>
          </a:prstGeom>
          <a:noFill/>
          <a:ln/>
        </p:spPr>
        <p:txBody>
          <a:bodyPr wrap="square" lIns="0" tIns="0" rIns="0" bIns="0" rtlCol="0" anchor="t"/>
          <a:lstStyle/>
          <a:p>
            <a:pPr marL="0" indent="0" algn="l">
              <a:lnSpc>
                <a:spcPts val="748"/>
              </a:lnSpc>
              <a:buNone/>
            </a:pPr>
            <a:r>
              <a:rPr lang="en-US" sz="650" dirty="0">
                <a:solidFill>
                  <a:srgbClr val="8B3A0F"/>
                </a:solidFill>
                <a:latin typeface="Arial" pitchFamily="34" charset="0"/>
                <a:ea typeface="Arial" pitchFamily="34" charset="-122"/>
                <a:cs typeface="Arial" pitchFamily="34" charset="-120"/>
              </a:rPr>
              <a:t>RF: fragile to noise, immune to gradients. TransECA: robust to noise, sensitive to gradients. No single attack breaches both.</a:t>
            </a:r>
            <a:endParaRPr lang="en-US" sz="650" dirty="0"/>
          </a:p>
        </p:txBody>
      </p:sp>
      <p:sp>
        <p:nvSpPr>
          <p:cNvPr id="60" name="Text 58"/>
          <p:cNvSpPr/>
          <p:nvPr/>
        </p:nvSpPr>
        <p:spPr>
          <a:xfrm>
            <a:off x="355550" y="3204418"/>
            <a:ext cx="4540300" cy="392013"/>
          </a:xfrm>
          <a:prstGeom prst="roundRect">
            <a:avLst>
              <a:gd name="adj" fmla="val 12959"/>
            </a:avLst>
          </a:prstGeom>
          <a:solidFill>
            <a:srgbClr val="F0F2F5"/>
          </a:solidFill>
          <a:ln w="9525">
            <a:solidFill>
              <a:srgbClr val="003C71"/>
            </a:solidFill>
          </a:ln>
        </p:spPr>
        <p:txBody>
          <a:bodyPr wrap="square" rtlCol="0" anchor="ctr"/>
          <a:lstStyle/>
          <a:p>
            <a:pPr marL="0" indent="0">
              <a:buNone/>
            </a:pPr>
            <a:endParaRPr lang="en-US" dirty="0"/>
          </a:p>
        </p:txBody>
      </p:sp>
      <p:sp>
        <p:nvSpPr>
          <p:cNvPr id="61" name="Text 59"/>
          <p:cNvSpPr/>
          <p:nvPr/>
        </p:nvSpPr>
        <p:spPr>
          <a:xfrm>
            <a:off x="453926" y="3277344"/>
            <a:ext cx="4430420" cy="114300"/>
          </a:xfrm>
          <a:prstGeom prst="rect">
            <a:avLst/>
          </a:prstGeom>
          <a:noFill/>
          <a:ln/>
        </p:spPr>
        <p:txBody>
          <a:bodyPr wrap="square" lIns="0" tIns="0" rIns="0" bIns="0" rtlCol="0" anchor="t"/>
          <a:lstStyle/>
          <a:p>
            <a:pPr marL="0" indent="0" algn="l">
              <a:spcAft>
                <a:spcPts val="200"/>
              </a:spcAft>
              <a:buNone/>
            </a:pPr>
            <a:r>
              <a:rPr lang="en-US" sz="800" b="1" dirty="0">
                <a:solidFill>
                  <a:srgbClr val="003C71"/>
                </a:solidFill>
                <a:latin typeface="Arial" pitchFamily="34" charset="0"/>
                <a:ea typeface="Arial" pitchFamily="34" charset="-122"/>
                <a:cs typeface="Arial" pitchFamily="34" charset="-120"/>
              </a:rPr>
              <a:t>System Evasion Rate (PGD e=0.01)</a:t>
            </a:r>
            <a:endParaRPr lang="en-US" sz="800" dirty="0"/>
          </a:p>
        </p:txBody>
      </p:sp>
      <p:sp>
        <p:nvSpPr>
          <p:cNvPr id="62" name="Text 60"/>
          <p:cNvSpPr/>
          <p:nvPr/>
        </p:nvSpPr>
        <p:spPr>
          <a:xfrm>
            <a:off x="453926" y="3416945"/>
            <a:ext cx="4430420" cy="106561"/>
          </a:xfrm>
          <a:prstGeom prst="rect">
            <a:avLst/>
          </a:prstGeom>
          <a:noFill/>
          <a:ln/>
        </p:spPr>
        <p:txBody>
          <a:bodyPr wrap="square" lIns="0" tIns="0" rIns="0" bIns="0" rtlCol="0" anchor="t"/>
          <a:lstStyle/>
          <a:p>
            <a:pPr marL="0" indent="0" algn="l">
              <a:lnSpc>
                <a:spcPts val="840"/>
              </a:lnSpc>
              <a:buNone/>
            </a:pPr>
            <a:r>
              <a:rPr lang="en-US" sz="700" dirty="0">
                <a:solidFill>
                  <a:srgbClr val="333333"/>
                </a:solidFill>
                <a:latin typeface="Arial" pitchFamily="34" charset="0"/>
                <a:ea typeface="Arial" pitchFamily="34" charset="-122"/>
                <a:cs typeface="Arial" pitchFamily="34" charset="-120"/>
              </a:rPr>
              <a:t>P(Evasion) = 0.1525 x 0.5272 = </a:t>
            </a:r>
            <a:r>
              <a:rPr lang="en-US" sz="700" b="1" dirty="0">
                <a:solidFill>
                  <a:srgbClr val="333333"/>
                </a:solidFill>
                <a:latin typeface="Arial" pitchFamily="34" charset="0"/>
                <a:ea typeface="Arial" pitchFamily="34" charset="-122"/>
                <a:cs typeface="Arial" pitchFamily="34" charset="-120"/>
              </a:rPr>
              <a:t>8.04%</a:t>
            </a:r>
            <a:r>
              <a:rPr lang="en-US" sz="700" dirty="0">
                <a:solidFill>
                  <a:srgbClr val="333333"/>
                </a:solidFill>
                <a:latin typeface="Arial" pitchFamily="34" charset="0"/>
                <a:ea typeface="Arial" pitchFamily="34" charset="-122"/>
                <a:cs typeface="Arial" pitchFamily="34" charset="-120"/>
              </a:rPr>
              <a:t> (vs single-layer 52.72% — 6.6x reduction)</a:t>
            </a:r>
            <a:endParaRPr lang="en-US" sz="700" dirty="0"/>
          </a:p>
        </p:txBody>
      </p:sp>
      <p:sp>
        <p:nvSpPr>
          <p:cNvPr id="63" name="Text 61"/>
          <p:cNvSpPr/>
          <p:nvPr/>
        </p:nvSpPr>
        <p:spPr>
          <a:xfrm>
            <a:off x="5073551" y="723751"/>
            <a:ext cx="3789197" cy="114300"/>
          </a:xfrm>
          <a:prstGeom prst="rect">
            <a:avLst/>
          </a:prstGeom>
          <a:noFill/>
          <a:ln/>
        </p:spPr>
        <p:txBody>
          <a:bodyPr wrap="square" lIns="0" tIns="0" rIns="0" bIns="0" rtlCol="0" anchor="t"/>
          <a:lstStyle/>
          <a:p>
            <a:pPr>
              <a:spcAft>
                <a:spcPts val="100"/>
              </a:spcAft>
            </a:pPr>
            <a:r>
              <a:rPr lang="en-US" sz="800" b="1" dirty="0">
                <a:solidFill>
                  <a:srgbClr val="333333"/>
                </a:solidFill>
                <a:latin typeface="Arial" pitchFamily="34" charset="0"/>
                <a:ea typeface="Arial" pitchFamily="34" charset="-122"/>
                <a:cs typeface="Arial" pitchFamily="34" charset="-120"/>
              </a:rPr>
              <a:t>Figure 5</a:t>
            </a:r>
            <a:r>
              <a:rPr lang="zh-CN" altLang="en-US" sz="800" b="1" dirty="0">
                <a:solidFill>
                  <a:srgbClr val="333333"/>
                </a:solidFill>
                <a:latin typeface="Arial" pitchFamily="34" charset="0"/>
                <a:ea typeface="Arial" pitchFamily="34" charset="-122"/>
                <a:cs typeface="Arial" pitchFamily="34" charset="-120"/>
              </a:rPr>
              <a:t>：</a:t>
            </a:r>
            <a:r>
              <a:rPr lang="en-US" altLang="zh-CN" sz="800" i="1" dirty="0">
                <a:solidFill>
                  <a:srgbClr val="333333"/>
                </a:solidFill>
                <a:latin typeface="Arial" pitchFamily="34" charset="0"/>
                <a:ea typeface="Arial" pitchFamily="34" charset="-122"/>
                <a:cs typeface="Arial" pitchFamily="34" charset="-120"/>
              </a:rPr>
              <a:t>Adversarial Robustness Degradation Curve (E14)</a:t>
            </a:r>
            <a:endParaRPr lang="en-US" altLang="zh-CN" sz="800" dirty="0"/>
          </a:p>
          <a:p>
            <a:pPr marL="0" indent="0" algn="l">
              <a:spcAft>
                <a:spcPts val="100"/>
              </a:spcAft>
              <a:buNone/>
            </a:pPr>
            <a:endParaRPr lang="en-US" sz="800" dirty="0"/>
          </a:p>
        </p:txBody>
      </p:sp>
      <p:sp>
        <p:nvSpPr>
          <p:cNvPr id="64" name="Text 62"/>
          <p:cNvSpPr/>
          <p:nvPr/>
        </p:nvSpPr>
        <p:spPr>
          <a:xfrm>
            <a:off x="5073551" y="850702"/>
            <a:ext cx="3789197" cy="114300"/>
          </a:xfrm>
          <a:prstGeom prst="rect">
            <a:avLst/>
          </a:prstGeom>
          <a:noFill/>
          <a:ln/>
        </p:spPr>
        <p:txBody>
          <a:bodyPr wrap="square" lIns="0" tIns="0" rIns="0" bIns="0" rtlCol="0" anchor="t"/>
          <a:lstStyle/>
          <a:p>
            <a:pPr marL="0" indent="0" algn="l">
              <a:spcAft>
                <a:spcPts val="300"/>
              </a:spcAft>
              <a:buNone/>
            </a:pPr>
            <a:endParaRPr lang="en-US" sz="800" dirty="0"/>
          </a:p>
        </p:txBody>
      </p:sp>
      <p:sp>
        <p:nvSpPr>
          <p:cNvPr id="65" name="Text 63"/>
          <p:cNvSpPr/>
          <p:nvPr/>
        </p:nvSpPr>
        <p:spPr>
          <a:xfrm>
            <a:off x="5073551" y="4697760"/>
            <a:ext cx="3789197" cy="198239"/>
          </a:xfrm>
          <a:prstGeom prst="rect">
            <a:avLst/>
          </a:prstGeom>
          <a:noFill/>
          <a:ln/>
        </p:spPr>
        <p:txBody>
          <a:bodyPr wrap="square" lIns="0" tIns="0" rIns="0" bIns="0" rtlCol="0" anchor="t"/>
          <a:lstStyle/>
          <a:p>
            <a:pPr marL="0" indent="0" algn="l">
              <a:lnSpc>
                <a:spcPts val="780"/>
              </a:lnSpc>
              <a:spcBef>
                <a:spcPts val="300"/>
              </a:spcBef>
              <a:buNone/>
            </a:pPr>
            <a:r>
              <a:rPr lang="en-US" sz="650" i="1" dirty="0">
                <a:solidFill>
                  <a:srgbClr val="555555"/>
                </a:solidFill>
                <a:latin typeface="Arial" pitchFamily="34" charset="0"/>
                <a:ea typeface="Arial" pitchFamily="34" charset="-122"/>
                <a:cs typeface="Arial" pitchFamily="34" charset="-120"/>
              </a:rPr>
              <a:t>Note.</a:t>
            </a:r>
            <a:r>
              <a:rPr lang="en-US" sz="650" dirty="0">
                <a:solidFill>
                  <a:srgbClr val="555555"/>
                </a:solidFill>
                <a:latin typeface="Arial" pitchFamily="34" charset="0"/>
                <a:ea typeface="Arial" pitchFamily="34" charset="-122"/>
                <a:cs typeface="Arial" pitchFamily="34" charset="-120"/>
              </a:rPr>
              <a:t> Accuracy vs. perturbation budget (epsilon) for FGSM and PGD attacks on TransECA-Net and L-inf noise on RF. Adapted from Madry et al. (2018).</a:t>
            </a:r>
            <a:endParaRPr lang="en-US" sz="650" dirty="0"/>
          </a:p>
        </p:txBody>
      </p:sp>
      <p:sp>
        <p:nvSpPr>
          <p:cNvPr id="66" name="Text 64"/>
          <p:cNvSpPr/>
          <p:nvPr/>
        </p:nvSpPr>
        <p:spPr>
          <a:xfrm>
            <a:off x="0" y="4946749"/>
            <a:ext cx="9144000" cy="196751"/>
          </a:xfrm>
          <a:prstGeom prst="rect">
            <a:avLst/>
          </a:prstGeom>
          <a:solidFill>
            <a:srgbClr val="F0F2F5"/>
          </a:solidFill>
          <a:ln/>
        </p:spPr>
        <p:txBody>
          <a:bodyPr wrap="square" rtlCol="0" anchor="ctr"/>
          <a:lstStyle/>
          <a:p>
            <a:pPr marL="0" indent="0">
              <a:buNone/>
            </a:pPr>
            <a:endParaRPr lang="en-US" dirty="0"/>
          </a:p>
        </p:txBody>
      </p:sp>
      <p:sp>
        <p:nvSpPr>
          <p:cNvPr id="67" name="Text 65"/>
          <p:cNvSpPr/>
          <p:nvPr/>
        </p:nvSpPr>
        <p:spPr>
          <a:xfrm>
            <a:off x="355550" y="4997500"/>
            <a:ext cx="8601557" cy="95250"/>
          </a:xfrm>
          <a:prstGeom prst="rect">
            <a:avLst/>
          </a:prstGeom>
          <a:noFill/>
          <a:ln/>
        </p:spPr>
        <p:txBody>
          <a:bodyPr wrap="square" lIns="0" tIns="0" rIns="0" bIns="0" rtlCol="0" anchor="t"/>
          <a:lstStyle/>
          <a:p>
            <a:pPr marL="0" indent="0" algn="l">
              <a:buNone/>
            </a:pPr>
            <a:r>
              <a:rPr lang="en-US" sz="700" dirty="0">
                <a:solidFill>
                  <a:srgbClr val="888888"/>
                </a:solidFill>
                <a:latin typeface="Arial" pitchFamily="34" charset="0"/>
                <a:ea typeface="Arial" pitchFamily="34" charset="-122"/>
                <a:cs typeface="Arial" pitchFamily="34" charset="-120"/>
              </a:rPr>
              <a:t>Madry, A., Makelov, A., Schmidt, L., Tsipras, D., &amp; Vladu, A. (2018). Towards deep learning models resistant to adversarial attacks. ICLR.</a:t>
            </a:r>
            <a:endParaRPr lang="en-US" sz="700" dirty="0"/>
          </a:p>
        </p:txBody>
      </p:sp>
      <p:pic>
        <p:nvPicPr>
          <p:cNvPr id="68" name="Image 0" descr="preencoded.png"/>
          <p:cNvPicPr>
            <a:picLocks noChangeAspect="1"/>
          </p:cNvPicPr>
          <p:nvPr/>
        </p:nvPicPr>
        <p:blipFill>
          <a:blip r:embed="rId3"/>
          <a:stretch>
            <a:fillRect/>
          </a:stretch>
        </p:blipFill>
        <p:spPr>
          <a:xfrm>
            <a:off x="5001895" y="1075015"/>
            <a:ext cx="3976215" cy="168384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6758496"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Cross-Dataset Generalization and Visualization (E15+E12)</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355550" y="723751"/>
            <a:ext cx="4210151" cy="121890"/>
          </a:xfrm>
          <a:prstGeom prst="rect">
            <a:avLst/>
          </a:prstGeom>
          <a:noFill/>
          <a:ln/>
        </p:spPr>
        <p:txBody>
          <a:bodyPr wrap="square" lIns="0" tIns="0" rIns="0" bIns="0" rtlCol="0" anchor="t"/>
          <a:lstStyle/>
          <a:p>
            <a:pPr marL="0" indent="0" algn="l">
              <a:lnSpc>
                <a:spcPts val="960"/>
              </a:lnSpc>
              <a:spcAft>
                <a:spcPts val="100"/>
              </a:spcAft>
              <a:buNone/>
            </a:pPr>
            <a:r>
              <a:rPr lang="en-US" sz="800" b="1" dirty="0">
                <a:solidFill>
                  <a:srgbClr val="333333"/>
                </a:solidFill>
                <a:latin typeface="Arial" pitchFamily="34" charset="0"/>
                <a:ea typeface="Arial" pitchFamily="34" charset="-122"/>
                <a:cs typeface="Arial" pitchFamily="34" charset="-120"/>
              </a:rPr>
              <a:t>Table 9</a:t>
            </a:r>
            <a:endParaRPr lang="en-US" sz="800" dirty="0"/>
          </a:p>
        </p:txBody>
      </p:sp>
      <p:sp>
        <p:nvSpPr>
          <p:cNvPr id="7" name="Text 5"/>
          <p:cNvSpPr/>
          <p:nvPr/>
        </p:nvSpPr>
        <p:spPr>
          <a:xfrm>
            <a:off x="355550" y="896392"/>
            <a:ext cx="4210151" cy="121890"/>
          </a:xfrm>
          <a:prstGeom prst="rect">
            <a:avLst/>
          </a:prstGeom>
          <a:noFill/>
          <a:ln/>
        </p:spPr>
        <p:txBody>
          <a:bodyPr wrap="square" lIns="0" tIns="0" rIns="0" bIns="0" rtlCol="0" anchor="t"/>
          <a:lstStyle/>
          <a:p>
            <a:pPr marL="0" indent="0" algn="l">
              <a:lnSpc>
                <a:spcPts val="960"/>
              </a:lnSpc>
              <a:spcAft>
                <a:spcPts val="200"/>
              </a:spcAft>
              <a:buNone/>
            </a:pPr>
            <a:r>
              <a:rPr lang="en-US" sz="800" i="1" dirty="0">
                <a:solidFill>
                  <a:srgbClr val="333333"/>
                </a:solidFill>
                <a:latin typeface="Arial" pitchFamily="34" charset="0"/>
                <a:ea typeface="Arial" pitchFamily="34" charset="-122"/>
                <a:cs typeface="Arial" pitchFamily="34" charset="-120"/>
              </a:rPr>
              <a:t>Cross-Dataset Generalization Performance: CIC-IDS2017 vs. UNSW-NB15 (E15)</a:t>
            </a:r>
            <a:endParaRPr lang="en-US" sz="800" dirty="0"/>
          </a:p>
        </p:txBody>
      </p:sp>
      <p:sp>
        <p:nvSpPr>
          <p:cNvPr id="8" name="Text 6"/>
          <p:cNvSpPr/>
          <p:nvPr/>
        </p:nvSpPr>
        <p:spPr>
          <a:xfrm>
            <a:off x="355550" y="1081683"/>
            <a:ext cx="1327249" cy="20955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9" name="Text 7"/>
          <p:cNvSpPr/>
          <p:nvPr/>
        </p:nvSpPr>
        <p:spPr>
          <a:xfrm>
            <a:off x="428476" y="1129308"/>
            <a:ext cx="1205026" cy="114300"/>
          </a:xfrm>
          <a:prstGeom prst="rect">
            <a:avLst/>
          </a:prstGeom>
          <a:noFill/>
          <a:ln/>
        </p:spPr>
        <p:txBody>
          <a:bodyPr wrap="square" lIns="0" tIns="0" rIns="0" bIns="0" rtlCol="0" anchor="t"/>
          <a:lstStyle/>
          <a:p>
            <a:pPr marL="0" indent="0" algn="l">
              <a:lnSpc>
                <a:spcPts val="900"/>
              </a:lnSpc>
              <a:buNone/>
            </a:pPr>
            <a:r>
              <a:rPr lang="en-US" sz="750" b="1" dirty="0">
                <a:solidFill>
                  <a:srgbClr val="FFFFFF"/>
                </a:solidFill>
                <a:latin typeface="Arial" pitchFamily="34" charset="0"/>
                <a:ea typeface="Arial" pitchFamily="34" charset="-122"/>
                <a:cs typeface="Arial" pitchFamily="34" charset="-120"/>
              </a:rPr>
              <a:t>Dataset</a:t>
            </a:r>
            <a:endParaRPr lang="en-US" sz="750" dirty="0"/>
          </a:p>
        </p:txBody>
      </p:sp>
      <p:sp>
        <p:nvSpPr>
          <p:cNvPr id="10" name="Text 8"/>
          <p:cNvSpPr/>
          <p:nvPr/>
        </p:nvSpPr>
        <p:spPr>
          <a:xfrm>
            <a:off x="1682800" y="1081683"/>
            <a:ext cx="933450" cy="20955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1" name="Text 9"/>
          <p:cNvSpPr/>
          <p:nvPr/>
        </p:nvSpPr>
        <p:spPr>
          <a:xfrm>
            <a:off x="1755725" y="1129308"/>
            <a:ext cx="803350" cy="114300"/>
          </a:xfrm>
          <a:prstGeom prst="rect">
            <a:avLst/>
          </a:prstGeom>
          <a:noFill/>
          <a:ln/>
        </p:spPr>
        <p:txBody>
          <a:bodyPr wrap="square" lIns="0" tIns="0" rIns="0" bIns="0" rtlCol="0" anchor="t"/>
          <a:lstStyle/>
          <a:p>
            <a:pPr marL="0" indent="0" algn="l">
              <a:lnSpc>
                <a:spcPts val="900"/>
              </a:lnSpc>
              <a:buNone/>
            </a:pPr>
            <a:r>
              <a:rPr lang="en-US" sz="750" b="1" dirty="0">
                <a:solidFill>
                  <a:srgbClr val="FFFFFF"/>
                </a:solidFill>
                <a:latin typeface="Arial" pitchFamily="34" charset="0"/>
                <a:ea typeface="Arial" pitchFamily="34" charset="-122"/>
                <a:cs typeface="Arial" pitchFamily="34" charset="-120"/>
              </a:rPr>
              <a:t>Acc</a:t>
            </a:r>
            <a:endParaRPr lang="en-US" sz="750" dirty="0"/>
          </a:p>
        </p:txBody>
      </p:sp>
      <p:sp>
        <p:nvSpPr>
          <p:cNvPr id="12" name="Text 10"/>
          <p:cNvSpPr/>
          <p:nvPr/>
        </p:nvSpPr>
        <p:spPr>
          <a:xfrm>
            <a:off x="2616250" y="1081683"/>
            <a:ext cx="933450" cy="20955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3" name="Text 11"/>
          <p:cNvSpPr/>
          <p:nvPr/>
        </p:nvSpPr>
        <p:spPr>
          <a:xfrm>
            <a:off x="2689175" y="1129308"/>
            <a:ext cx="803350" cy="114300"/>
          </a:xfrm>
          <a:prstGeom prst="rect">
            <a:avLst/>
          </a:prstGeom>
          <a:noFill/>
          <a:ln/>
        </p:spPr>
        <p:txBody>
          <a:bodyPr wrap="square" lIns="0" tIns="0" rIns="0" bIns="0" rtlCol="0" anchor="t"/>
          <a:lstStyle/>
          <a:p>
            <a:pPr marL="0" indent="0" algn="l">
              <a:lnSpc>
                <a:spcPts val="900"/>
              </a:lnSpc>
              <a:buNone/>
            </a:pPr>
            <a:r>
              <a:rPr lang="en-US" sz="750" b="1" dirty="0">
                <a:solidFill>
                  <a:srgbClr val="FFFFFF"/>
                </a:solidFill>
                <a:latin typeface="Arial" pitchFamily="34" charset="0"/>
                <a:ea typeface="Arial" pitchFamily="34" charset="-122"/>
                <a:cs typeface="Arial" pitchFamily="34" charset="-120"/>
              </a:rPr>
              <a:t>W-F1</a:t>
            </a:r>
            <a:endParaRPr lang="en-US" sz="750" dirty="0"/>
          </a:p>
        </p:txBody>
      </p:sp>
      <p:sp>
        <p:nvSpPr>
          <p:cNvPr id="14" name="Text 12"/>
          <p:cNvSpPr/>
          <p:nvPr/>
        </p:nvSpPr>
        <p:spPr>
          <a:xfrm>
            <a:off x="3549700" y="1081683"/>
            <a:ext cx="933450" cy="20955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5" name="Text 13"/>
          <p:cNvSpPr/>
          <p:nvPr/>
        </p:nvSpPr>
        <p:spPr>
          <a:xfrm>
            <a:off x="3622625" y="1129308"/>
            <a:ext cx="803350" cy="114300"/>
          </a:xfrm>
          <a:prstGeom prst="rect">
            <a:avLst/>
          </a:prstGeom>
          <a:noFill/>
          <a:ln/>
        </p:spPr>
        <p:txBody>
          <a:bodyPr wrap="square" lIns="0" tIns="0" rIns="0" bIns="0" rtlCol="0" anchor="t"/>
          <a:lstStyle/>
          <a:p>
            <a:pPr marL="0" indent="0" algn="l">
              <a:lnSpc>
                <a:spcPts val="900"/>
              </a:lnSpc>
              <a:buNone/>
            </a:pPr>
            <a:r>
              <a:rPr lang="en-US" sz="750" b="1" dirty="0">
                <a:solidFill>
                  <a:srgbClr val="FFFFFF"/>
                </a:solidFill>
                <a:latin typeface="Arial" pitchFamily="34" charset="0"/>
                <a:ea typeface="Arial" pitchFamily="34" charset="-122"/>
                <a:cs typeface="Arial" pitchFamily="34" charset="-120"/>
              </a:rPr>
              <a:t>M-F1</a:t>
            </a:r>
            <a:endParaRPr lang="en-US" sz="750" dirty="0"/>
          </a:p>
        </p:txBody>
      </p:sp>
      <p:sp>
        <p:nvSpPr>
          <p:cNvPr id="16" name="Text 14"/>
          <p:cNvSpPr/>
          <p:nvPr/>
        </p:nvSpPr>
        <p:spPr>
          <a:xfrm>
            <a:off x="355550" y="1329333"/>
            <a:ext cx="1327249" cy="209550"/>
          </a:xfrm>
          <a:prstGeom prst="rect">
            <a:avLst/>
          </a:prstGeom>
          <a:noFill/>
          <a:ln w="9525">
            <a:solidFill>
              <a:srgbClr val="DDDDDD"/>
            </a:solidFill>
          </a:ln>
        </p:spPr>
        <p:txBody>
          <a:bodyPr wrap="square" rtlCol="0" anchor="ctr"/>
          <a:lstStyle/>
          <a:p>
            <a:pPr marL="0" indent="0">
              <a:buNone/>
            </a:pPr>
            <a:endParaRPr lang="en-US" dirty="0"/>
          </a:p>
        </p:txBody>
      </p:sp>
      <p:sp>
        <p:nvSpPr>
          <p:cNvPr id="17" name="Text 15"/>
          <p:cNvSpPr/>
          <p:nvPr/>
        </p:nvSpPr>
        <p:spPr>
          <a:xfrm>
            <a:off x="428476" y="1376958"/>
            <a:ext cx="1205026" cy="114300"/>
          </a:xfrm>
          <a:prstGeom prst="rect">
            <a:avLst/>
          </a:prstGeom>
          <a:noFill/>
          <a:ln/>
        </p:spPr>
        <p:txBody>
          <a:bodyPr wrap="square" lIns="0" tIns="0" rIns="0" bIns="0" rtlCol="0" anchor="t"/>
          <a:lstStyle/>
          <a:p>
            <a:pPr marL="0" indent="0" algn="l">
              <a:lnSpc>
                <a:spcPts val="900"/>
              </a:lnSpc>
              <a:buNone/>
            </a:pPr>
            <a:r>
              <a:rPr lang="en-US" sz="750" b="1" dirty="0">
                <a:solidFill>
                  <a:srgbClr val="003C71"/>
                </a:solidFill>
                <a:latin typeface="Arial" pitchFamily="34" charset="0"/>
                <a:ea typeface="Arial" pitchFamily="34" charset="-122"/>
                <a:cs typeface="Arial" pitchFamily="34" charset="-120"/>
              </a:rPr>
              <a:t>CIC-IDS2017</a:t>
            </a:r>
            <a:endParaRPr lang="en-US" sz="750" dirty="0"/>
          </a:p>
        </p:txBody>
      </p:sp>
      <p:sp>
        <p:nvSpPr>
          <p:cNvPr id="18" name="Text 16"/>
          <p:cNvSpPr/>
          <p:nvPr/>
        </p:nvSpPr>
        <p:spPr>
          <a:xfrm>
            <a:off x="1682800" y="1329333"/>
            <a:ext cx="933450" cy="209550"/>
          </a:xfrm>
          <a:prstGeom prst="rect">
            <a:avLst/>
          </a:prstGeom>
          <a:noFill/>
          <a:ln w="9525">
            <a:solidFill>
              <a:srgbClr val="DDDDDD"/>
            </a:solidFill>
          </a:ln>
        </p:spPr>
        <p:txBody>
          <a:bodyPr wrap="square" rtlCol="0" anchor="ctr"/>
          <a:lstStyle/>
          <a:p>
            <a:pPr marL="0" indent="0">
              <a:buNone/>
            </a:pPr>
            <a:endParaRPr lang="en-US" dirty="0"/>
          </a:p>
        </p:txBody>
      </p:sp>
      <p:sp>
        <p:nvSpPr>
          <p:cNvPr id="19" name="Text 17"/>
          <p:cNvSpPr/>
          <p:nvPr/>
        </p:nvSpPr>
        <p:spPr>
          <a:xfrm>
            <a:off x="1755725" y="1376958"/>
            <a:ext cx="803350" cy="114300"/>
          </a:xfrm>
          <a:prstGeom prst="rect">
            <a:avLst/>
          </a:prstGeom>
          <a:noFill/>
          <a:ln/>
        </p:spPr>
        <p:txBody>
          <a:bodyPr wrap="square" lIns="0" tIns="0" rIns="0" bIns="0" rtlCol="0" anchor="t"/>
          <a:lstStyle/>
          <a:p>
            <a:pPr marL="0" indent="0" algn="l">
              <a:lnSpc>
                <a:spcPts val="900"/>
              </a:lnSpc>
              <a:buNone/>
            </a:pPr>
            <a:r>
              <a:rPr lang="en-US" sz="750" dirty="0">
                <a:solidFill>
                  <a:srgbClr val="333333"/>
                </a:solidFill>
                <a:latin typeface="Arial" pitchFamily="34" charset="0"/>
                <a:ea typeface="Arial" pitchFamily="34" charset="-122"/>
                <a:cs typeface="Arial" pitchFamily="34" charset="-120"/>
              </a:rPr>
              <a:t>93.00%</a:t>
            </a:r>
            <a:endParaRPr lang="en-US" sz="750" dirty="0"/>
          </a:p>
        </p:txBody>
      </p:sp>
      <p:sp>
        <p:nvSpPr>
          <p:cNvPr id="20" name="Text 18"/>
          <p:cNvSpPr/>
          <p:nvPr/>
        </p:nvSpPr>
        <p:spPr>
          <a:xfrm>
            <a:off x="2616250" y="1329333"/>
            <a:ext cx="933450" cy="209550"/>
          </a:xfrm>
          <a:prstGeom prst="rect">
            <a:avLst/>
          </a:prstGeom>
          <a:noFill/>
          <a:ln w="9525">
            <a:solidFill>
              <a:srgbClr val="DDDDDD"/>
            </a:solidFill>
          </a:ln>
        </p:spPr>
        <p:txBody>
          <a:bodyPr wrap="square" rtlCol="0" anchor="ctr"/>
          <a:lstStyle/>
          <a:p>
            <a:pPr marL="0" indent="0">
              <a:buNone/>
            </a:pPr>
            <a:endParaRPr lang="en-US" dirty="0"/>
          </a:p>
        </p:txBody>
      </p:sp>
      <p:sp>
        <p:nvSpPr>
          <p:cNvPr id="21" name="Text 19"/>
          <p:cNvSpPr/>
          <p:nvPr/>
        </p:nvSpPr>
        <p:spPr>
          <a:xfrm>
            <a:off x="2689175" y="1376958"/>
            <a:ext cx="803350" cy="114300"/>
          </a:xfrm>
          <a:prstGeom prst="rect">
            <a:avLst/>
          </a:prstGeom>
          <a:noFill/>
          <a:ln/>
        </p:spPr>
        <p:txBody>
          <a:bodyPr wrap="square" lIns="0" tIns="0" rIns="0" bIns="0" rtlCol="0" anchor="t"/>
          <a:lstStyle/>
          <a:p>
            <a:pPr marL="0" indent="0" algn="l">
              <a:lnSpc>
                <a:spcPts val="900"/>
              </a:lnSpc>
              <a:buNone/>
            </a:pPr>
            <a:r>
              <a:rPr lang="en-US" sz="750" b="1" dirty="0">
                <a:solidFill>
                  <a:srgbClr val="E75113"/>
                </a:solidFill>
                <a:latin typeface="Arial" pitchFamily="34" charset="0"/>
                <a:ea typeface="Arial" pitchFamily="34" charset="-122"/>
                <a:cs typeface="Arial" pitchFamily="34" charset="-120"/>
              </a:rPr>
              <a:t>0.950</a:t>
            </a:r>
            <a:endParaRPr lang="en-US" sz="750" dirty="0"/>
          </a:p>
        </p:txBody>
      </p:sp>
      <p:sp>
        <p:nvSpPr>
          <p:cNvPr id="22" name="Text 20"/>
          <p:cNvSpPr/>
          <p:nvPr/>
        </p:nvSpPr>
        <p:spPr>
          <a:xfrm>
            <a:off x="3549700" y="1329333"/>
            <a:ext cx="933450" cy="209550"/>
          </a:xfrm>
          <a:prstGeom prst="rect">
            <a:avLst/>
          </a:prstGeom>
          <a:noFill/>
          <a:ln w="9525">
            <a:solidFill>
              <a:srgbClr val="DDDDDD"/>
            </a:solidFill>
          </a:ln>
        </p:spPr>
        <p:txBody>
          <a:bodyPr wrap="square" rtlCol="0" anchor="ctr"/>
          <a:lstStyle/>
          <a:p>
            <a:pPr marL="0" indent="0">
              <a:buNone/>
            </a:pPr>
            <a:endParaRPr lang="en-US" dirty="0"/>
          </a:p>
        </p:txBody>
      </p:sp>
      <p:sp>
        <p:nvSpPr>
          <p:cNvPr id="23" name="Text 21"/>
          <p:cNvSpPr/>
          <p:nvPr/>
        </p:nvSpPr>
        <p:spPr>
          <a:xfrm>
            <a:off x="3622625" y="1376958"/>
            <a:ext cx="803350" cy="114300"/>
          </a:xfrm>
          <a:prstGeom prst="rect">
            <a:avLst/>
          </a:prstGeom>
          <a:noFill/>
          <a:ln/>
        </p:spPr>
        <p:txBody>
          <a:bodyPr wrap="square" lIns="0" tIns="0" rIns="0" bIns="0" rtlCol="0" anchor="t"/>
          <a:lstStyle/>
          <a:p>
            <a:pPr marL="0" indent="0" algn="l">
              <a:lnSpc>
                <a:spcPts val="900"/>
              </a:lnSpc>
              <a:buNone/>
            </a:pPr>
            <a:r>
              <a:rPr lang="en-US" sz="750" dirty="0">
                <a:solidFill>
                  <a:srgbClr val="333333"/>
                </a:solidFill>
                <a:latin typeface="Arial" pitchFamily="34" charset="0"/>
                <a:ea typeface="Arial" pitchFamily="34" charset="-122"/>
                <a:cs typeface="Arial" pitchFamily="34" charset="-120"/>
              </a:rPr>
              <a:t>0.80</a:t>
            </a:r>
            <a:endParaRPr lang="en-US" sz="750" dirty="0"/>
          </a:p>
        </p:txBody>
      </p:sp>
      <p:sp>
        <p:nvSpPr>
          <p:cNvPr id="24" name="Text 22"/>
          <p:cNvSpPr/>
          <p:nvPr/>
        </p:nvSpPr>
        <p:spPr>
          <a:xfrm>
            <a:off x="355550" y="1576983"/>
            <a:ext cx="1327249" cy="209550"/>
          </a:xfrm>
          <a:prstGeom prst="rect">
            <a:avLst/>
          </a:prstGeom>
          <a:noFill/>
          <a:ln w="9525">
            <a:solidFill>
              <a:srgbClr val="DDDDDD"/>
            </a:solidFill>
          </a:ln>
        </p:spPr>
        <p:txBody>
          <a:bodyPr wrap="square" rtlCol="0" anchor="ctr"/>
          <a:lstStyle/>
          <a:p>
            <a:pPr marL="0" indent="0">
              <a:buNone/>
            </a:pPr>
            <a:endParaRPr lang="en-US" dirty="0"/>
          </a:p>
        </p:txBody>
      </p:sp>
      <p:sp>
        <p:nvSpPr>
          <p:cNvPr id="25" name="Text 23"/>
          <p:cNvSpPr/>
          <p:nvPr/>
        </p:nvSpPr>
        <p:spPr>
          <a:xfrm>
            <a:off x="428476" y="1624608"/>
            <a:ext cx="1205026" cy="114300"/>
          </a:xfrm>
          <a:prstGeom prst="rect">
            <a:avLst/>
          </a:prstGeom>
          <a:noFill/>
          <a:ln/>
        </p:spPr>
        <p:txBody>
          <a:bodyPr wrap="square" lIns="0" tIns="0" rIns="0" bIns="0" rtlCol="0" anchor="t"/>
          <a:lstStyle/>
          <a:p>
            <a:pPr marL="0" indent="0" algn="l">
              <a:lnSpc>
                <a:spcPts val="900"/>
              </a:lnSpc>
              <a:buNone/>
            </a:pPr>
            <a:r>
              <a:rPr lang="en-US" sz="750" b="1" dirty="0">
                <a:solidFill>
                  <a:srgbClr val="003C71"/>
                </a:solidFill>
                <a:latin typeface="Arial" pitchFamily="34" charset="0"/>
                <a:ea typeface="Arial" pitchFamily="34" charset="-122"/>
                <a:cs typeface="Arial" pitchFamily="34" charset="-120"/>
              </a:rPr>
              <a:t>UNSW-NB15</a:t>
            </a:r>
            <a:endParaRPr lang="en-US" sz="750" dirty="0"/>
          </a:p>
        </p:txBody>
      </p:sp>
      <p:sp>
        <p:nvSpPr>
          <p:cNvPr id="26" name="Text 24"/>
          <p:cNvSpPr/>
          <p:nvPr/>
        </p:nvSpPr>
        <p:spPr>
          <a:xfrm>
            <a:off x="1682800" y="1576983"/>
            <a:ext cx="933450" cy="209550"/>
          </a:xfrm>
          <a:prstGeom prst="rect">
            <a:avLst/>
          </a:prstGeom>
          <a:noFill/>
          <a:ln w="9525">
            <a:solidFill>
              <a:srgbClr val="DDDDDD"/>
            </a:solidFill>
          </a:ln>
        </p:spPr>
        <p:txBody>
          <a:bodyPr wrap="square" rtlCol="0" anchor="ctr"/>
          <a:lstStyle/>
          <a:p>
            <a:pPr marL="0" indent="0">
              <a:buNone/>
            </a:pPr>
            <a:endParaRPr lang="en-US" dirty="0"/>
          </a:p>
        </p:txBody>
      </p:sp>
      <p:sp>
        <p:nvSpPr>
          <p:cNvPr id="27" name="Text 25"/>
          <p:cNvSpPr/>
          <p:nvPr/>
        </p:nvSpPr>
        <p:spPr>
          <a:xfrm>
            <a:off x="1755725" y="1624608"/>
            <a:ext cx="803350" cy="114300"/>
          </a:xfrm>
          <a:prstGeom prst="rect">
            <a:avLst/>
          </a:prstGeom>
          <a:noFill/>
          <a:ln/>
        </p:spPr>
        <p:txBody>
          <a:bodyPr wrap="square" lIns="0" tIns="0" rIns="0" bIns="0" rtlCol="0" anchor="t"/>
          <a:lstStyle/>
          <a:p>
            <a:pPr marL="0" indent="0" algn="l">
              <a:lnSpc>
                <a:spcPts val="900"/>
              </a:lnSpc>
              <a:buNone/>
            </a:pPr>
            <a:r>
              <a:rPr lang="en-US" sz="750" dirty="0">
                <a:solidFill>
                  <a:srgbClr val="333333"/>
                </a:solidFill>
                <a:latin typeface="Arial" pitchFamily="34" charset="0"/>
                <a:ea typeface="Arial" pitchFamily="34" charset="-122"/>
                <a:cs typeface="Arial" pitchFamily="34" charset="-120"/>
              </a:rPr>
              <a:t>63.64%</a:t>
            </a:r>
            <a:endParaRPr lang="en-US" sz="750" dirty="0"/>
          </a:p>
        </p:txBody>
      </p:sp>
      <p:sp>
        <p:nvSpPr>
          <p:cNvPr id="28" name="Text 26"/>
          <p:cNvSpPr/>
          <p:nvPr/>
        </p:nvSpPr>
        <p:spPr>
          <a:xfrm>
            <a:off x="2616250" y="1576983"/>
            <a:ext cx="933450" cy="209550"/>
          </a:xfrm>
          <a:prstGeom prst="rect">
            <a:avLst/>
          </a:prstGeom>
          <a:noFill/>
          <a:ln w="9525">
            <a:solidFill>
              <a:srgbClr val="DDDDDD"/>
            </a:solidFill>
          </a:ln>
        </p:spPr>
        <p:txBody>
          <a:bodyPr wrap="square" rtlCol="0" anchor="ctr"/>
          <a:lstStyle/>
          <a:p>
            <a:pPr marL="0" indent="0">
              <a:buNone/>
            </a:pPr>
            <a:endParaRPr lang="en-US" dirty="0"/>
          </a:p>
        </p:txBody>
      </p:sp>
      <p:sp>
        <p:nvSpPr>
          <p:cNvPr id="29" name="Text 27"/>
          <p:cNvSpPr/>
          <p:nvPr/>
        </p:nvSpPr>
        <p:spPr>
          <a:xfrm>
            <a:off x="2689175" y="1624608"/>
            <a:ext cx="803350" cy="114300"/>
          </a:xfrm>
          <a:prstGeom prst="rect">
            <a:avLst/>
          </a:prstGeom>
          <a:noFill/>
          <a:ln/>
        </p:spPr>
        <p:txBody>
          <a:bodyPr wrap="square" lIns="0" tIns="0" rIns="0" bIns="0" rtlCol="0" anchor="t"/>
          <a:lstStyle/>
          <a:p>
            <a:pPr marL="0" indent="0" algn="l">
              <a:lnSpc>
                <a:spcPts val="900"/>
              </a:lnSpc>
              <a:buNone/>
            </a:pPr>
            <a:r>
              <a:rPr lang="en-US" sz="750" b="1" dirty="0">
                <a:solidFill>
                  <a:srgbClr val="E75113"/>
                </a:solidFill>
                <a:latin typeface="Arial" pitchFamily="34" charset="0"/>
                <a:ea typeface="Arial" pitchFamily="34" charset="-122"/>
                <a:cs typeface="Arial" pitchFamily="34" charset="-120"/>
              </a:rPr>
              <a:t>0.703</a:t>
            </a:r>
            <a:endParaRPr lang="en-US" sz="750" dirty="0"/>
          </a:p>
        </p:txBody>
      </p:sp>
      <p:sp>
        <p:nvSpPr>
          <p:cNvPr id="30" name="Text 28"/>
          <p:cNvSpPr/>
          <p:nvPr/>
        </p:nvSpPr>
        <p:spPr>
          <a:xfrm>
            <a:off x="3549700" y="1576983"/>
            <a:ext cx="933450" cy="209550"/>
          </a:xfrm>
          <a:prstGeom prst="rect">
            <a:avLst/>
          </a:prstGeom>
          <a:noFill/>
          <a:ln w="9525">
            <a:solidFill>
              <a:srgbClr val="DDDDDD"/>
            </a:solidFill>
          </a:ln>
        </p:spPr>
        <p:txBody>
          <a:bodyPr wrap="square" rtlCol="0" anchor="ctr"/>
          <a:lstStyle/>
          <a:p>
            <a:pPr marL="0" indent="0">
              <a:buNone/>
            </a:pPr>
            <a:endParaRPr lang="en-US" dirty="0"/>
          </a:p>
        </p:txBody>
      </p:sp>
      <p:sp>
        <p:nvSpPr>
          <p:cNvPr id="31" name="Text 29"/>
          <p:cNvSpPr/>
          <p:nvPr/>
        </p:nvSpPr>
        <p:spPr>
          <a:xfrm>
            <a:off x="3622625" y="1624608"/>
            <a:ext cx="803350" cy="114300"/>
          </a:xfrm>
          <a:prstGeom prst="rect">
            <a:avLst/>
          </a:prstGeom>
          <a:noFill/>
          <a:ln/>
        </p:spPr>
        <p:txBody>
          <a:bodyPr wrap="square" lIns="0" tIns="0" rIns="0" bIns="0" rtlCol="0" anchor="t"/>
          <a:lstStyle/>
          <a:p>
            <a:pPr marL="0" indent="0" algn="l">
              <a:lnSpc>
                <a:spcPts val="900"/>
              </a:lnSpc>
              <a:buNone/>
            </a:pPr>
            <a:r>
              <a:rPr lang="en-US" sz="750" dirty="0">
                <a:solidFill>
                  <a:srgbClr val="333333"/>
                </a:solidFill>
                <a:latin typeface="Arial" pitchFamily="34" charset="0"/>
                <a:ea typeface="Arial" pitchFamily="34" charset="-122"/>
                <a:cs typeface="Arial" pitchFamily="34" charset="-120"/>
              </a:rPr>
              <a:t>0.397</a:t>
            </a:r>
            <a:endParaRPr lang="en-US" sz="750" dirty="0"/>
          </a:p>
        </p:txBody>
      </p:sp>
      <p:sp>
        <p:nvSpPr>
          <p:cNvPr id="32" name="Text 30"/>
          <p:cNvSpPr/>
          <p:nvPr/>
        </p:nvSpPr>
        <p:spPr>
          <a:xfrm>
            <a:off x="355550" y="1824633"/>
            <a:ext cx="4210151" cy="243780"/>
          </a:xfrm>
          <a:prstGeom prst="rect">
            <a:avLst/>
          </a:prstGeom>
          <a:noFill/>
          <a:ln/>
        </p:spPr>
        <p:txBody>
          <a:bodyPr wrap="square" lIns="0" tIns="0" rIns="0" bIns="0" rtlCol="0" anchor="t"/>
          <a:lstStyle/>
          <a:p>
            <a:pPr marL="0" indent="0" algn="l">
              <a:lnSpc>
                <a:spcPts val="960"/>
              </a:lnSpc>
              <a:spcAft>
                <a:spcPts val="300"/>
              </a:spcAft>
              <a:buNone/>
            </a:pPr>
            <a:r>
              <a:rPr lang="en-US" sz="800" b="1" dirty="0">
                <a:solidFill>
                  <a:srgbClr val="555555"/>
                </a:solidFill>
                <a:latin typeface="Arial" pitchFamily="34" charset="0"/>
                <a:ea typeface="Arial" pitchFamily="34" charset="-122"/>
                <a:cs typeface="Arial" pitchFamily="34" charset="-120"/>
              </a:rPr>
              <a:t>Highlights</a:t>
            </a:r>
            <a:r>
              <a:rPr lang="en-US" sz="800" dirty="0">
                <a:solidFill>
                  <a:srgbClr val="555555"/>
                </a:solidFill>
                <a:latin typeface="Arial" pitchFamily="34" charset="0"/>
                <a:ea typeface="Arial" pitchFamily="34" charset="-122"/>
                <a:cs typeface="Arial" pitchFamily="34" charset="-120"/>
              </a:rPr>
              <a:t>: Generic F1=0.97, Reconnaissance F1=0.80 — architecture generalizes without modification.</a:t>
            </a:r>
            <a:endParaRPr lang="en-US" sz="800" dirty="0"/>
          </a:p>
        </p:txBody>
      </p:sp>
      <p:sp>
        <p:nvSpPr>
          <p:cNvPr id="33" name="Text 31"/>
          <p:cNvSpPr/>
          <p:nvPr/>
        </p:nvSpPr>
        <p:spPr>
          <a:xfrm>
            <a:off x="355550" y="2144613"/>
            <a:ext cx="4210151" cy="243780"/>
          </a:xfrm>
          <a:prstGeom prst="rect">
            <a:avLst/>
          </a:prstGeom>
          <a:noFill/>
          <a:ln/>
        </p:spPr>
        <p:txBody>
          <a:bodyPr wrap="square" lIns="0" tIns="0" rIns="0" bIns="0" rtlCol="0" anchor="t"/>
          <a:lstStyle/>
          <a:p>
            <a:pPr marL="0" indent="0" algn="l">
              <a:lnSpc>
                <a:spcPts val="960"/>
              </a:lnSpc>
              <a:spcAft>
                <a:spcPts val="300"/>
              </a:spcAft>
              <a:buNone/>
            </a:pPr>
            <a:r>
              <a:rPr lang="en-US" sz="800" dirty="0">
                <a:solidFill>
                  <a:srgbClr val="555555"/>
                </a:solidFill>
                <a:latin typeface="Arial" pitchFamily="34" charset="0"/>
                <a:ea typeface="Arial" pitchFamily="34" charset="-122"/>
                <a:cs typeface="Arial" pitchFamily="34" charset="-120"/>
              </a:rPr>
              <a:t>Gap follows domain adaptation theory (Ben-David 2010): different feature spaces, labeling protocols.</a:t>
            </a:r>
            <a:endParaRPr lang="en-US" sz="800" dirty="0"/>
          </a:p>
        </p:txBody>
      </p:sp>
      <p:sp>
        <p:nvSpPr>
          <p:cNvPr id="34" name="Text 32"/>
          <p:cNvSpPr/>
          <p:nvPr/>
        </p:nvSpPr>
        <p:spPr>
          <a:xfrm>
            <a:off x="355550" y="2464594"/>
            <a:ext cx="4210151" cy="142875"/>
          </a:xfrm>
          <a:prstGeom prst="rect">
            <a:avLst/>
          </a:prstGeom>
          <a:noFill/>
          <a:ln/>
        </p:spPr>
        <p:txBody>
          <a:bodyPr wrap="square" lIns="0" tIns="0" rIns="0" bIns="0" rtlCol="0" anchor="t"/>
          <a:lstStyle/>
          <a:p>
            <a:pPr marL="0" indent="0" algn="l">
              <a:spcAft>
                <a:spcPts val="300"/>
              </a:spcAft>
              <a:buNone/>
            </a:pPr>
            <a:r>
              <a:rPr lang="en-US" sz="1000" b="1" dirty="0">
                <a:solidFill>
                  <a:srgbClr val="003C71"/>
                </a:solidFill>
                <a:latin typeface="Arial" pitchFamily="34" charset="0"/>
                <a:ea typeface="Arial" pitchFamily="34" charset="-122"/>
                <a:cs typeface="Arial" pitchFamily="34" charset="-120"/>
              </a:rPr>
              <a:t>E12: t-SNE / UMAP Visualization</a:t>
            </a:r>
            <a:endParaRPr lang="en-US" sz="1000" dirty="0"/>
          </a:p>
        </p:txBody>
      </p:sp>
      <p:sp>
        <p:nvSpPr>
          <p:cNvPr id="35" name="Text 33"/>
          <p:cNvSpPr/>
          <p:nvPr/>
        </p:nvSpPr>
        <p:spPr>
          <a:xfrm>
            <a:off x="355550" y="2683669"/>
            <a:ext cx="2025700" cy="468957"/>
          </a:xfrm>
          <a:prstGeom prst="roundRect">
            <a:avLst>
              <a:gd name="adj" fmla="val 8124"/>
            </a:avLst>
          </a:prstGeom>
          <a:solidFill>
            <a:srgbClr val="F0F2F5"/>
          </a:solidFill>
          <a:ln/>
        </p:spPr>
        <p:txBody>
          <a:bodyPr wrap="square" rtlCol="0" anchor="ctr"/>
          <a:lstStyle/>
          <a:p>
            <a:pPr marL="0" indent="0">
              <a:buNone/>
            </a:pPr>
            <a:endParaRPr lang="en-US" dirty="0"/>
          </a:p>
        </p:txBody>
      </p:sp>
      <p:sp>
        <p:nvSpPr>
          <p:cNvPr id="36" name="Shape 34"/>
          <p:cNvSpPr/>
          <p:nvPr/>
        </p:nvSpPr>
        <p:spPr>
          <a:xfrm>
            <a:off x="355550" y="2702719"/>
            <a:ext cx="2025700" cy="0"/>
          </a:xfrm>
          <a:prstGeom prst="line">
            <a:avLst/>
          </a:prstGeom>
          <a:noFill/>
          <a:ln w="38100">
            <a:solidFill>
              <a:srgbClr val="E75113"/>
            </a:solidFill>
            <a:prstDash val="solid"/>
          </a:ln>
        </p:spPr>
      </p:sp>
      <p:sp>
        <p:nvSpPr>
          <p:cNvPr id="37" name="Text 35"/>
          <p:cNvSpPr/>
          <p:nvPr/>
        </p:nvSpPr>
        <p:spPr>
          <a:xfrm>
            <a:off x="418951" y="2785170"/>
            <a:ext cx="1936876" cy="200025"/>
          </a:xfrm>
          <a:prstGeom prst="rect">
            <a:avLst/>
          </a:prstGeom>
          <a:noFill/>
          <a:ln/>
        </p:spPr>
        <p:txBody>
          <a:bodyPr wrap="square" lIns="0" tIns="0" rIns="0" bIns="0" rtlCol="0" anchor="t"/>
          <a:lstStyle/>
          <a:p>
            <a:pPr marL="0" indent="0" algn="l">
              <a:buNone/>
            </a:pPr>
            <a:r>
              <a:rPr lang="en-US" sz="1300" b="1" dirty="0">
                <a:solidFill>
                  <a:srgbClr val="003C71"/>
                </a:solidFill>
                <a:latin typeface="Arial" pitchFamily="34" charset="0"/>
                <a:ea typeface="Arial" pitchFamily="34" charset="-122"/>
                <a:cs typeface="Arial" pitchFamily="34" charset="-120"/>
              </a:rPr>
              <a:t>+59%</a:t>
            </a:r>
            <a:endParaRPr lang="en-US" sz="1300" dirty="0"/>
          </a:p>
        </p:txBody>
      </p:sp>
      <p:sp>
        <p:nvSpPr>
          <p:cNvPr id="38" name="Text 36"/>
          <p:cNvSpPr/>
          <p:nvPr/>
        </p:nvSpPr>
        <p:spPr>
          <a:xfrm>
            <a:off x="418951" y="2997845"/>
            <a:ext cx="1936876" cy="91380"/>
          </a:xfrm>
          <a:prstGeom prst="rect">
            <a:avLst/>
          </a:prstGeom>
          <a:noFill/>
          <a:ln/>
        </p:spPr>
        <p:txBody>
          <a:bodyPr wrap="square" lIns="0" tIns="0" rIns="0" bIns="0" rtlCol="0" anchor="t"/>
          <a:lstStyle/>
          <a:p>
            <a:pPr marL="0" indent="0" algn="l">
              <a:lnSpc>
                <a:spcPts val="720"/>
              </a:lnSpc>
              <a:spcBef>
                <a:spcPts val="100"/>
              </a:spcBef>
              <a:buNone/>
            </a:pPr>
            <a:r>
              <a:rPr lang="en-US" sz="600" dirty="0">
                <a:solidFill>
                  <a:srgbClr val="666666"/>
                </a:solidFill>
                <a:latin typeface="Arial" pitchFamily="34" charset="0"/>
                <a:ea typeface="Arial" pitchFamily="34" charset="-122"/>
                <a:cs typeface="Arial" pitchFamily="34" charset="-120"/>
              </a:rPr>
              <a:t>Silhouette Improvement</a:t>
            </a:r>
            <a:endParaRPr lang="en-US" sz="600" dirty="0"/>
          </a:p>
        </p:txBody>
      </p:sp>
      <p:sp>
        <p:nvSpPr>
          <p:cNvPr id="39" name="Text 37"/>
          <p:cNvSpPr/>
          <p:nvPr/>
        </p:nvSpPr>
        <p:spPr>
          <a:xfrm>
            <a:off x="2457450" y="2683669"/>
            <a:ext cx="2025700" cy="468957"/>
          </a:xfrm>
          <a:prstGeom prst="roundRect">
            <a:avLst>
              <a:gd name="adj" fmla="val 8124"/>
            </a:avLst>
          </a:prstGeom>
          <a:solidFill>
            <a:srgbClr val="F0F2F5"/>
          </a:solidFill>
          <a:ln/>
        </p:spPr>
        <p:txBody>
          <a:bodyPr wrap="square" rtlCol="0" anchor="ctr"/>
          <a:lstStyle/>
          <a:p>
            <a:pPr marL="0" indent="0">
              <a:buNone/>
            </a:pPr>
            <a:endParaRPr lang="en-US" dirty="0"/>
          </a:p>
        </p:txBody>
      </p:sp>
      <p:sp>
        <p:nvSpPr>
          <p:cNvPr id="40" name="Shape 38"/>
          <p:cNvSpPr/>
          <p:nvPr/>
        </p:nvSpPr>
        <p:spPr>
          <a:xfrm>
            <a:off x="2457450" y="2702719"/>
            <a:ext cx="2025700" cy="0"/>
          </a:xfrm>
          <a:prstGeom prst="line">
            <a:avLst/>
          </a:prstGeom>
          <a:noFill/>
          <a:ln w="38100">
            <a:solidFill>
              <a:srgbClr val="E75113"/>
            </a:solidFill>
            <a:prstDash val="solid"/>
          </a:ln>
        </p:spPr>
      </p:sp>
      <p:sp>
        <p:nvSpPr>
          <p:cNvPr id="41" name="Text 39"/>
          <p:cNvSpPr/>
          <p:nvPr/>
        </p:nvSpPr>
        <p:spPr>
          <a:xfrm>
            <a:off x="2520851" y="2785170"/>
            <a:ext cx="1936876" cy="200025"/>
          </a:xfrm>
          <a:prstGeom prst="rect">
            <a:avLst/>
          </a:prstGeom>
          <a:noFill/>
          <a:ln/>
        </p:spPr>
        <p:txBody>
          <a:bodyPr wrap="square" lIns="0" tIns="0" rIns="0" bIns="0" rtlCol="0" anchor="t"/>
          <a:lstStyle/>
          <a:p>
            <a:pPr marL="0" indent="0" algn="l">
              <a:buNone/>
            </a:pPr>
            <a:r>
              <a:rPr lang="en-US" sz="1300" b="1" dirty="0">
                <a:solidFill>
                  <a:srgbClr val="003C71"/>
                </a:solidFill>
                <a:latin typeface="Arial" pitchFamily="34" charset="0"/>
                <a:ea typeface="Arial" pitchFamily="34" charset="-122"/>
                <a:cs typeface="Arial" pitchFamily="34" charset="-120"/>
              </a:rPr>
              <a:t>-0.08</a:t>
            </a:r>
            <a:endParaRPr lang="en-US" sz="1300" dirty="0"/>
          </a:p>
        </p:txBody>
      </p:sp>
      <p:sp>
        <p:nvSpPr>
          <p:cNvPr id="42" name="Text 40"/>
          <p:cNvSpPr/>
          <p:nvPr/>
        </p:nvSpPr>
        <p:spPr>
          <a:xfrm>
            <a:off x="2520851" y="2997845"/>
            <a:ext cx="1936876" cy="91380"/>
          </a:xfrm>
          <a:prstGeom prst="rect">
            <a:avLst/>
          </a:prstGeom>
          <a:noFill/>
          <a:ln/>
        </p:spPr>
        <p:txBody>
          <a:bodyPr wrap="square" lIns="0" tIns="0" rIns="0" bIns="0" rtlCol="0" anchor="t"/>
          <a:lstStyle/>
          <a:p>
            <a:pPr marL="0" indent="0" algn="l">
              <a:lnSpc>
                <a:spcPts val="720"/>
              </a:lnSpc>
              <a:spcBef>
                <a:spcPts val="100"/>
              </a:spcBef>
              <a:buNone/>
            </a:pPr>
            <a:r>
              <a:rPr lang="en-US" sz="600" dirty="0">
                <a:solidFill>
                  <a:srgbClr val="666666"/>
                </a:solidFill>
                <a:latin typeface="Arial" pitchFamily="34" charset="0"/>
                <a:ea typeface="Arial" pitchFamily="34" charset="-122"/>
                <a:cs typeface="Arial" pitchFamily="34" charset="-120"/>
              </a:rPr>
              <a:t>Embedding Silhouette</a:t>
            </a:r>
            <a:endParaRPr lang="en-US" sz="600" dirty="0"/>
          </a:p>
        </p:txBody>
      </p:sp>
      <p:sp>
        <p:nvSpPr>
          <p:cNvPr id="43" name="Text 41"/>
          <p:cNvSpPr/>
          <p:nvPr/>
        </p:nvSpPr>
        <p:spPr>
          <a:xfrm>
            <a:off x="355550" y="3216027"/>
            <a:ext cx="4127599" cy="355402"/>
          </a:xfrm>
          <a:prstGeom prst="roundRect">
            <a:avLst>
              <a:gd name="adj" fmla="val 10720"/>
            </a:avLst>
          </a:prstGeom>
          <a:solidFill>
            <a:srgbClr val="F0F2F5"/>
          </a:solidFill>
          <a:ln/>
        </p:spPr>
        <p:txBody>
          <a:bodyPr wrap="square" rtlCol="0" anchor="ctr"/>
          <a:lstStyle/>
          <a:p>
            <a:pPr marL="0" indent="0">
              <a:buNone/>
            </a:pPr>
            <a:endParaRPr lang="en-US" dirty="0"/>
          </a:p>
        </p:txBody>
      </p:sp>
      <p:sp>
        <p:nvSpPr>
          <p:cNvPr id="44" name="Shape 42"/>
          <p:cNvSpPr/>
          <p:nvPr/>
        </p:nvSpPr>
        <p:spPr>
          <a:xfrm>
            <a:off x="374600" y="3216027"/>
            <a:ext cx="0" cy="355402"/>
          </a:xfrm>
          <a:prstGeom prst="line">
            <a:avLst/>
          </a:prstGeom>
          <a:noFill/>
          <a:ln w="38100">
            <a:solidFill>
              <a:srgbClr val="003C71"/>
            </a:solidFill>
            <a:prstDash val="solid"/>
          </a:ln>
        </p:spPr>
      </p:sp>
      <p:sp>
        <p:nvSpPr>
          <p:cNvPr id="45" name="Text 43"/>
          <p:cNvSpPr/>
          <p:nvPr/>
        </p:nvSpPr>
        <p:spPr>
          <a:xfrm>
            <a:off x="482501" y="3279428"/>
            <a:ext cx="3990034" cy="228600"/>
          </a:xfrm>
          <a:prstGeom prst="rect">
            <a:avLst/>
          </a:prstGeom>
          <a:noFill/>
          <a:ln/>
        </p:spPr>
        <p:txBody>
          <a:bodyPr wrap="square" lIns="0" tIns="0" rIns="0" bIns="0" rtlCol="0" anchor="t"/>
          <a:lstStyle/>
          <a:p>
            <a:pPr marL="0" indent="0" algn="l">
              <a:lnSpc>
                <a:spcPts val="900"/>
              </a:lnSpc>
              <a:buNone/>
            </a:pPr>
            <a:r>
              <a:rPr lang="en-US" sz="750" dirty="0">
                <a:solidFill>
                  <a:srgbClr val="555555"/>
                </a:solidFill>
                <a:latin typeface="Arial" pitchFamily="34" charset="0"/>
                <a:ea typeface="Arial" pitchFamily="34" charset="-122"/>
                <a:cs typeface="Arial" pitchFamily="34" charset="-120"/>
              </a:rPr>
              <a:t>TransECA embeddings improve cluster separation by 59% vs raw features. Remaining negative Silhouette reflects inherent overlap among attack subclasses.</a:t>
            </a:r>
            <a:endParaRPr lang="en-US" sz="750" dirty="0"/>
          </a:p>
        </p:txBody>
      </p:sp>
      <p:sp>
        <p:nvSpPr>
          <p:cNvPr id="46" name="Text 44"/>
          <p:cNvSpPr/>
          <p:nvPr/>
        </p:nvSpPr>
        <p:spPr>
          <a:xfrm>
            <a:off x="4660850" y="723751"/>
            <a:ext cx="4210151" cy="121890"/>
          </a:xfrm>
          <a:prstGeom prst="rect">
            <a:avLst/>
          </a:prstGeom>
          <a:noFill/>
          <a:ln/>
        </p:spPr>
        <p:txBody>
          <a:bodyPr wrap="square" lIns="0" tIns="0" rIns="0" bIns="0" rtlCol="0" anchor="t"/>
          <a:lstStyle/>
          <a:p>
            <a:pPr>
              <a:lnSpc>
                <a:spcPts val="960"/>
              </a:lnSpc>
              <a:spcAft>
                <a:spcPts val="100"/>
              </a:spcAft>
            </a:pPr>
            <a:r>
              <a:rPr lang="en-US" sz="800" b="1" dirty="0">
                <a:solidFill>
                  <a:srgbClr val="333333"/>
                </a:solidFill>
                <a:latin typeface="Arial" pitchFamily="34" charset="0"/>
                <a:ea typeface="Arial" pitchFamily="34" charset="-122"/>
                <a:cs typeface="Arial" pitchFamily="34" charset="-120"/>
              </a:rPr>
              <a:t>Figure 6</a:t>
            </a:r>
            <a:r>
              <a:rPr lang="zh-CN" altLang="en-US" sz="800" b="1" dirty="0">
                <a:solidFill>
                  <a:srgbClr val="333333"/>
                </a:solidFill>
                <a:latin typeface="Arial" pitchFamily="34" charset="0"/>
                <a:ea typeface="Arial" pitchFamily="34" charset="-122"/>
                <a:cs typeface="Arial" pitchFamily="34" charset="-120"/>
              </a:rPr>
              <a:t>：</a:t>
            </a:r>
            <a:r>
              <a:rPr lang="en-US" altLang="zh-CN" sz="800" i="1" dirty="0">
                <a:solidFill>
                  <a:srgbClr val="333333"/>
                </a:solidFill>
                <a:latin typeface="Arial" pitchFamily="34" charset="0"/>
                <a:ea typeface="Arial" pitchFamily="34" charset="-122"/>
                <a:cs typeface="Arial" pitchFamily="34" charset="-120"/>
              </a:rPr>
              <a:t>Cross-Dataset Performance Comparison (E15)</a:t>
            </a:r>
            <a:endParaRPr lang="en-US" altLang="zh-CN" sz="800" dirty="0"/>
          </a:p>
          <a:p>
            <a:pPr marL="0" indent="0" algn="l">
              <a:lnSpc>
                <a:spcPts val="960"/>
              </a:lnSpc>
              <a:spcAft>
                <a:spcPts val="100"/>
              </a:spcAft>
              <a:buNone/>
            </a:pPr>
            <a:endParaRPr lang="en-US" sz="800" dirty="0"/>
          </a:p>
        </p:txBody>
      </p:sp>
      <p:sp>
        <p:nvSpPr>
          <p:cNvPr id="47" name="Text 45"/>
          <p:cNvSpPr/>
          <p:nvPr/>
        </p:nvSpPr>
        <p:spPr>
          <a:xfrm>
            <a:off x="4660850" y="858292"/>
            <a:ext cx="4210151" cy="121890"/>
          </a:xfrm>
          <a:prstGeom prst="rect">
            <a:avLst/>
          </a:prstGeom>
          <a:noFill/>
          <a:ln/>
        </p:spPr>
        <p:txBody>
          <a:bodyPr wrap="square" lIns="0" tIns="0" rIns="0" bIns="0" rtlCol="0" anchor="t"/>
          <a:lstStyle/>
          <a:p>
            <a:pPr marL="0" indent="0" algn="l">
              <a:lnSpc>
                <a:spcPts val="960"/>
              </a:lnSpc>
              <a:spcAft>
                <a:spcPts val="300"/>
              </a:spcAft>
              <a:buNone/>
            </a:pPr>
            <a:endParaRPr lang="en-US" sz="800" dirty="0"/>
          </a:p>
        </p:txBody>
      </p:sp>
      <p:sp>
        <p:nvSpPr>
          <p:cNvPr id="48" name="Text 46"/>
          <p:cNvSpPr/>
          <p:nvPr/>
        </p:nvSpPr>
        <p:spPr>
          <a:xfrm>
            <a:off x="4660850" y="4587329"/>
            <a:ext cx="4210151" cy="297359"/>
          </a:xfrm>
          <a:prstGeom prst="rect">
            <a:avLst/>
          </a:prstGeom>
          <a:noFill/>
          <a:ln/>
        </p:spPr>
        <p:txBody>
          <a:bodyPr wrap="square" lIns="0" tIns="0" rIns="0" bIns="0" rtlCol="0" anchor="t"/>
          <a:lstStyle/>
          <a:p>
            <a:pPr marL="0" indent="0" algn="l">
              <a:lnSpc>
                <a:spcPts val="780"/>
              </a:lnSpc>
              <a:spcBef>
                <a:spcPts val="300"/>
              </a:spcBef>
              <a:buNone/>
            </a:pPr>
            <a:r>
              <a:rPr lang="en-US" sz="650" i="1" dirty="0">
                <a:solidFill>
                  <a:srgbClr val="555555"/>
                </a:solidFill>
                <a:latin typeface="Arial" pitchFamily="34" charset="0"/>
                <a:ea typeface="Arial" pitchFamily="34" charset="-122"/>
                <a:cs typeface="Arial" pitchFamily="34" charset="-120"/>
              </a:rPr>
              <a:t>Note.</a:t>
            </a:r>
            <a:r>
              <a:rPr lang="en-US" sz="650" dirty="0">
                <a:solidFill>
                  <a:srgbClr val="555555"/>
                </a:solidFill>
                <a:latin typeface="Arial" pitchFamily="34" charset="0"/>
                <a:ea typeface="Arial" pitchFamily="34" charset="-122"/>
                <a:cs typeface="Arial" pitchFamily="34" charset="-120"/>
              </a:rPr>
              <a:t> Comparison of TransECA-Net performance when trained on CIC-IDS2017 vs. UNSW-NB15 (Moustafa &amp; Slay, 2015). Same architecture, no modifications. Performance gap consistent with Ben-David et al. (2010) domain adaptation theory.</a:t>
            </a:r>
            <a:endParaRPr lang="en-US" sz="650" dirty="0"/>
          </a:p>
        </p:txBody>
      </p:sp>
      <p:sp>
        <p:nvSpPr>
          <p:cNvPr id="49" name="Text 47"/>
          <p:cNvSpPr/>
          <p:nvPr/>
        </p:nvSpPr>
        <p:spPr>
          <a:xfrm>
            <a:off x="0" y="4935438"/>
            <a:ext cx="9144000" cy="208062"/>
          </a:xfrm>
          <a:prstGeom prst="rect">
            <a:avLst/>
          </a:prstGeom>
          <a:solidFill>
            <a:srgbClr val="F0F2F5"/>
          </a:solidFill>
          <a:ln/>
        </p:spPr>
        <p:txBody>
          <a:bodyPr wrap="square" rtlCol="0" anchor="ctr"/>
          <a:lstStyle/>
          <a:p>
            <a:pPr marL="0" indent="0">
              <a:buNone/>
            </a:pPr>
            <a:endParaRPr lang="en-US" dirty="0"/>
          </a:p>
        </p:txBody>
      </p:sp>
      <p:sp>
        <p:nvSpPr>
          <p:cNvPr id="50" name="Text 48"/>
          <p:cNvSpPr/>
          <p:nvPr/>
        </p:nvSpPr>
        <p:spPr>
          <a:xfrm>
            <a:off x="355550" y="4986189"/>
            <a:ext cx="8601557" cy="106561"/>
          </a:xfrm>
          <a:prstGeom prst="rect">
            <a:avLst/>
          </a:prstGeom>
          <a:noFill/>
          <a:ln/>
        </p:spPr>
        <p:txBody>
          <a:bodyPr wrap="square" lIns="0" tIns="0" rIns="0" bIns="0" rtlCol="0" anchor="t"/>
          <a:lstStyle/>
          <a:p>
            <a:pPr marL="0" indent="0" algn="l">
              <a:lnSpc>
                <a:spcPts val="840"/>
              </a:lnSpc>
              <a:buNone/>
            </a:pPr>
            <a:r>
              <a:rPr lang="en-US" sz="700" dirty="0">
                <a:solidFill>
                  <a:srgbClr val="888888"/>
                </a:solidFill>
                <a:latin typeface="Arial" pitchFamily="34" charset="0"/>
                <a:ea typeface="Arial" pitchFamily="34" charset="-122"/>
                <a:cs typeface="Arial" pitchFamily="34" charset="-120"/>
              </a:rPr>
              <a:t>Ben-David, S., et al. (2010). A theory of learning from different domains. Machine Learning, 79(1-2), 151-175.</a:t>
            </a:r>
            <a:endParaRPr lang="en-US" sz="700" dirty="0"/>
          </a:p>
        </p:txBody>
      </p:sp>
      <p:pic>
        <p:nvPicPr>
          <p:cNvPr id="51" name="Image 0" descr="preencoded.png"/>
          <p:cNvPicPr>
            <a:picLocks noChangeAspect="1"/>
          </p:cNvPicPr>
          <p:nvPr/>
        </p:nvPicPr>
        <p:blipFill>
          <a:blip r:embed="rId3"/>
          <a:stretch>
            <a:fillRect/>
          </a:stretch>
        </p:blipFill>
        <p:spPr>
          <a:xfrm>
            <a:off x="4540324" y="1076295"/>
            <a:ext cx="4321136" cy="25679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5676129"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System-Level Summary: 6 Dimensions Validated</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355550" y="698450"/>
            <a:ext cx="4645375" cy="95250"/>
          </a:xfrm>
          <a:prstGeom prst="rect">
            <a:avLst/>
          </a:prstGeom>
          <a:noFill/>
          <a:ln/>
        </p:spPr>
        <p:txBody>
          <a:bodyPr wrap="square" lIns="0" tIns="0" rIns="0" bIns="0" rtlCol="0" anchor="t"/>
          <a:lstStyle/>
          <a:p>
            <a:pPr marL="0" indent="0" algn="l">
              <a:spcAft>
                <a:spcPts val="100"/>
              </a:spcAft>
              <a:buNone/>
            </a:pPr>
            <a:r>
              <a:rPr lang="en-US" sz="700" b="1" dirty="0">
                <a:solidFill>
                  <a:srgbClr val="333333"/>
                </a:solidFill>
                <a:latin typeface="Arial" pitchFamily="34" charset="0"/>
                <a:ea typeface="Arial" pitchFamily="34" charset="-122"/>
                <a:cs typeface="Arial" pitchFamily="34" charset="-120"/>
              </a:rPr>
              <a:t>Table 10</a:t>
            </a:r>
            <a:endParaRPr lang="en-US" sz="700" dirty="0"/>
          </a:p>
        </p:txBody>
      </p:sp>
      <p:sp>
        <p:nvSpPr>
          <p:cNvPr id="7" name="Text 5"/>
          <p:cNvSpPr/>
          <p:nvPr/>
        </p:nvSpPr>
        <p:spPr>
          <a:xfrm>
            <a:off x="355550" y="831652"/>
            <a:ext cx="4645375" cy="95250"/>
          </a:xfrm>
          <a:prstGeom prst="rect">
            <a:avLst/>
          </a:prstGeom>
          <a:noFill/>
          <a:ln/>
        </p:spPr>
        <p:txBody>
          <a:bodyPr wrap="square" lIns="0" tIns="0" rIns="0" bIns="0" rtlCol="0" anchor="t"/>
          <a:lstStyle/>
          <a:p>
            <a:pPr marL="0" indent="0" algn="l">
              <a:spcAft>
                <a:spcPts val="200"/>
              </a:spcAft>
              <a:buNone/>
            </a:pPr>
            <a:r>
              <a:rPr lang="en-US" sz="700" i="1" dirty="0">
                <a:solidFill>
                  <a:srgbClr val="333333"/>
                </a:solidFill>
                <a:latin typeface="Arial" pitchFamily="34" charset="0"/>
                <a:ea typeface="Arial" pitchFamily="34" charset="-122"/>
                <a:cs typeface="Arial" pitchFamily="34" charset="-120"/>
              </a:rPr>
              <a:t>System-Level Performance Scorecard Across Six Evaluation Dimensions</a:t>
            </a:r>
            <a:endParaRPr lang="en-US" sz="700" dirty="0"/>
          </a:p>
        </p:txBody>
      </p:sp>
      <p:sp>
        <p:nvSpPr>
          <p:cNvPr id="8" name="Text 6"/>
          <p:cNvSpPr/>
          <p:nvPr/>
        </p:nvSpPr>
        <p:spPr>
          <a:xfrm>
            <a:off x="355550" y="977503"/>
            <a:ext cx="1160264"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9" name="Text 7"/>
          <p:cNvSpPr/>
          <p:nvPr/>
        </p:nvSpPr>
        <p:spPr>
          <a:xfrm>
            <a:off x="415826" y="1025128"/>
            <a:ext cx="1060508" cy="95250"/>
          </a:xfrm>
          <a:prstGeom prst="rect">
            <a:avLst/>
          </a:prstGeom>
          <a:noFill/>
          <a:ln/>
        </p:spPr>
        <p:txBody>
          <a:bodyPr wrap="square" lIns="0" tIns="0" rIns="0" bIns="0" rtlCol="0" anchor="t"/>
          <a:lstStyle/>
          <a:p>
            <a:pPr marL="0" indent="0" algn="l">
              <a:buNone/>
            </a:pPr>
            <a:r>
              <a:rPr lang="en-US" sz="650" b="1" dirty="0">
                <a:solidFill>
                  <a:srgbClr val="FFFFFF"/>
                </a:solidFill>
                <a:latin typeface="Arial" pitchFamily="34" charset="0"/>
                <a:ea typeface="Arial" pitchFamily="34" charset="-122"/>
                <a:cs typeface="Arial" pitchFamily="34" charset="-120"/>
              </a:rPr>
              <a:t>Dimension</a:t>
            </a:r>
            <a:endParaRPr lang="en-US" sz="650" dirty="0"/>
          </a:p>
        </p:txBody>
      </p:sp>
      <p:sp>
        <p:nvSpPr>
          <p:cNvPr id="10" name="Text 8"/>
          <p:cNvSpPr/>
          <p:nvPr/>
        </p:nvSpPr>
        <p:spPr>
          <a:xfrm>
            <a:off x="1515814" y="977503"/>
            <a:ext cx="1160264"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1" name="Text 9"/>
          <p:cNvSpPr/>
          <p:nvPr/>
        </p:nvSpPr>
        <p:spPr>
          <a:xfrm>
            <a:off x="1576090" y="1025128"/>
            <a:ext cx="1060508" cy="95250"/>
          </a:xfrm>
          <a:prstGeom prst="rect">
            <a:avLst/>
          </a:prstGeom>
          <a:noFill/>
          <a:ln/>
        </p:spPr>
        <p:txBody>
          <a:bodyPr wrap="square" lIns="0" tIns="0" rIns="0" bIns="0" rtlCol="0" anchor="t"/>
          <a:lstStyle/>
          <a:p>
            <a:pPr marL="0" indent="0" algn="l">
              <a:buNone/>
            </a:pPr>
            <a:r>
              <a:rPr lang="en-US" sz="650" b="1" dirty="0">
                <a:solidFill>
                  <a:srgbClr val="FFFFFF"/>
                </a:solidFill>
                <a:latin typeface="Arial" pitchFamily="34" charset="0"/>
                <a:ea typeface="Arial" pitchFamily="34" charset="-122"/>
                <a:cs typeface="Arial" pitchFamily="34" charset="-120"/>
              </a:rPr>
              <a:t>Metric</a:t>
            </a:r>
            <a:endParaRPr lang="en-US" sz="650" dirty="0"/>
          </a:p>
        </p:txBody>
      </p:sp>
      <p:sp>
        <p:nvSpPr>
          <p:cNvPr id="12" name="Text 10"/>
          <p:cNvSpPr/>
          <p:nvPr/>
        </p:nvSpPr>
        <p:spPr>
          <a:xfrm>
            <a:off x="2676079" y="977503"/>
            <a:ext cx="1246882"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3" name="Text 11"/>
          <p:cNvSpPr/>
          <p:nvPr/>
        </p:nvSpPr>
        <p:spPr>
          <a:xfrm>
            <a:off x="2736354" y="1025128"/>
            <a:ext cx="1148858" cy="95250"/>
          </a:xfrm>
          <a:prstGeom prst="rect">
            <a:avLst/>
          </a:prstGeom>
          <a:noFill/>
          <a:ln/>
        </p:spPr>
        <p:txBody>
          <a:bodyPr wrap="square" lIns="0" tIns="0" rIns="0" bIns="0" rtlCol="0" anchor="t"/>
          <a:lstStyle/>
          <a:p>
            <a:pPr marL="0" indent="0" algn="l">
              <a:buNone/>
            </a:pPr>
            <a:r>
              <a:rPr lang="en-US" sz="650" b="1" dirty="0">
                <a:solidFill>
                  <a:srgbClr val="FFFFFF"/>
                </a:solidFill>
                <a:latin typeface="Arial" pitchFamily="34" charset="0"/>
                <a:ea typeface="Arial" pitchFamily="34" charset="-122"/>
                <a:cs typeface="Arial" pitchFamily="34" charset="-120"/>
              </a:rPr>
              <a:t>Value</a:t>
            </a:r>
            <a:endParaRPr lang="en-US" sz="650" dirty="0"/>
          </a:p>
        </p:txBody>
      </p:sp>
      <p:sp>
        <p:nvSpPr>
          <p:cNvPr id="14" name="Text 12"/>
          <p:cNvSpPr/>
          <p:nvPr/>
        </p:nvSpPr>
        <p:spPr>
          <a:xfrm>
            <a:off x="3922961" y="977503"/>
            <a:ext cx="986879"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15" name="Text 13"/>
          <p:cNvSpPr/>
          <p:nvPr/>
        </p:nvSpPr>
        <p:spPr>
          <a:xfrm>
            <a:off x="3983236" y="1025128"/>
            <a:ext cx="883655" cy="95250"/>
          </a:xfrm>
          <a:prstGeom prst="rect">
            <a:avLst/>
          </a:prstGeom>
          <a:noFill/>
          <a:ln/>
        </p:spPr>
        <p:txBody>
          <a:bodyPr wrap="square" lIns="0" tIns="0" rIns="0" bIns="0" rtlCol="0" anchor="t"/>
          <a:lstStyle/>
          <a:p>
            <a:pPr marL="0" indent="0" algn="l">
              <a:buNone/>
            </a:pPr>
            <a:r>
              <a:rPr lang="en-US" sz="650" b="1" dirty="0">
                <a:solidFill>
                  <a:srgbClr val="FFFFFF"/>
                </a:solidFill>
                <a:latin typeface="Arial" pitchFamily="34" charset="0"/>
                <a:ea typeface="Arial" pitchFamily="34" charset="-122"/>
                <a:cs typeface="Arial" pitchFamily="34" charset="-120"/>
              </a:rPr>
              <a:t>Source</a:t>
            </a:r>
            <a:endParaRPr lang="en-US" sz="650" dirty="0"/>
          </a:p>
        </p:txBody>
      </p:sp>
      <p:sp>
        <p:nvSpPr>
          <p:cNvPr id="16" name="Text 14"/>
          <p:cNvSpPr/>
          <p:nvPr/>
        </p:nvSpPr>
        <p:spPr>
          <a:xfrm>
            <a:off x="355550" y="1193304"/>
            <a:ext cx="1160264" cy="164902"/>
          </a:xfrm>
          <a:prstGeom prst="rect">
            <a:avLst/>
          </a:prstGeom>
          <a:noFill/>
          <a:ln w="9525">
            <a:solidFill>
              <a:srgbClr val="DDDDDD"/>
            </a:solidFill>
          </a:ln>
        </p:spPr>
        <p:txBody>
          <a:bodyPr wrap="square" rtlCol="0" anchor="ctr"/>
          <a:lstStyle/>
          <a:p>
            <a:pPr marL="0" indent="0">
              <a:buNone/>
            </a:pPr>
            <a:endParaRPr lang="en-US" dirty="0"/>
          </a:p>
        </p:txBody>
      </p:sp>
      <p:sp>
        <p:nvSpPr>
          <p:cNvPr id="17" name="Text 15"/>
          <p:cNvSpPr/>
          <p:nvPr/>
        </p:nvSpPr>
        <p:spPr>
          <a:xfrm>
            <a:off x="415826" y="1228130"/>
            <a:ext cx="1060508"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Accuracy</a:t>
            </a:r>
            <a:endParaRPr lang="en-US" sz="700" dirty="0"/>
          </a:p>
        </p:txBody>
      </p:sp>
      <p:sp>
        <p:nvSpPr>
          <p:cNvPr id="18" name="Text 16"/>
          <p:cNvSpPr/>
          <p:nvPr/>
        </p:nvSpPr>
        <p:spPr>
          <a:xfrm>
            <a:off x="1515814" y="1193304"/>
            <a:ext cx="1160264" cy="164902"/>
          </a:xfrm>
          <a:prstGeom prst="rect">
            <a:avLst/>
          </a:prstGeom>
          <a:noFill/>
          <a:ln w="9525">
            <a:solidFill>
              <a:srgbClr val="DDDDDD"/>
            </a:solidFill>
          </a:ln>
        </p:spPr>
        <p:txBody>
          <a:bodyPr wrap="square" rtlCol="0" anchor="ctr"/>
          <a:lstStyle/>
          <a:p>
            <a:pPr marL="0" indent="0">
              <a:buNone/>
            </a:pPr>
            <a:endParaRPr lang="en-US" dirty="0"/>
          </a:p>
        </p:txBody>
      </p:sp>
      <p:sp>
        <p:nvSpPr>
          <p:cNvPr id="19" name="Text 17"/>
          <p:cNvSpPr/>
          <p:nvPr/>
        </p:nvSpPr>
        <p:spPr>
          <a:xfrm>
            <a:off x="1576090" y="1228130"/>
            <a:ext cx="106050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Recall / FPR</a:t>
            </a:r>
            <a:endParaRPr lang="en-US" sz="700" dirty="0"/>
          </a:p>
        </p:txBody>
      </p:sp>
      <p:sp>
        <p:nvSpPr>
          <p:cNvPr id="20" name="Text 18"/>
          <p:cNvSpPr/>
          <p:nvPr/>
        </p:nvSpPr>
        <p:spPr>
          <a:xfrm>
            <a:off x="2676079" y="1193304"/>
            <a:ext cx="1246882" cy="164902"/>
          </a:xfrm>
          <a:prstGeom prst="rect">
            <a:avLst/>
          </a:prstGeom>
          <a:noFill/>
          <a:ln w="9525">
            <a:solidFill>
              <a:srgbClr val="DDDDDD"/>
            </a:solidFill>
          </a:ln>
        </p:spPr>
        <p:txBody>
          <a:bodyPr wrap="square" rtlCol="0" anchor="ctr"/>
          <a:lstStyle/>
          <a:p>
            <a:pPr marL="0" indent="0">
              <a:buNone/>
            </a:pPr>
            <a:endParaRPr lang="en-US" dirty="0"/>
          </a:p>
        </p:txBody>
      </p:sp>
      <p:sp>
        <p:nvSpPr>
          <p:cNvPr id="21" name="Text 19"/>
          <p:cNvSpPr/>
          <p:nvPr/>
        </p:nvSpPr>
        <p:spPr>
          <a:xfrm>
            <a:off x="2736354" y="1228130"/>
            <a:ext cx="1148858"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92.9% / 0.007%</a:t>
            </a:r>
            <a:endParaRPr lang="en-US" sz="700" dirty="0"/>
          </a:p>
        </p:txBody>
      </p:sp>
      <p:sp>
        <p:nvSpPr>
          <p:cNvPr id="22" name="Text 20"/>
          <p:cNvSpPr/>
          <p:nvPr/>
        </p:nvSpPr>
        <p:spPr>
          <a:xfrm>
            <a:off x="3922961" y="1193304"/>
            <a:ext cx="986879" cy="164902"/>
          </a:xfrm>
          <a:prstGeom prst="rect">
            <a:avLst/>
          </a:prstGeom>
          <a:noFill/>
          <a:ln w="9525">
            <a:solidFill>
              <a:srgbClr val="DDDDDD"/>
            </a:solidFill>
          </a:ln>
        </p:spPr>
        <p:txBody>
          <a:bodyPr wrap="square" rtlCol="0" anchor="ctr"/>
          <a:lstStyle/>
          <a:p>
            <a:pPr marL="0" indent="0">
              <a:buNone/>
            </a:pPr>
            <a:endParaRPr lang="en-US" dirty="0"/>
          </a:p>
        </p:txBody>
      </p:sp>
      <p:sp>
        <p:nvSpPr>
          <p:cNvPr id="23" name="Text 21"/>
          <p:cNvSpPr/>
          <p:nvPr/>
        </p:nvSpPr>
        <p:spPr>
          <a:xfrm>
            <a:off x="3983236" y="1228130"/>
            <a:ext cx="883655"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E17 x S2</a:t>
            </a:r>
            <a:endParaRPr lang="en-US" sz="700" dirty="0"/>
          </a:p>
        </p:txBody>
      </p:sp>
      <p:sp>
        <p:nvSpPr>
          <p:cNvPr id="24" name="Text 22"/>
          <p:cNvSpPr/>
          <p:nvPr/>
        </p:nvSpPr>
        <p:spPr>
          <a:xfrm>
            <a:off x="355550" y="1383506"/>
            <a:ext cx="1160264" cy="164902"/>
          </a:xfrm>
          <a:prstGeom prst="rect">
            <a:avLst/>
          </a:prstGeom>
          <a:noFill/>
          <a:ln w="9525">
            <a:solidFill>
              <a:srgbClr val="DDDDDD"/>
            </a:solidFill>
          </a:ln>
        </p:spPr>
        <p:txBody>
          <a:bodyPr wrap="square" rtlCol="0" anchor="ctr"/>
          <a:lstStyle/>
          <a:p>
            <a:pPr marL="0" indent="0">
              <a:buNone/>
            </a:pPr>
            <a:endParaRPr lang="en-US" dirty="0"/>
          </a:p>
        </p:txBody>
      </p:sp>
      <p:sp>
        <p:nvSpPr>
          <p:cNvPr id="25" name="Text 23"/>
          <p:cNvSpPr/>
          <p:nvPr/>
        </p:nvSpPr>
        <p:spPr>
          <a:xfrm>
            <a:off x="415826" y="1418332"/>
            <a:ext cx="1060508"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Efficiency</a:t>
            </a:r>
            <a:endParaRPr lang="en-US" sz="700" dirty="0"/>
          </a:p>
        </p:txBody>
      </p:sp>
      <p:sp>
        <p:nvSpPr>
          <p:cNvPr id="26" name="Text 24"/>
          <p:cNvSpPr/>
          <p:nvPr/>
        </p:nvSpPr>
        <p:spPr>
          <a:xfrm>
            <a:off x="1515814" y="1383506"/>
            <a:ext cx="1160264" cy="164902"/>
          </a:xfrm>
          <a:prstGeom prst="rect">
            <a:avLst/>
          </a:prstGeom>
          <a:noFill/>
          <a:ln w="9525">
            <a:solidFill>
              <a:srgbClr val="DDDDDD"/>
            </a:solidFill>
          </a:ln>
        </p:spPr>
        <p:txBody>
          <a:bodyPr wrap="square" rtlCol="0" anchor="ctr"/>
          <a:lstStyle/>
          <a:p>
            <a:pPr marL="0" indent="0">
              <a:buNone/>
            </a:pPr>
            <a:endParaRPr lang="en-US" dirty="0"/>
          </a:p>
        </p:txBody>
      </p:sp>
      <p:sp>
        <p:nvSpPr>
          <p:cNvPr id="27" name="Text 25"/>
          <p:cNvSpPr/>
          <p:nvPr/>
        </p:nvSpPr>
        <p:spPr>
          <a:xfrm>
            <a:off x="1576090" y="1418332"/>
            <a:ext cx="106050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Speedup</a:t>
            </a:r>
            <a:endParaRPr lang="en-US" sz="700" dirty="0"/>
          </a:p>
        </p:txBody>
      </p:sp>
      <p:sp>
        <p:nvSpPr>
          <p:cNvPr id="28" name="Text 26"/>
          <p:cNvSpPr/>
          <p:nvPr/>
        </p:nvSpPr>
        <p:spPr>
          <a:xfrm>
            <a:off x="2676079" y="1383506"/>
            <a:ext cx="1246882" cy="164902"/>
          </a:xfrm>
          <a:prstGeom prst="rect">
            <a:avLst/>
          </a:prstGeom>
          <a:noFill/>
          <a:ln w="9525">
            <a:solidFill>
              <a:srgbClr val="DDDDDD"/>
            </a:solidFill>
          </a:ln>
        </p:spPr>
        <p:txBody>
          <a:bodyPr wrap="square" rtlCol="0" anchor="ctr"/>
          <a:lstStyle/>
          <a:p>
            <a:pPr marL="0" indent="0">
              <a:buNone/>
            </a:pPr>
            <a:endParaRPr lang="en-US" dirty="0"/>
          </a:p>
        </p:txBody>
      </p:sp>
      <p:sp>
        <p:nvSpPr>
          <p:cNvPr id="29" name="Text 27"/>
          <p:cNvSpPr/>
          <p:nvPr/>
        </p:nvSpPr>
        <p:spPr>
          <a:xfrm>
            <a:off x="2736354" y="1418332"/>
            <a:ext cx="1148858"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6.07x (82us)</a:t>
            </a:r>
            <a:endParaRPr lang="en-US" sz="700" dirty="0"/>
          </a:p>
        </p:txBody>
      </p:sp>
      <p:sp>
        <p:nvSpPr>
          <p:cNvPr id="30" name="Text 28"/>
          <p:cNvSpPr/>
          <p:nvPr/>
        </p:nvSpPr>
        <p:spPr>
          <a:xfrm>
            <a:off x="3922961" y="1383506"/>
            <a:ext cx="986879" cy="164902"/>
          </a:xfrm>
          <a:prstGeom prst="rect">
            <a:avLst/>
          </a:prstGeom>
          <a:noFill/>
          <a:ln w="9525">
            <a:solidFill>
              <a:srgbClr val="DDDDDD"/>
            </a:solidFill>
          </a:ln>
        </p:spPr>
        <p:txBody>
          <a:bodyPr wrap="square" rtlCol="0" anchor="ctr"/>
          <a:lstStyle/>
          <a:p>
            <a:pPr marL="0" indent="0">
              <a:buNone/>
            </a:pPr>
            <a:endParaRPr lang="en-US" dirty="0"/>
          </a:p>
        </p:txBody>
      </p:sp>
      <p:sp>
        <p:nvSpPr>
          <p:cNvPr id="31" name="Text 29"/>
          <p:cNvSpPr/>
          <p:nvPr/>
        </p:nvSpPr>
        <p:spPr>
          <a:xfrm>
            <a:off x="3983236" y="1418332"/>
            <a:ext cx="883655"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E11+E17</a:t>
            </a:r>
            <a:endParaRPr lang="en-US" sz="700" dirty="0"/>
          </a:p>
        </p:txBody>
      </p:sp>
      <p:sp>
        <p:nvSpPr>
          <p:cNvPr id="32" name="Text 30"/>
          <p:cNvSpPr/>
          <p:nvPr/>
        </p:nvSpPr>
        <p:spPr>
          <a:xfrm>
            <a:off x="355550" y="1573709"/>
            <a:ext cx="1160264" cy="164902"/>
          </a:xfrm>
          <a:prstGeom prst="rect">
            <a:avLst/>
          </a:prstGeom>
          <a:noFill/>
          <a:ln w="9525">
            <a:solidFill>
              <a:srgbClr val="DDDDDD"/>
            </a:solidFill>
          </a:ln>
        </p:spPr>
        <p:txBody>
          <a:bodyPr wrap="square" rtlCol="0" anchor="ctr"/>
          <a:lstStyle/>
          <a:p>
            <a:pPr marL="0" indent="0">
              <a:buNone/>
            </a:pPr>
            <a:endParaRPr lang="en-US" dirty="0"/>
          </a:p>
        </p:txBody>
      </p:sp>
      <p:sp>
        <p:nvSpPr>
          <p:cNvPr id="33" name="Text 31"/>
          <p:cNvSpPr/>
          <p:nvPr/>
        </p:nvSpPr>
        <p:spPr>
          <a:xfrm>
            <a:off x="415826" y="1608534"/>
            <a:ext cx="1060508"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Interpretability</a:t>
            </a:r>
            <a:endParaRPr lang="en-US" sz="700" dirty="0"/>
          </a:p>
        </p:txBody>
      </p:sp>
      <p:sp>
        <p:nvSpPr>
          <p:cNvPr id="34" name="Text 32"/>
          <p:cNvSpPr/>
          <p:nvPr/>
        </p:nvSpPr>
        <p:spPr>
          <a:xfrm>
            <a:off x="1515814" y="1573709"/>
            <a:ext cx="1160264" cy="164902"/>
          </a:xfrm>
          <a:prstGeom prst="rect">
            <a:avLst/>
          </a:prstGeom>
          <a:noFill/>
          <a:ln w="9525">
            <a:solidFill>
              <a:srgbClr val="DDDDDD"/>
            </a:solidFill>
          </a:ln>
        </p:spPr>
        <p:txBody>
          <a:bodyPr wrap="square" rtlCol="0" anchor="ctr"/>
          <a:lstStyle/>
          <a:p>
            <a:pPr marL="0" indent="0">
              <a:buNone/>
            </a:pPr>
            <a:endParaRPr lang="en-US" dirty="0"/>
          </a:p>
        </p:txBody>
      </p:sp>
      <p:sp>
        <p:nvSpPr>
          <p:cNvPr id="35" name="Text 33"/>
          <p:cNvSpPr/>
          <p:nvPr/>
        </p:nvSpPr>
        <p:spPr>
          <a:xfrm>
            <a:off x="1576090" y="1608534"/>
            <a:ext cx="106050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SHAP-IG rho</a:t>
            </a:r>
            <a:endParaRPr lang="en-US" sz="700" dirty="0"/>
          </a:p>
        </p:txBody>
      </p:sp>
      <p:sp>
        <p:nvSpPr>
          <p:cNvPr id="36" name="Text 34"/>
          <p:cNvSpPr/>
          <p:nvPr/>
        </p:nvSpPr>
        <p:spPr>
          <a:xfrm>
            <a:off x="2676079" y="1573709"/>
            <a:ext cx="1246882" cy="164902"/>
          </a:xfrm>
          <a:prstGeom prst="rect">
            <a:avLst/>
          </a:prstGeom>
          <a:noFill/>
          <a:ln w="9525">
            <a:solidFill>
              <a:srgbClr val="DDDDDD"/>
            </a:solidFill>
          </a:ln>
        </p:spPr>
        <p:txBody>
          <a:bodyPr wrap="square" rtlCol="0" anchor="ctr"/>
          <a:lstStyle/>
          <a:p>
            <a:pPr marL="0" indent="0">
              <a:buNone/>
            </a:pPr>
            <a:endParaRPr lang="en-US" dirty="0"/>
          </a:p>
        </p:txBody>
      </p:sp>
      <p:sp>
        <p:nvSpPr>
          <p:cNvPr id="37" name="Text 35"/>
          <p:cNvSpPr/>
          <p:nvPr/>
        </p:nvSpPr>
        <p:spPr>
          <a:xfrm>
            <a:off x="2736354" y="1608534"/>
            <a:ext cx="1148858"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0.944</a:t>
            </a:r>
            <a:endParaRPr lang="en-US" sz="700" dirty="0"/>
          </a:p>
        </p:txBody>
      </p:sp>
      <p:sp>
        <p:nvSpPr>
          <p:cNvPr id="38" name="Text 36"/>
          <p:cNvSpPr/>
          <p:nvPr/>
        </p:nvSpPr>
        <p:spPr>
          <a:xfrm>
            <a:off x="3922961" y="1573709"/>
            <a:ext cx="986879" cy="164902"/>
          </a:xfrm>
          <a:prstGeom prst="rect">
            <a:avLst/>
          </a:prstGeom>
          <a:noFill/>
          <a:ln w="9525">
            <a:solidFill>
              <a:srgbClr val="DDDDDD"/>
            </a:solidFill>
          </a:ln>
        </p:spPr>
        <p:txBody>
          <a:bodyPr wrap="square" rtlCol="0" anchor="ctr"/>
          <a:lstStyle/>
          <a:p>
            <a:pPr marL="0" indent="0">
              <a:buNone/>
            </a:pPr>
            <a:endParaRPr lang="en-US" dirty="0"/>
          </a:p>
        </p:txBody>
      </p:sp>
      <p:sp>
        <p:nvSpPr>
          <p:cNvPr id="39" name="Text 37"/>
          <p:cNvSpPr/>
          <p:nvPr/>
        </p:nvSpPr>
        <p:spPr>
          <a:xfrm>
            <a:off x="3983236" y="1608534"/>
            <a:ext cx="883655"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E2+E10</a:t>
            </a:r>
            <a:endParaRPr lang="en-US" sz="700" dirty="0"/>
          </a:p>
        </p:txBody>
      </p:sp>
      <p:sp>
        <p:nvSpPr>
          <p:cNvPr id="40" name="Text 38"/>
          <p:cNvSpPr/>
          <p:nvPr/>
        </p:nvSpPr>
        <p:spPr>
          <a:xfrm>
            <a:off x="355550" y="1763911"/>
            <a:ext cx="1160264" cy="164902"/>
          </a:xfrm>
          <a:prstGeom prst="rect">
            <a:avLst/>
          </a:prstGeom>
          <a:noFill/>
          <a:ln w="9525">
            <a:solidFill>
              <a:srgbClr val="DDDDDD"/>
            </a:solidFill>
          </a:ln>
        </p:spPr>
        <p:txBody>
          <a:bodyPr wrap="square" rtlCol="0" anchor="ctr"/>
          <a:lstStyle/>
          <a:p>
            <a:pPr marL="0" indent="0">
              <a:buNone/>
            </a:pPr>
            <a:endParaRPr lang="en-US" dirty="0"/>
          </a:p>
        </p:txBody>
      </p:sp>
      <p:sp>
        <p:nvSpPr>
          <p:cNvPr id="41" name="Text 39"/>
          <p:cNvSpPr/>
          <p:nvPr/>
        </p:nvSpPr>
        <p:spPr>
          <a:xfrm>
            <a:off x="415826" y="1798737"/>
            <a:ext cx="1060508"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Generalization</a:t>
            </a:r>
            <a:endParaRPr lang="en-US" sz="700" dirty="0"/>
          </a:p>
        </p:txBody>
      </p:sp>
      <p:sp>
        <p:nvSpPr>
          <p:cNvPr id="42" name="Text 40"/>
          <p:cNvSpPr/>
          <p:nvPr/>
        </p:nvSpPr>
        <p:spPr>
          <a:xfrm>
            <a:off x="1515814" y="1763911"/>
            <a:ext cx="1160264" cy="164902"/>
          </a:xfrm>
          <a:prstGeom prst="rect">
            <a:avLst/>
          </a:prstGeom>
          <a:noFill/>
          <a:ln w="9525">
            <a:solidFill>
              <a:srgbClr val="DDDDDD"/>
            </a:solidFill>
          </a:ln>
        </p:spPr>
        <p:txBody>
          <a:bodyPr wrap="square" rtlCol="0" anchor="ctr"/>
          <a:lstStyle/>
          <a:p>
            <a:pPr marL="0" indent="0">
              <a:buNone/>
            </a:pPr>
            <a:endParaRPr lang="en-US" dirty="0"/>
          </a:p>
        </p:txBody>
      </p:sp>
      <p:sp>
        <p:nvSpPr>
          <p:cNvPr id="43" name="Text 41"/>
          <p:cNvSpPr/>
          <p:nvPr/>
        </p:nvSpPr>
        <p:spPr>
          <a:xfrm>
            <a:off x="1576090" y="1798737"/>
            <a:ext cx="106050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UNSW W-F1</a:t>
            </a:r>
            <a:endParaRPr lang="en-US" sz="700" dirty="0"/>
          </a:p>
        </p:txBody>
      </p:sp>
      <p:sp>
        <p:nvSpPr>
          <p:cNvPr id="44" name="Text 42"/>
          <p:cNvSpPr/>
          <p:nvPr/>
        </p:nvSpPr>
        <p:spPr>
          <a:xfrm>
            <a:off x="2676079" y="1763911"/>
            <a:ext cx="1246882" cy="164902"/>
          </a:xfrm>
          <a:prstGeom prst="rect">
            <a:avLst/>
          </a:prstGeom>
          <a:noFill/>
          <a:ln w="9525">
            <a:solidFill>
              <a:srgbClr val="DDDDDD"/>
            </a:solidFill>
          </a:ln>
        </p:spPr>
        <p:txBody>
          <a:bodyPr wrap="square" rtlCol="0" anchor="ctr"/>
          <a:lstStyle/>
          <a:p>
            <a:pPr marL="0" indent="0">
              <a:buNone/>
            </a:pPr>
            <a:endParaRPr lang="en-US" dirty="0"/>
          </a:p>
        </p:txBody>
      </p:sp>
      <p:sp>
        <p:nvSpPr>
          <p:cNvPr id="45" name="Text 43"/>
          <p:cNvSpPr/>
          <p:nvPr/>
        </p:nvSpPr>
        <p:spPr>
          <a:xfrm>
            <a:off x="2736354" y="1798737"/>
            <a:ext cx="1148858"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0.703 / +59%</a:t>
            </a:r>
            <a:endParaRPr lang="en-US" sz="700" dirty="0"/>
          </a:p>
        </p:txBody>
      </p:sp>
      <p:sp>
        <p:nvSpPr>
          <p:cNvPr id="46" name="Text 44"/>
          <p:cNvSpPr/>
          <p:nvPr/>
        </p:nvSpPr>
        <p:spPr>
          <a:xfrm>
            <a:off x="3922961" y="1763911"/>
            <a:ext cx="986879" cy="164902"/>
          </a:xfrm>
          <a:prstGeom prst="rect">
            <a:avLst/>
          </a:prstGeom>
          <a:noFill/>
          <a:ln w="9525">
            <a:solidFill>
              <a:srgbClr val="DDDDDD"/>
            </a:solidFill>
          </a:ln>
        </p:spPr>
        <p:txBody>
          <a:bodyPr wrap="square" rtlCol="0" anchor="ctr"/>
          <a:lstStyle/>
          <a:p>
            <a:pPr marL="0" indent="0">
              <a:buNone/>
            </a:pPr>
            <a:endParaRPr lang="en-US" dirty="0"/>
          </a:p>
        </p:txBody>
      </p:sp>
      <p:sp>
        <p:nvSpPr>
          <p:cNvPr id="47" name="Text 45"/>
          <p:cNvSpPr/>
          <p:nvPr/>
        </p:nvSpPr>
        <p:spPr>
          <a:xfrm>
            <a:off x="3983236" y="1798737"/>
            <a:ext cx="883655"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E15+E12</a:t>
            </a:r>
            <a:endParaRPr lang="en-US" sz="700" dirty="0"/>
          </a:p>
        </p:txBody>
      </p:sp>
      <p:sp>
        <p:nvSpPr>
          <p:cNvPr id="48" name="Text 46"/>
          <p:cNvSpPr/>
          <p:nvPr/>
        </p:nvSpPr>
        <p:spPr>
          <a:xfrm>
            <a:off x="355550" y="1954113"/>
            <a:ext cx="1160264" cy="164902"/>
          </a:xfrm>
          <a:prstGeom prst="rect">
            <a:avLst/>
          </a:prstGeom>
          <a:noFill/>
          <a:ln w="9525">
            <a:solidFill>
              <a:srgbClr val="DDDDDD"/>
            </a:solidFill>
          </a:ln>
        </p:spPr>
        <p:txBody>
          <a:bodyPr wrap="square" rtlCol="0" anchor="ctr"/>
          <a:lstStyle/>
          <a:p>
            <a:pPr marL="0" indent="0">
              <a:buNone/>
            </a:pPr>
            <a:endParaRPr lang="en-US" dirty="0"/>
          </a:p>
        </p:txBody>
      </p:sp>
      <p:sp>
        <p:nvSpPr>
          <p:cNvPr id="49" name="Text 47"/>
          <p:cNvSpPr/>
          <p:nvPr/>
        </p:nvSpPr>
        <p:spPr>
          <a:xfrm>
            <a:off x="415826" y="1988939"/>
            <a:ext cx="1060508"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Robustness</a:t>
            </a:r>
            <a:endParaRPr lang="en-US" sz="700" dirty="0"/>
          </a:p>
        </p:txBody>
      </p:sp>
      <p:sp>
        <p:nvSpPr>
          <p:cNvPr id="50" name="Text 48"/>
          <p:cNvSpPr/>
          <p:nvPr/>
        </p:nvSpPr>
        <p:spPr>
          <a:xfrm>
            <a:off x="1515814" y="1954113"/>
            <a:ext cx="1160264" cy="164902"/>
          </a:xfrm>
          <a:prstGeom prst="rect">
            <a:avLst/>
          </a:prstGeom>
          <a:noFill/>
          <a:ln w="9525">
            <a:solidFill>
              <a:srgbClr val="DDDDDD"/>
            </a:solidFill>
          </a:ln>
        </p:spPr>
        <p:txBody>
          <a:bodyPr wrap="square" rtlCol="0" anchor="ctr"/>
          <a:lstStyle/>
          <a:p>
            <a:pPr marL="0" indent="0">
              <a:buNone/>
            </a:pPr>
            <a:endParaRPr lang="en-US" dirty="0"/>
          </a:p>
        </p:txBody>
      </p:sp>
      <p:sp>
        <p:nvSpPr>
          <p:cNvPr id="51" name="Text 49"/>
          <p:cNvSpPr/>
          <p:nvPr/>
        </p:nvSpPr>
        <p:spPr>
          <a:xfrm>
            <a:off x="1576090" y="1988939"/>
            <a:ext cx="106050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PGD Evasion</a:t>
            </a:r>
            <a:endParaRPr lang="en-US" sz="700" dirty="0"/>
          </a:p>
        </p:txBody>
      </p:sp>
      <p:sp>
        <p:nvSpPr>
          <p:cNvPr id="52" name="Text 50"/>
          <p:cNvSpPr/>
          <p:nvPr/>
        </p:nvSpPr>
        <p:spPr>
          <a:xfrm>
            <a:off x="2676079" y="1954113"/>
            <a:ext cx="1246882" cy="164902"/>
          </a:xfrm>
          <a:prstGeom prst="rect">
            <a:avLst/>
          </a:prstGeom>
          <a:noFill/>
          <a:ln w="9525">
            <a:solidFill>
              <a:srgbClr val="DDDDDD"/>
            </a:solidFill>
          </a:ln>
        </p:spPr>
        <p:txBody>
          <a:bodyPr wrap="square" rtlCol="0" anchor="ctr"/>
          <a:lstStyle/>
          <a:p>
            <a:pPr marL="0" indent="0">
              <a:buNone/>
            </a:pPr>
            <a:endParaRPr lang="en-US" dirty="0"/>
          </a:p>
        </p:txBody>
      </p:sp>
      <p:sp>
        <p:nvSpPr>
          <p:cNvPr id="53" name="Text 51"/>
          <p:cNvSpPr/>
          <p:nvPr/>
        </p:nvSpPr>
        <p:spPr>
          <a:xfrm>
            <a:off x="2736354" y="1988939"/>
            <a:ext cx="1148858"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8.04%</a:t>
            </a:r>
            <a:endParaRPr lang="en-US" sz="700" dirty="0"/>
          </a:p>
        </p:txBody>
      </p:sp>
      <p:sp>
        <p:nvSpPr>
          <p:cNvPr id="54" name="Text 52"/>
          <p:cNvSpPr/>
          <p:nvPr/>
        </p:nvSpPr>
        <p:spPr>
          <a:xfrm>
            <a:off x="3922961" y="1954113"/>
            <a:ext cx="986879" cy="164902"/>
          </a:xfrm>
          <a:prstGeom prst="rect">
            <a:avLst/>
          </a:prstGeom>
          <a:noFill/>
          <a:ln w="9525">
            <a:solidFill>
              <a:srgbClr val="DDDDDD"/>
            </a:solidFill>
          </a:ln>
        </p:spPr>
        <p:txBody>
          <a:bodyPr wrap="square" rtlCol="0" anchor="ctr"/>
          <a:lstStyle/>
          <a:p>
            <a:pPr marL="0" indent="0">
              <a:buNone/>
            </a:pPr>
            <a:endParaRPr lang="en-US" dirty="0"/>
          </a:p>
        </p:txBody>
      </p:sp>
      <p:sp>
        <p:nvSpPr>
          <p:cNvPr id="55" name="Text 53"/>
          <p:cNvSpPr/>
          <p:nvPr/>
        </p:nvSpPr>
        <p:spPr>
          <a:xfrm>
            <a:off x="3983236" y="1988939"/>
            <a:ext cx="883655"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E14</a:t>
            </a:r>
            <a:endParaRPr lang="en-US" sz="700" dirty="0"/>
          </a:p>
        </p:txBody>
      </p:sp>
      <p:sp>
        <p:nvSpPr>
          <p:cNvPr id="56" name="Text 54"/>
          <p:cNvSpPr/>
          <p:nvPr/>
        </p:nvSpPr>
        <p:spPr>
          <a:xfrm>
            <a:off x="355550" y="2144316"/>
            <a:ext cx="1160264" cy="164902"/>
          </a:xfrm>
          <a:prstGeom prst="rect">
            <a:avLst/>
          </a:prstGeom>
          <a:noFill/>
          <a:ln w="9525">
            <a:solidFill>
              <a:srgbClr val="DDDDDD"/>
            </a:solidFill>
          </a:ln>
        </p:spPr>
        <p:txBody>
          <a:bodyPr wrap="square" rtlCol="0" anchor="ctr"/>
          <a:lstStyle/>
          <a:p>
            <a:pPr marL="0" indent="0">
              <a:buNone/>
            </a:pPr>
            <a:endParaRPr lang="en-US" dirty="0"/>
          </a:p>
        </p:txBody>
      </p:sp>
      <p:sp>
        <p:nvSpPr>
          <p:cNvPr id="57" name="Text 55"/>
          <p:cNvSpPr/>
          <p:nvPr/>
        </p:nvSpPr>
        <p:spPr>
          <a:xfrm>
            <a:off x="415826" y="2179141"/>
            <a:ext cx="1060508" cy="95250"/>
          </a:xfrm>
          <a:prstGeom prst="rect">
            <a:avLst/>
          </a:prstGeom>
          <a:noFill/>
          <a:ln/>
        </p:spPr>
        <p:txBody>
          <a:bodyPr wrap="square" lIns="0" tIns="0" rIns="0" bIns="0" rtlCol="0" anchor="t"/>
          <a:lstStyle/>
          <a:p>
            <a:pPr marL="0" indent="0" algn="l">
              <a:buNone/>
            </a:pPr>
            <a:r>
              <a:rPr lang="en-US" sz="700" b="1" dirty="0">
                <a:solidFill>
                  <a:srgbClr val="003C71"/>
                </a:solidFill>
                <a:latin typeface="Arial" pitchFamily="34" charset="0"/>
                <a:ea typeface="Arial" pitchFamily="34" charset="-122"/>
                <a:cs typeface="Arial" pitchFamily="34" charset="-120"/>
              </a:rPr>
              <a:t>Statistics</a:t>
            </a:r>
            <a:endParaRPr lang="en-US" sz="700" dirty="0"/>
          </a:p>
        </p:txBody>
      </p:sp>
      <p:sp>
        <p:nvSpPr>
          <p:cNvPr id="58" name="Text 56"/>
          <p:cNvSpPr/>
          <p:nvPr/>
        </p:nvSpPr>
        <p:spPr>
          <a:xfrm>
            <a:off x="1515814" y="2144316"/>
            <a:ext cx="1160264" cy="164902"/>
          </a:xfrm>
          <a:prstGeom prst="rect">
            <a:avLst/>
          </a:prstGeom>
          <a:noFill/>
          <a:ln w="9525">
            <a:solidFill>
              <a:srgbClr val="DDDDDD"/>
            </a:solidFill>
          </a:ln>
        </p:spPr>
        <p:txBody>
          <a:bodyPr wrap="square" rtlCol="0" anchor="ctr"/>
          <a:lstStyle/>
          <a:p>
            <a:pPr marL="0" indent="0">
              <a:buNone/>
            </a:pPr>
            <a:endParaRPr lang="en-US" dirty="0"/>
          </a:p>
        </p:txBody>
      </p:sp>
      <p:sp>
        <p:nvSpPr>
          <p:cNvPr id="59" name="Text 57"/>
          <p:cNvSpPr/>
          <p:nvPr/>
        </p:nvSpPr>
        <p:spPr>
          <a:xfrm>
            <a:off x="1576090" y="2179141"/>
            <a:ext cx="106050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S2 CI Width</a:t>
            </a:r>
            <a:endParaRPr lang="en-US" sz="700" dirty="0"/>
          </a:p>
        </p:txBody>
      </p:sp>
      <p:sp>
        <p:nvSpPr>
          <p:cNvPr id="60" name="Text 58"/>
          <p:cNvSpPr/>
          <p:nvPr/>
        </p:nvSpPr>
        <p:spPr>
          <a:xfrm>
            <a:off x="2676079" y="2144316"/>
            <a:ext cx="1246882" cy="164902"/>
          </a:xfrm>
          <a:prstGeom prst="rect">
            <a:avLst/>
          </a:prstGeom>
          <a:noFill/>
          <a:ln w="9525">
            <a:solidFill>
              <a:srgbClr val="DDDDDD"/>
            </a:solidFill>
          </a:ln>
        </p:spPr>
        <p:txBody>
          <a:bodyPr wrap="square" rtlCol="0" anchor="ctr"/>
          <a:lstStyle/>
          <a:p>
            <a:pPr marL="0" indent="0">
              <a:buNone/>
            </a:pPr>
            <a:endParaRPr lang="en-US" dirty="0"/>
          </a:p>
        </p:txBody>
      </p:sp>
      <p:sp>
        <p:nvSpPr>
          <p:cNvPr id="61" name="Text 59"/>
          <p:cNvSpPr/>
          <p:nvPr/>
        </p:nvSpPr>
        <p:spPr>
          <a:xfrm>
            <a:off x="2736354" y="2179141"/>
            <a:ext cx="1148858"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0.003</a:t>
            </a:r>
            <a:endParaRPr lang="en-US" sz="700" dirty="0"/>
          </a:p>
        </p:txBody>
      </p:sp>
      <p:sp>
        <p:nvSpPr>
          <p:cNvPr id="62" name="Text 60"/>
          <p:cNvSpPr/>
          <p:nvPr/>
        </p:nvSpPr>
        <p:spPr>
          <a:xfrm>
            <a:off x="3922961" y="2144316"/>
            <a:ext cx="986879" cy="164902"/>
          </a:xfrm>
          <a:prstGeom prst="rect">
            <a:avLst/>
          </a:prstGeom>
          <a:noFill/>
          <a:ln w="9525">
            <a:solidFill>
              <a:srgbClr val="DDDDDD"/>
            </a:solidFill>
          </a:ln>
        </p:spPr>
        <p:txBody>
          <a:bodyPr wrap="square" rtlCol="0" anchor="ctr"/>
          <a:lstStyle/>
          <a:p>
            <a:pPr marL="0" indent="0">
              <a:buNone/>
            </a:pPr>
            <a:endParaRPr lang="en-US" dirty="0"/>
          </a:p>
        </p:txBody>
      </p:sp>
      <p:sp>
        <p:nvSpPr>
          <p:cNvPr id="63" name="Text 61"/>
          <p:cNvSpPr/>
          <p:nvPr/>
        </p:nvSpPr>
        <p:spPr>
          <a:xfrm>
            <a:off x="3983236" y="2179141"/>
            <a:ext cx="883655"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E6</a:t>
            </a:r>
            <a:endParaRPr lang="en-US" sz="700" dirty="0"/>
          </a:p>
        </p:txBody>
      </p:sp>
      <p:sp>
        <p:nvSpPr>
          <p:cNvPr id="64" name="Text 62"/>
          <p:cNvSpPr/>
          <p:nvPr/>
        </p:nvSpPr>
        <p:spPr>
          <a:xfrm>
            <a:off x="355550" y="2372618"/>
            <a:ext cx="4554289" cy="381000"/>
          </a:xfrm>
          <a:prstGeom prst="roundRect">
            <a:avLst>
              <a:gd name="adj" fmla="val 13333"/>
            </a:avLst>
          </a:prstGeom>
          <a:solidFill>
            <a:srgbClr val="003C71"/>
          </a:solidFill>
          <a:ln/>
        </p:spPr>
        <p:txBody>
          <a:bodyPr wrap="square" rtlCol="0" anchor="ctr"/>
          <a:lstStyle/>
          <a:p>
            <a:pPr marL="0" indent="0">
              <a:buNone/>
            </a:pPr>
            <a:endParaRPr lang="en-US" dirty="0"/>
          </a:p>
        </p:txBody>
      </p:sp>
      <p:sp>
        <p:nvSpPr>
          <p:cNvPr id="65" name="Text 63"/>
          <p:cNvSpPr/>
          <p:nvPr/>
        </p:nvSpPr>
        <p:spPr>
          <a:xfrm>
            <a:off x="482501" y="2448818"/>
            <a:ext cx="4386396" cy="228600"/>
          </a:xfrm>
          <a:prstGeom prst="rect">
            <a:avLst/>
          </a:prstGeom>
          <a:noFill/>
          <a:ln/>
        </p:spPr>
        <p:txBody>
          <a:bodyPr wrap="square" lIns="0" tIns="0" rIns="0" bIns="0" rtlCol="0" anchor="t"/>
          <a:lstStyle/>
          <a:p>
            <a:pPr marL="0" indent="0" algn="l">
              <a:lnSpc>
                <a:spcPts val="900"/>
              </a:lnSpc>
              <a:buNone/>
            </a:pPr>
            <a:r>
              <a:rPr lang="en-US" sz="750" b="1" dirty="0">
                <a:solidFill>
                  <a:srgbClr val="FFFFFF"/>
                </a:solidFill>
                <a:latin typeface="Arial" pitchFamily="34" charset="0"/>
                <a:ea typeface="Arial" pitchFamily="34" charset="-122"/>
                <a:cs typeface="Arial" pitchFamily="34" charset="-120"/>
              </a:rPr>
              <a:t>Core Advantage</a:t>
            </a:r>
            <a:r>
              <a:rPr lang="en-US" sz="750" dirty="0">
                <a:solidFill>
                  <a:srgbClr val="FFFFFF"/>
                </a:solidFill>
                <a:latin typeface="Arial" pitchFamily="34" charset="0"/>
                <a:ea typeface="Arial" pitchFamily="34" charset="-122"/>
                <a:cs typeface="Arial" pitchFamily="34" charset="-120"/>
              </a:rPr>
              <a:t>: Not each layer being the strongest but </a:t>
            </a:r>
            <a:r>
              <a:rPr lang="en-US" sz="750" b="1" dirty="0">
                <a:solidFill>
                  <a:srgbClr val="FFFFFF"/>
                </a:solidFill>
                <a:latin typeface="Arial" pitchFamily="34" charset="0"/>
                <a:ea typeface="Arial" pitchFamily="34" charset="-122"/>
                <a:cs typeface="Arial" pitchFamily="34" charset="-120"/>
              </a:rPr>
              <a:t>orthogonal weaknesses + attack surface isolation</a:t>
            </a:r>
            <a:r>
              <a:rPr lang="en-US" sz="750" dirty="0">
                <a:solidFill>
                  <a:srgbClr val="FFFFFF"/>
                </a:solidFill>
                <a:latin typeface="Arial" pitchFamily="34" charset="0"/>
                <a:ea typeface="Arial" pitchFamily="34" charset="-122"/>
                <a:cs typeface="Arial" pitchFamily="34" charset="-120"/>
              </a:rPr>
              <a:t> across two layers.</a:t>
            </a:r>
            <a:endParaRPr lang="en-US" sz="750" dirty="0"/>
          </a:p>
        </p:txBody>
      </p:sp>
      <p:sp>
        <p:nvSpPr>
          <p:cNvPr id="66" name="Text 64"/>
          <p:cNvSpPr/>
          <p:nvPr/>
        </p:nvSpPr>
        <p:spPr>
          <a:xfrm>
            <a:off x="5062240" y="698450"/>
            <a:ext cx="3800734" cy="95250"/>
          </a:xfrm>
          <a:prstGeom prst="rect">
            <a:avLst/>
          </a:prstGeom>
          <a:noFill/>
          <a:ln/>
        </p:spPr>
        <p:txBody>
          <a:bodyPr wrap="square" lIns="0" tIns="0" rIns="0" bIns="0" rtlCol="0" anchor="t"/>
          <a:lstStyle/>
          <a:p>
            <a:pPr marL="0" indent="0" algn="l">
              <a:spcAft>
                <a:spcPts val="100"/>
              </a:spcAft>
              <a:buNone/>
            </a:pPr>
            <a:r>
              <a:rPr lang="en-US" sz="700" b="1" dirty="0">
                <a:solidFill>
                  <a:srgbClr val="333333"/>
                </a:solidFill>
                <a:latin typeface="Arial" pitchFamily="34" charset="0"/>
                <a:ea typeface="Arial" pitchFamily="34" charset="-122"/>
                <a:cs typeface="Arial" pitchFamily="34" charset="-120"/>
              </a:rPr>
              <a:t>Table 11</a:t>
            </a:r>
            <a:endParaRPr lang="en-US" sz="700" dirty="0"/>
          </a:p>
        </p:txBody>
      </p:sp>
      <p:sp>
        <p:nvSpPr>
          <p:cNvPr id="67" name="Text 65"/>
          <p:cNvSpPr/>
          <p:nvPr/>
        </p:nvSpPr>
        <p:spPr>
          <a:xfrm>
            <a:off x="5062240" y="831652"/>
            <a:ext cx="3800734" cy="95250"/>
          </a:xfrm>
          <a:prstGeom prst="rect">
            <a:avLst/>
          </a:prstGeom>
          <a:noFill/>
          <a:ln/>
        </p:spPr>
        <p:txBody>
          <a:bodyPr wrap="square" lIns="0" tIns="0" rIns="0" bIns="0" rtlCol="0" anchor="t"/>
          <a:lstStyle/>
          <a:p>
            <a:pPr marL="0" indent="0" algn="l">
              <a:spcAft>
                <a:spcPts val="200"/>
              </a:spcAft>
              <a:buNone/>
            </a:pPr>
            <a:r>
              <a:rPr lang="en-US" sz="700" i="1" dirty="0">
                <a:solidFill>
                  <a:srgbClr val="333333"/>
                </a:solidFill>
                <a:latin typeface="Arial" pitchFamily="34" charset="0"/>
                <a:ea typeface="Arial" pitchFamily="34" charset="-122"/>
                <a:cs typeface="Arial" pitchFamily="34" charset="-120"/>
              </a:rPr>
              <a:t>Theoretical Prediction Verification Matrix (10 of 12 Confirmed)</a:t>
            </a:r>
            <a:endParaRPr lang="en-US" sz="700" dirty="0"/>
          </a:p>
        </p:txBody>
      </p:sp>
      <p:sp>
        <p:nvSpPr>
          <p:cNvPr id="68" name="Text 66"/>
          <p:cNvSpPr/>
          <p:nvPr/>
        </p:nvSpPr>
        <p:spPr>
          <a:xfrm>
            <a:off x="5062240" y="977503"/>
            <a:ext cx="1802755"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69" name="Text 67"/>
          <p:cNvSpPr/>
          <p:nvPr/>
        </p:nvSpPr>
        <p:spPr>
          <a:xfrm>
            <a:off x="5122515" y="1025128"/>
            <a:ext cx="1715848" cy="95250"/>
          </a:xfrm>
          <a:prstGeom prst="rect">
            <a:avLst/>
          </a:prstGeom>
          <a:noFill/>
          <a:ln/>
        </p:spPr>
        <p:txBody>
          <a:bodyPr wrap="square" lIns="0" tIns="0" rIns="0" bIns="0" rtlCol="0" anchor="t"/>
          <a:lstStyle/>
          <a:p>
            <a:pPr marL="0" indent="0" algn="l">
              <a:buNone/>
            </a:pPr>
            <a:r>
              <a:rPr lang="en-US" sz="650" b="1" dirty="0">
                <a:solidFill>
                  <a:srgbClr val="FFFFFF"/>
                </a:solidFill>
                <a:latin typeface="Arial" pitchFamily="34" charset="0"/>
                <a:ea typeface="Arial" pitchFamily="34" charset="-122"/>
                <a:cs typeface="Arial" pitchFamily="34" charset="-120"/>
              </a:rPr>
              <a:t>Prediction</a:t>
            </a:r>
            <a:endParaRPr lang="en-US" sz="650" dirty="0"/>
          </a:p>
        </p:txBody>
      </p:sp>
      <p:sp>
        <p:nvSpPr>
          <p:cNvPr id="70" name="Text 68"/>
          <p:cNvSpPr/>
          <p:nvPr/>
        </p:nvSpPr>
        <p:spPr>
          <a:xfrm>
            <a:off x="6864995" y="977503"/>
            <a:ext cx="961727"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71" name="Text 69"/>
          <p:cNvSpPr/>
          <p:nvPr/>
        </p:nvSpPr>
        <p:spPr>
          <a:xfrm>
            <a:off x="6925270" y="1025128"/>
            <a:ext cx="858000" cy="95250"/>
          </a:xfrm>
          <a:prstGeom prst="rect">
            <a:avLst/>
          </a:prstGeom>
          <a:noFill/>
          <a:ln/>
        </p:spPr>
        <p:txBody>
          <a:bodyPr wrap="square" lIns="0" tIns="0" rIns="0" bIns="0" rtlCol="0" anchor="t"/>
          <a:lstStyle/>
          <a:p>
            <a:pPr marL="0" indent="0" algn="l">
              <a:buNone/>
            </a:pPr>
            <a:r>
              <a:rPr lang="en-US" sz="650" b="1" dirty="0">
                <a:solidFill>
                  <a:srgbClr val="FFFFFF"/>
                </a:solidFill>
                <a:latin typeface="Arial" pitchFamily="34" charset="0"/>
                <a:ea typeface="Arial" pitchFamily="34" charset="-122"/>
                <a:cs typeface="Arial" pitchFamily="34" charset="-120"/>
              </a:rPr>
              <a:t>Source</a:t>
            </a:r>
            <a:endParaRPr lang="en-US" sz="650" dirty="0"/>
          </a:p>
        </p:txBody>
      </p:sp>
      <p:sp>
        <p:nvSpPr>
          <p:cNvPr id="72" name="Text 70"/>
          <p:cNvSpPr/>
          <p:nvPr/>
        </p:nvSpPr>
        <p:spPr>
          <a:xfrm>
            <a:off x="7826722" y="977503"/>
            <a:ext cx="961727" cy="190500"/>
          </a:xfrm>
          <a:prstGeom prst="rect">
            <a:avLst/>
          </a:prstGeom>
          <a:solidFill>
            <a:srgbClr val="003C71"/>
          </a:solidFill>
          <a:ln w="9525">
            <a:solidFill>
              <a:srgbClr val="FFFFFF"/>
            </a:solidFill>
          </a:ln>
        </p:spPr>
        <p:txBody>
          <a:bodyPr wrap="square" rtlCol="0" anchor="ctr"/>
          <a:lstStyle/>
          <a:p>
            <a:pPr marL="0" indent="0">
              <a:buNone/>
            </a:pPr>
            <a:endParaRPr lang="en-US" dirty="0"/>
          </a:p>
        </p:txBody>
      </p:sp>
      <p:sp>
        <p:nvSpPr>
          <p:cNvPr id="73" name="Text 71"/>
          <p:cNvSpPr/>
          <p:nvPr/>
        </p:nvSpPr>
        <p:spPr>
          <a:xfrm>
            <a:off x="7886998" y="1025128"/>
            <a:ext cx="858000" cy="95250"/>
          </a:xfrm>
          <a:prstGeom prst="rect">
            <a:avLst/>
          </a:prstGeom>
          <a:noFill/>
          <a:ln/>
        </p:spPr>
        <p:txBody>
          <a:bodyPr wrap="square" lIns="0" tIns="0" rIns="0" bIns="0" rtlCol="0" anchor="t"/>
          <a:lstStyle/>
          <a:p>
            <a:pPr marL="0" indent="0" algn="l">
              <a:buNone/>
            </a:pPr>
            <a:r>
              <a:rPr lang="en-US" sz="650" b="1" dirty="0">
                <a:solidFill>
                  <a:srgbClr val="FFFFFF"/>
                </a:solidFill>
                <a:latin typeface="Arial" pitchFamily="34" charset="0"/>
                <a:ea typeface="Arial" pitchFamily="34" charset="-122"/>
                <a:cs typeface="Arial" pitchFamily="34" charset="-120"/>
              </a:rPr>
              <a:t>Result</a:t>
            </a:r>
            <a:endParaRPr lang="en-US" sz="650" dirty="0"/>
          </a:p>
        </p:txBody>
      </p:sp>
      <p:sp>
        <p:nvSpPr>
          <p:cNvPr id="74" name="Text 72"/>
          <p:cNvSpPr/>
          <p:nvPr/>
        </p:nvSpPr>
        <p:spPr>
          <a:xfrm>
            <a:off x="5062240" y="1193304"/>
            <a:ext cx="1802755" cy="164902"/>
          </a:xfrm>
          <a:prstGeom prst="rect">
            <a:avLst/>
          </a:prstGeom>
          <a:noFill/>
          <a:ln w="9525">
            <a:solidFill>
              <a:srgbClr val="DDDDDD"/>
            </a:solidFill>
          </a:ln>
        </p:spPr>
        <p:txBody>
          <a:bodyPr wrap="square" rtlCol="0" anchor="ctr"/>
          <a:lstStyle/>
          <a:p>
            <a:pPr marL="0" indent="0">
              <a:buNone/>
            </a:pPr>
            <a:endParaRPr lang="en-US" dirty="0"/>
          </a:p>
        </p:txBody>
      </p:sp>
      <p:sp>
        <p:nvSpPr>
          <p:cNvPr id="75" name="Text 73"/>
          <p:cNvSpPr/>
          <p:nvPr/>
        </p:nvSpPr>
        <p:spPr>
          <a:xfrm>
            <a:off x="5122515" y="1228130"/>
            <a:ext cx="171584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Bagging reduces Variance</a:t>
            </a:r>
            <a:endParaRPr lang="en-US" sz="700" dirty="0"/>
          </a:p>
        </p:txBody>
      </p:sp>
      <p:sp>
        <p:nvSpPr>
          <p:cNvPr id="76" name="Text 74"/>
          <p:cNvSpPr/>
          <p:nvPr/>
        </p:nvSpPr>
        <p:spPr>
          <a:xfrm>
            <a:off x="6864995" y="1193304"/>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77" name="Text 75"/>
          <p:cNvSpPr/>
          <p:nvPr/>
        </p:nvSpPr>
        <p:spPr>
          <a:xfrm>
            <a:off x="6925270" y="1228130"/>
            <a:ext cx="858000"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Breiman 01</a:t>
            </a:r>
            <a:endParaRPr lang="en-US" sz="700" dirty="0"/>
          </a:p>
        </p:txBody>
      </p:sp>
      <p:sp>
        <p:nvSpPr>
          <p:cNvPr id="78" name="Text 76"/>
          <p:cNvSpPr/>
          <p:nvPr/>
        </p:nvSpPr>
        <p:spPr>
          <a:xfrm>
            <a:off x="7826722" y="1193304"/>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79" name="Text 77"/>
          <p:cNvSpPr/>
          <p:nvPr/>
        </p:nvSpPr>
        <p:spPr>
          <a:xfrm>
            <a:off x="7886998" y="1228130"/>
            <a:ext cx="85800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Verified</a:t>
            </a:r>
            <a:endParaRPr lang="en-US" sz="700" dirty="0"/>
          </a:p>
        </p:txBody>
      </p:sp>
      <p:sp>
        <p:nvSpPr>
          <p:cNvPr id="80" name="Text 78"/>
          <p:cNvSpPr/>
          <p:nvPr/>
        </p:nvSpPr>
        <p:spPr>
          <a:xfrm>
            <a:off x="5062240" y="1383506"/>
            <a:ext cx="1802755" cy="164902"/>
          </a:xfrm>
          <a:prstGeom prst="rect">
            <a:avLst/>
          </a:prstGeom>
          <a:noFill/>
          <a:ln w="9525">
            <a:solidFill>
              <a:srgbClr val="DDDDDD"/>
            </a:solidFill>
          </a:ln>
        </p:spPr>
        <p:txBody>
          <a:bodyPr wrap="square" rtlCol="0" anchor="ctr"/>
          <a:lstStyle/>
          <a:p>
            <a:pPr marL="0" indent="0">
              <a:buNone/>
            </a:pPr>
            <a:endParaRPr lang="en-US" dirty="0"/>
          </a:p>
        </p:txBody>
      </p:sp>
      <p:sp>
        <p:nvSpPr>
          <p:cNvPr id="81" name="Text 79"/>
          <p:cNvSpPr/>
          <p:nvPr/>
        </p:nvSpPr>
        <p:spPr>
          <a:xfrm>
            <a:off x="5122515" y="1418332"/>
            <a:ext cx="171584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DL High Variance</a:t>
            </a:r>
            <a:endParaRPr lang="en-US" sz="700" dirty="0"/>
          </a:p>
        </p:txBody>
      </p:sp>
      <p:sp>
        <p:nvSpPr>
          <p:cNvPr id="82" name="Text 80"/>
          <p:cNvSpPr/>
          <p:nvPr/>
        </p:nvSpPr>
        <p:spPr>
          <a:xfrm>
            <a:off x="6864995" y="1383506"/>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83" name="Text 81"/>
          <p:cNvSpPr/>
          <p:nvPr/>
        </p:nvSpPr>
        <p:spPr>
          <a:xfrm>
            <a:off x="6925270" y="1418332"/>
            <a:ext cx="858000"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Kwon 17</a:t>
            </a:r>
            <a:endParaRPr lang="en-US" sz="700" dirty="0"/>
          </a:p>
        </p:txBody>
      </p:sp>
      <p:sp>
        <p:nvSpPr>
          <p:cNvPr id="84" name="Text 82"/>
          <p:cNvSpPr/>
          <p:nvPr/>
        </p:nvSpPr>
        <p:spPr>
          <a:xfrm>
            <a:off x="7826722" y="1383506"/>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85" name="Text 83"/>
          <p:cNvSpPr/>
          <p:nvPr/>
        </p:nvSpPr>
        <p:spPr>
          <a:xfrm>
            <a:off x="7886998" y="1418332"/>
            <a:ext cx="858000"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Overturned</a:t>
            </a:r>
            <a:endParaRPr lang="en-US" sz="700" dirty="0"/>
          </a:p>
        </p:txBody>
      </p:sp>
      <p:sp>
        <p:nvSpPr>
          <p:cNvPr id="86" name="Text 84"/>
          <p:cNvSpPr/>
          <p:nvPr/>
        </p:nvSpPr>
        <p:spPr>
          <a:xfrm>
            <a:off x="5062240" y="1573709"/>
            <a:ext cx="1802755" cy="164902"/>
          </a:xfrm>
          <a:prstGeom prst="rect">
            <a:avLst/>
          </a:prstGeom>
          <a:noFill/>
          <a:ln w="9525">
            <a:solidFill>
              <a:srgbClr val="DDDDDD"/>
            </a:solidFill>
          </a:ln>
        </p:spPr>
        <p:txBody>
          <a:bodyPr wrap="square" rtlCol="0" anchor="ctr"/>
          <a:lstStyle/>
          <a:p>
            <a:pPr marL="0" indent="0">
              <a:buNone/>
            </a:pPr>
            <a:endParaRPr lang="en-US" dirty="0"/>
          </a:p>
        </p:txBody>
      </p:sp>
      <p:sp>
        <p:nvSpPr>
          <p:cNvPr id="87" name="Text 85"/>
          <p:cNvSpPr/>
          <p:nvPr/>
        </p:nvSpPr>
        <p:spPr>
          <a:xfrm>
            <a:off x="5122515" y="1608534"/>
            <a:ext cx="171584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RF robust to noise</a:t>
            </a:r>
            <a:endParaRPr lang="en-US" sz="700" dirty="0"/>
          </a:p>
        </p:txBody>
      </p:sp>
      <p:sp>
        <p:nvSpPr>
          <p:cNvPr id="88" name="Text 86"/>
          <p:cNvSpPr/>
          <p:nvPr/>
        </p:nvSpPr>
        <p:spPr>
          <a:xfrm>
            <a:off x="6864995" y="1573709"/>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89" name="Text 87"/>
          <p:cNvSpPr/>
          <p:nvPr/>
        </p:nvSpPr>
        <p:spPr>
          <a:xfrm>
            <a:off x="6925270" y="1608534"/>
            <a:ext cx="858000"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Assumption</a:t>
            </a:r>
            <a:endParaRPr lang="en-US" sz="700" dirty="0"/>
          </a:p>
        </p:txBody>
      </p:sp>
      <p:sp>
        <p:nvSpPr>
          <p:cNvPr id="90" name="Text 88"/>
          <p:cNvSpPr/>
          <p:nvPr/>
        </p:nvSpPr>
        <p:spPr>
          <a:xfrm>
            <a:off x="7826722" y="1573709"/>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91" name="Text 89"/>
          <p:cNvSpPr/>
          <p:nvPr/>
        </p:nvSpPr>
        <p:spPr>
          <a:xfrm>
            <a:off x="7886998" y="1608534"/>
            <a:ext cx="858000" cy="95250"/>
          </a:xfrm>
          <a:prstGeom prst="rect">
            <a:avLst/>
          </a:prstGeom>
          <a:noFill/>
          <a:ln/>
        </p:spPr>
        <p:txBody>
          <a:bodyPr wrap="square" lIns="0" tIns="0" rIns="0" bIns="0" rtlCol="0" anchor="t"/>
          <a:lstStyle/>
          <a:p>
            <a:pPr marL="0" indent="0" algn="l">
              <a:buNone/>
            </a:pPr>
            <a:r>
              <a:rPr lang="en-US" sz="700" b="1" dirty="0">
                <a:solidFill>
                  <a:srgbClr val="E75113"/>
                </a:solidFill>
                <a:latin typeface="Arial" pitchFamily="34" charset="0"/>
                <a:ea typeface="Arial" pitchFamily="34" charset="-122"/>
                <a:cs typeface="Arial" pitchFamily="34" charset="-120"/>
              </a:rPr>
              <a:t>Overturned</a:t>
            </a:r>
            <a:endParaRPr lang="en-US" sz="700" dirty="0"/>
          </a:p>
        </p:txBody>
      </p:sp>
      <p:sp>
        <p:nvSpPr>
          <p:cNvPr id="92" name="Text 90"/>
          <p:cNvSpPr/>
          <p:nvPr/>
        </p:nvSpPr>
        <p:spPr>
          <a:xfrm>
            <a:off x="5062240" y="1763911"/>
            <a:ext cx="1802755" cy="164902"/>
          </a:xfrm>
          <a:prstGeom prst="rect">
            <a:avLst/>
          </a:prstGeom>
          <a:noFill/>
          <a:ln w="9525">
            <a:solidFill>
              <a:srgbClr val="DDDDDD"/>
            </a:solidFill>
          </a:ln>
        </p:spPr>
        <p:txBody>
          <a:bodyPr wrap="square" rtlCol="0" anchor="ctr"/>
          <a:lstStyle/>
          <a:p>
            <a:pPr marL="0" indent="0">
              <a:buNone/>
            </a:pPr>
            <a:endParaRPr lang="en-US" dirty="0"/>
          </a:p>
        </p:txBody>
      </p:sp>
      <p:sp>
        <p:nvSpPr>
          <p:cNvPr id="93" name="Text 91"/>
          <p:cNvSpPr/>
          <p:nvPr/>
        </p:nvSpPr>
        <p:spPr>
          <a:xfrm>
            <a:off x="5122515" y="1798737"/>
            <a:ext cx="171584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PGD stronger than FGSM</a:t>
            </a:r>
            <a:endParaRPr lang="en-US" sz="700" dirty="0"/>
          </a:p>
        </p:txBody>
      </p:sp>
      <p:sp>
        <p:nvSpPr>
          <p:cNvPr id="94" name="Text 92"/>
          <p:cNvSpPr/>
          <p:nvPr/>
        </p:nvSpPr>
        <p:spPr>
          <a:xfrm>
            <a:off x="6864995" y="1763911"/>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95" name="Text 93"/>
          <p:cNvSpPr/>
          <p:nvPr/>
        </p:nvSpPr>
        <p:spPr>
          <a:xfrm>
            <a:off x="6925270" y="1798737"/>
            <a:ext cx="858000"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Madry 18</a:t>
            </a:r>
            <a:endParaRPr lang="en-US" sz="700" dirty="0"/>
          </a:p>
        </p:txBody>
      </p:sp>
      <p:sp>
        <p:nvSpPr>
          <p:cNvPr id="96" name="Text 94"/>
          <p:cNvSpPr/>
          <p:nvPr/>
        </p:nvSpPr>
        <p:spPr>
          <a:xfrm>
            <a:off x="7826722" y="1763911"/>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97" name="Text 95"/>
          <p:cNvSpPr/>
          <p:nvPr/>
        </p:nvSpPr>
        <p:spPr>
          <a:xfrm>
            <a:off x="7886998" y="1798737"/>
            <a:ext cx="85800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Verified</a:t>
            </a:r>
            <a:endParaRPr lang="en-US" sz="700" dirty="0"/>
          </a:p>
        </p:txBody>
      </p:sp>
      <p:sp>
        <p:nvSpPr>
          <p:cNvPr id="98" name="Text 96"/>
          <p:cNvSpPr/>
          <p:nvPr/>
        </p:nvSpPr>
        <p:spPr>
          <a:xfrm>
            <a:off x="5062240" y="1954113"/>
            <a:ext cx="1802755" cy="164902"/>
          </a:xfrm>
          <a:prstGeom prst="rect">
            <a:avLst/>
          </a:prstGeom>
          <a:noFill/>
          <a:ln w="9525">
            <a:solidFill>
              <a:srgbClr val="DDDDDD"/>
            </a:solidFill>
          </a:ln>
        </p:spPr>
        <p:txBody>
          <a:bodyPr wrap="square" rtlCol="0" anchor="ctr"/>
          <a:lstStyle/>
          <a:p>
            <a:pPr marL="0" indent="0">
              <a:buNone/>
            </a:pPr>
            <a:endParaRPr lang="en-US" dirty="0"/>
          </a:p>
        </p:txBody>
      </p:sp>
      <p:sp>
        <p:nvSpPr>
          <p:cNvPr id="99" name="Text 97"/>
          <p:cNvSpPr/>
          <p:nvPr/>
        </p:nvSpPr>
        <p:spPr>
          <a:xfrm>
            <a:off x="5122515" y="1988939"/>
            <a:ext cx="171584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SHAP axioms</a:t>
            </a:r>
            <a:endParaRPr lang="en-US" sz="700" dirty="0"/>
          </a:p>
        </p:txBody>
      </p:sp>
      <p:sp>
        <p:nvSpPr>
          <p:cNvPr id="100" name="Text 98"/>
          <p:cNvSpPr/>
          <p:nvPr/>
        </p:nvSpPr>
        <p:spPr>
          <a:xfrm>
            <a:off x="6864995" y="1954113"/>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101" name="Text 99"/>
          <p:cNvSpPr/>
          <p:nvPr/>
        </p:nvSpPr>
        <p:spPr>
          <a:xfrm>
            <a:off x="6925270" y="1988939"/>
            <a:ext cx="858000"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Lundberg 17</a:t>
            </a:r>
            <a:endParaRPr lang="en-US" sz="700" dirty="0"/>
          </a:p>
        </p:txBody>
      </p:sp>
      <p:sp>
        <p:nvSpPr>
          <p:cNvPr id="102" name="Text 100"/>
          <p:cNvSpPr/>
          <p:nvPr/>
        </p:nvSpPr>
        <p:spPr>
          <a:xfrm>
            <a:off x="7826722" y="1954113"/>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103" name="Text 101"/>
          <p:cNvSpPr/>
          <p:nvPr/>
        </p:nvSpPr>
        <p:spPr>
          <a:xfrm>
            <a:off x="7886998" y="1988939"/>
            <a:ext cx="85800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Verified</a:t>
            </a:r>
            <a:endParaRPr lang="en-US" sz="700" dirty="0"/>
          </a:p>
        </p:txBody>
      </p:sp>
      <p:sp>
        <p:nvSpPr>
          <p:cNvPr id="104" name="Text 102"/>
          <p:cNvSpPr/>
          <p:nvPr/>
        </p:nvSpPr>
        <p:spPr>
          <a:xfrm>
            <a:off x="5062240" y="2144316"/>
            <a:ext cx="1802755" cy="164902"/>
          </a:xfrm>
          <a:prstGeom prst="rect">
            <a:avLst/>
          </a:prstGeom>
          <a:noFill/>
          <a:ln w="9525">
            <a:solidFill>
              <a:srgbClr val="DDDDDD"/>
            </a:solidFill>
          </a:ln>
        </p:spPr>
        <p:txBody>
          <a:bodyPr wrap="square" rtlCol="0" anchor="ctr"/>
          <a:lstStyle/>
          <a:p>
            <a:pPr marL="0" indent="0">
              <a:buNone/>
            </a:pPr>
            <a:endParaRPr lang="en-US" dirty="0"/>
          </a:p>
        </p:txBody>
      </p:sp>
      <p:sp>
        <p:nvSpPr>
          <p:cNvPr id="105" name="Text 103"/>
          <p:cNvSpPr/>
          <p:nvPr/>
        </p:nvSpPr>
        <p:spPr>
          <a:xfrm>
            <a:off x="5122515" y="2179141"/>
            <a:ext cx="171584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Learned features &gt; raw</a:t>
            </a:r>
            <a:endParaRPr lang="en-US" sz="700" dirty="0"/>
          </a:p>
        </p:txBody>
      </p:sp>
      <p:sp>
        <p:nvSpPr>
          <p:cNvPr id="106" name="Text 104"/>
          <p:cNvSpPr/>
          <p:nvPr/>
        </p:nvSpPr>
        <p:spPr>
          <a:xfrm>
            <a:off x="6864995" y="2144316"/>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107" name="Text 105"/>
          <p:cNvSpPr/>
          <p:nvPr/>
        </p:nvSpPr>
        <p:spPr>
          <a:xfrm>
            <a:off x="6925270" y="2179141"/>
            <a:ext cx="858000"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Kwon 17</a:t>
            </a:r>
            <a:endParaRPr lang="en-US" sz="700" dirty="0"/>
          </a:p>
        </p:txBody>
      </p:sp>
      <p:sp>
        <p:nvSpPr>
          <p:cNvPr id="108" name="Text 106"/>
          <p:cNvSpPr/>
          <p:nvPr/>
        </p:nvSpPr>
        <p:spPr>
          <a:xfrm>
            <a:off x="7826722" y="2144316"/>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109" name="Text 107"/>
          <p:cNvSpPr/>
          <p:nvPr/>
        </p:nvSpPr>
        <p:spPr>
          <a:xfrm>
            <a:off x="7886998" y="2179141"/>
            <a:ext cx="85800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Verified</a:t>
            </a:r>
            <a:endParaRPr lang="en-US" sz="700" dirty="0"/>
          </a:p>
        </p:txBody>
      </p:sp>
      <p:sp>
        <p:nvSpPr>
          <p:cNvPr id="110" name="Text 108"/>
          <p:cNvSpPr/>
          <p:nvPr/>
        </p:nvSpPr>
        <p:spPr>
          <a:xfrm>
            <a:off x="5062240" y="2334518"/>
            <a:ext cx="1802755" cy="164902"/>
          </a:xfrm>
          <a:prstGeom prst="rect">
            <a:avLst/>
          </a:prstGeom>
          <a:noFill/>
          <a:ln w="9525">
            <a:solidFill>
              <a:srgbClr val="DDDDDD"/>
            </a:solidFill>
          </a:ln>
        </p:spPr>
        <p:txBody>
          <a:bodyPr wrap="square" rtlCol="0" anchor="ctr"/>
          <a:lstStyle/>
          <a:p>
            <a:pPr marL="0" indent="0">
              <a:buNone/>
            </a:pPr>
            <a:endParaRPr lang="en-US" dirty="0"/>
          </a:p>
        </p:txBody>
      </p:sp>
      <p:sp>
        <p:nvSpPr>
          <p:cNvPr id="111" name="Text 109"/>
          <p:cNvSpPr/>
          <p:nvPr/>
        </p:nvSpPr>
        <p:spPr>
          <a:xfrm>
            <a:off x="5122515" y="2369344"/>
            <a:ext cx="171584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Hierarchical cost reduction</a:t>
            </a:r>
            <a:endParaRPr lang="en-US" sz="700" dirty="0"/>
          </a:p>
        </p:txBody>
      </p:sp>
      <p:sp>
        <p:nvSpPr>
          <p:cNvPr id="112" name="Text 110"/>
          <p:cNvSpPr/>
          <p:nvPr/>
        </p:nvSpPr>
        <p:spPr>
          <a:xfrm>
            <a:off x="6864995" y="2334518"/>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113" name="Text 111"/>
          <p:cNvSpPr/>
          <p:nvPr/>
        </p:nvSpPr>
        <p:spPr>
          <a:xfrm>
            <a:off x="6925270" y="2369344"/>
            <a:ext cx="858000"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Derivation</a:t>
            </a:r>
            <a:endParaRPr lang="en-US" sz="700" dirty="0"/>
          </a:p>
        </p:txBody>
      </p:sp>
      <p:sp>
        <p:nvSpPr>
          <p:cNvPr id="114" name="Text 112"/>
          <p:cNvSpPr/>
          <p:nvPr/>
        </p:nvSpPr>
        <p:spPr>
          <a:xfrm>
            <a:off x="7826722" y="2334518"/>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115" name="Text 113"/>
          <p:cNvSpPr/>
          <p:nvPr/>
        </p:nvSpPr>
        <p:spPr>
          <a:xfrm>
            <a:off x="7886998" y="2369344"/>
            <a:ext cx="85800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Verified</a:t>
            </a:r>
            <a:endParaRPr lang="en-US" sz="700" dirty="0"/>
          </a:p>
        </p:txBody>
      </p:sp>
      <p:sp>
        <p:nvSpPr>
          <p:cNvPr id="116" name="Text 114"/>
          <p:cNvSpPr/>
          <p:nvPr/>
        </p:nvSpPr>
        <p:spPr>
          <a:xfrm>
            <a:off x="5062240" y="2524720"/>
            <a:ext cx="1802755" cy="164902"/>
          </a:xfrm>
          <a:prstGeom prst="rect">
            <a:avLst/>
          </a:prstGeom>
          <a:noFill/>
          <a:ln w="9525">
            <a:solidFill>
              <a:srgbClr val="DDDDDD"/>
            </a:solidFill>
          </a:ln>
        </p:spPr>
        <p:txBody>
          <a:bodyPr wrap="square" rtlCol="0" anchor="ctr"/>
          <a:lstStyle/>
          <a:p>
            <a:pPr marL="0" indent="0">
              <a:buNone/>
            </a:pPr>
            <a:endParaRPr lang="en-US" dirty="0"/>
          </a:p>
        </p:txBody>
      </p:sp>
      <p:sp>
        <p:nvSpPr>
          <p:cNvPr id="117" name="Text 115"/>
          <p:cNvSpPr/>
          <p:nvPr/>
        </p:nvSpPr>
        <p:spPr>
          <a:xfrm>
            <a:off x="5122515" y="2559546"/>
            <a:ext cx="171584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Cross-domain limited</a:t>
            </a:r>
            <a:endParaRPr lang="en-US" sz="700" dirty="0"/>
          </a:p>
        </p:txBody>
      </p:sp>
      <p:sp>
        <p:nvSpPr>
          <p:cNvPr id="118" name="Text 116"/>
          <p:cNvSpPr/>
          <p:nvPr/>
        </p:nvSpPr>
        <p:spPr>
          <a:xfrm>
            <a:off x="6864995" y="2524720"/>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119" name="Text 117"/>
          <p:cNvSpPr/>
          <p:nvPr/>
        </p:nvSpPr>
        <p:spPr>
          <a:xfrm>
            <a:off x="6925270" y="2559546"/>
            <a:ext cx="858000"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Ben-David</a:t>
            </a:r>
            <a:endParaRPr lang="en-US" sz="700" dirty="0"/>
          </a:p>
        </p:txBody>
      </p:sp>
      <p:sp>
        <p:nvSpPr>
          <p:cNvPr id="120" name="Text 118"/>
          <p:cNvSpPr/>
          <p:nvPr/>
        </p:nvSpPr>
        <p:spPr>
          <a:xfrm>
            <a:off x="7826722" y="2524720"/>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121" name="Text 119"/>
          <p:cNvSpPr/>
          <p:nvPr/>
        </p:nvSpPr>
        <p:spPr>
          <a:xfrm>
            <a:off x="7886998" y="2559546"/>
            <a:ext cx="85800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Verified</a:t>
            </a:r>
            <a:endParaRPr lang="en-US" sz="700" dirty="0"/>
          </a:p>
        </p:txBody>
      </p:sp>
      <p:sp>
        <p:nvSpPr>
          <p:cNvPr id="122" name="Text 120"/>
          <p:cNvSpPr/>
          <p:nvPr/>
        </p:nvSpPr>
        <p:spPr>
          <a:xfrm>
            <a:off x="5062240" y="2714923"/>
            <a:ext cx="1802755" cy="164902"/>
          </a:xfrm>
          <a:prstGeom prst="rect">
            <a:avLst/>
          </a:prstGeom>
          <a:noFill/>
          <a:ln w="9525">
            <a:solidFill>
              <a:srgbClr val="DDDDDD"/>
            </a:solidFill>
          </a:ln>
        </p:spPr>
        <p:txBody>
          <a:bodyPr wrap="square" rtlCol="0" anchor="ctr"/>
          <a:lstStyle/>
          <a:p>
            <a:pPr marL="0" indent="0">
              <a:buNone/>
            </a:pPr>
            <a:endParaRPr lang="en-US" dirty="0"/>
          </a:p>
        </p:txBody>
      </p:sp>
      <p:sp>
        <p:nvSpPr>
          <p:cNvPr id="123" name="Text 121"/>
          <p:cNvSpPr/>
          <p:nvPr/>
        </p:nvSpPr>
        <p:spPr>
          <a:xfrm>
            <a:off x="5122515" y="2749748"/>
            <a:ext cx="171584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CI Width prop n^(-1/2)</a:t>
            </a:r>
            <a:endParaRPr lang="en-US" sz="700" dirty="0"/>
          </a:p>
        </p:txBody>
      </p:sp>
      <p:sp>
        <p:nvSpPr>
          <p:cNvPr id="124" name="Text 122"/>
          <p:cNvSpPr/>
          <p:nvPr/>
        </p:nvSpPr>
        <p:spPr>
          <a:xfrm>
            <a:off x="6864995" y="2714923"/>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125" name="Text 123"/>
          <p:cNvSpPr/>
          <p:nvPr/>
        </p:nvSpPr>
        <p:spPr>
          <a:xfrm>
            <a:off x="6925270" y="2749748"/>
            <a:ext cx="858000"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Efron 79</a:t>
            </a:r>
            <a:endParaRPr lang="en-US" sz="700" dirty="0"/>
          </a:p>
        </p:txBody>
      </p:sp>
      <p:sp>
        <p:nvSpPr>
          <p:cNvPr id="126" name="Text 124"/>
          <p:cNvSpPr/>
          <p:nvPr/>
        </p:nvSpPr>
        <p:spPr>
          <a:xfrm>
            <a:off x="7826722" y="2714923"/>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127" name="Text 125"/>
          <p:cNvSpPr/>
          <p:nvPr/>
        </p:nvSpPr>
        <p:spPr>
          <a:xfrm>
            <a:off x="7886998" y="2749748"/>
            <a:ext cx="85800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Verified</a:t>
            </a:r>
            <a:endParaRPr lang="en-US" sz="700" dirty="0"/>
          </a:p>
        </p:txBody>
      </p:sp>
      <p:sp>
        <p:nvSpPr>
          <p:cNvPr id="128" name="Text 126"/>
          <p:cNvSpPr/>
          <p:nvPr/>
        </p:nvSpPr>
        <p:spPr>
          <a:xfrm>
            <a:off x="5062240" y="2905125"/>
            <a:ext cx="1802755" cy="164902"/>
          </a:xfrm>
          <a:prstGeom prst="rect">
            <a:avLst/>
          </a:prstGeom>
          <a:noFill/>
          <a:ln w="9525">
            <a:solidFill>
              <a:srgbClr val="DDDDDD"/>
            </a:solidFill>
          </a:ln>
        </p:spPr>
        <p:txBody>
          <a:bodyPr wrap="square" rtlCol="0" anchor="ctr"/>
          <a:lstStyle/>
          <a:p>
            <a:pPr marL="0" indent="0">
              <a:buNone/>
            </a:pPr>
            <a:endParaRPr lang="en-US" dirty="0"/>
          </a:p>
        </p:txBody>
      </p:sp>
      <p:sp>
        <p:nvSpPr>
          <p:cNvPr id="129" name="Text 127"/>
          <p:cNvSpPr/>
          <p:nvPr/>
        </p:nvSpPr>
        <p:spPr>
          <a:xfrm>
            <a:off x="5122515" y="2939951"/>
            <a:ext cx="1715848"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M-F1 CI by minority</a:t>
            </a:r>
            <a:endParaRPr lang="en-US" sz="700" dirty="0"/>
          </a:p>
        </p:txBody>
      </p:sp>
      <p:sp>
        <p:nvSpPr>
          <p:cNvPr id="130" name="Text 128"/>
          <p:cNvSpPr/>
          <p:nvPr/>
        </p:nvSpPr>
        <p:spPr>
          <a:xfrm>
            <a:off x="6864995" y="2905125"/>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131" name="Text 129"/>
          <p:cNvSpPr/>
          <p:nvPr/>
        </p:nvSpPr>
        <p:spPr>
          <a:xfrm>
            <a:off x="6925270" y="2939951"/>
            <a:ext cx="858000" cy="95250"/>
          </a:xfrm>
          <a:prstGeom prst="rect">
            <a:avLst/>
          </a:prstGeom>
          <a:noFill/>
          <a:ln/>
        </p:spPr>
        <p:txBody>
          <a:bodyPr wrap="square" lIns="0" tIns="0" rIns="0" bIns="0" rtlCol="0" anchor="t"/>
          <a:lstStyle/>
          <a:p>
            <a:pPr marL="0" indent="0" algn="l">
              <a:buNone/>
            </a:pPr>
            <a:r>
              <a:rPr lang="en-US" sz="700" dirty="0">
                <a:solidFill>
                  <a:srgbClr val="333333"/>
                </a:solidFill>
                <a:latin typeface="Arial" pitchFamily="34" charset="0"/>
                <a:ea typeface="Arial" pitchFamily="34" charset="-122"/>
                <a:cs typeface="Arial" pitchFamily="34" charset="-120"/>
              </a:rPr>
              <a:t>Var 1/nk</a:t>
            </a:r>
            <a:endParaRPr lang="en-US" sz="700" dirty="0"/>
          </a:p>
        </p:txBody>
      </p:sp>
      <p:sp>
        <p:nvSpPr>
          <p:cNvPr id="132" name="Text 130"/>
          <p:cNvSpPr/>
          <p:nvPr/>
        </p:nvSpPr>
        <p:spPr>
          <a:xfrm>
            <a:off x="7826722" y="2905125"/>
            <a:ext cx="961727" cy="164902"/>
          </a:xfrm>
          <a:prstGeom prst="rect">
            <a:avLst/>
          </a:prstGeom>
          <a:noFill/>
          <a:ln w="9525">
            <a:solidFill>
              <a:srgbClr val="DDDDDD"/>
            </a:solidFill>
          </a:ln>
        </p:spPr>
        <p:txBody>
          <a:bodyPr wrap="square" rtlCol="0" anchor="ctr"/>
          <a:lstStyle/>
          <a:p>
            <a:pPr marL="0" indent="0">
              <a:buNone/>
            </a:pPr>
            <a:endParaRPr lang="en-US" dirty="0"/>
          </a:p>
        </p:txBody>
      </p:sp>
      <p:sp>
        <p:nvSpPr>
          <p:cNvPr id="133" name="Text 131"/>
          <p:cNvSpPr/>
          <p:nvPr/>
        </p:nvSpPr>
        <p:spPr>
          <a:xfrm>
            <a:off x="7886998" y="2939951"/>
            <a:ext cx="858000" cy="95250"/>
          </a:xfrm>
          <a:prstGeom prst="rect">
            <a:avLst/>
          </a:prstGeom>
          <a:noFill/>
          <a:ln/>
        </p:spPr>
        <p:txBody>
          <a:bodyPr wrap="square" lIns="0" tIns="0" rIns="0" bIns="0" rtlCol="0" anchor="t"/>
          <a:lstStyle/>
          <a:p>
            <a:pPr marL="0" indent="0" algn="l">
              <a:buNone/>
            </a:pPr>
            <a:r>
              <a:rPr lang="en-US" sz="700" b="1" dirty="0">
                <a:solidFill>
                  <a:srgbClr val="2E7D32"/>
                </a:solidFill>
                <a:latin typeface="Arial" pitchFamily="34" charset="0"/>
                <a:ea typeface="Arial" pitchFamily="34" charset="-122"/>
                <a:cs typeface="Arial" pitchFamily="34" charset="-120"/>
              </a:rPr>
              <a:t>Verified</a:t>
            </a:r>
            <a:endParaRPr lang="en-US" sz="700" dirty="0"/>
          </a:p>
        </p:txBody>
      </p:sp>
      <p:sp>
        <p:nvSpPr>
          <p:cNvPr id="134" name="Text 132"/>
          <p:cNvSpPr/>
          <p:nvPr/>
        </p:nvSpPr>
        <p:spPr>
          <a:xfrm>
            <a:off x="0" y="4946749"/>
            <a:ext cx="9144000" cy="196751"/>
          </a:xfrm>
          <a:prstGeom prst="rect">
            <a:avLst/>
          </a:prstGeom>
          <a:solidFill>
            <a:srgbClr val="F0F2F5"/>
          </a:solidFill>
          <a:ln/>
        </p:spPr>
        <p:txBody>
          <a:bodyPr wrap="square" rtlCol="0" anchor="ctr"/>
          <a:lstStyle/>
          <a:p>
            <a:pPr marL="0" indent="0">
              <a:buNone/>
            </a:pPr>
            <a:endParaRPr lang="en-US" dirty="0"/>
          </a:p>
        </p:txBody>
      </p:sp>
      <p:sp>
        <p:nvSpPr>
          <p:cNvPr id="135" name="Text 133"/>
          <p:cNvSpPr/>
          <p:nvPr/>
        </p:nvSpPr>
        <p:spPr>
          <a:xfrm>
            <a:off x="355550" y="4997500"/>
            <a:ext cx="8601557" cy="95250"/>
          </a:xfrm>
          <a:prstGeom prst="rect">
            <a:avLst/>
          </a:prstGeom>
          <a:noFill/>
          <a:ln/>
        </p:spPr>
        <p:txBody>
          <a:bodyPr wrap="square" lIns="0" tIns="0" rIns="0" bIns="0" rtlCol="0" anchor="t"/>
          <a:lstStyle/>
          <a:p>
            <a:pPr marL="0" indent="0" algn="l">
              <a:buNone/>
            </a:pPr>
            <a:r>
              <a:rPr lang="en-US" sz="700" dirty="0">
                <a:solidFill>
                  <a:srgbClr val="888888"/>
                </a:solidFill>
                <a:latin typeface="Arial" pitchFamily="34" charset="0"/>
                <a:ea typeface="Arial" pitchFamily="34" charset="-122"/>
                <a:cs typeface="Arial" pitchFamily="34" charset="-120"/>
              </a:rPr>
              <a:t>Breiman, L. (2001). Machine Learning. | Madry, A., et al. (2018). ICLR. | Lundberg, S. M., &amp; Lee, S. I. (2017). NeurIPS.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3C71"/>
        </a:solidFill>
        <a:effectLst/>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E75113"/>
          </a:solidFill>
          <a:ln/>
        </p:spPr>
        <p:txBody>
          <a:bodyPr wrap="square" rtlCol="0" anchor="ctr"/>
          <a:lstStyle/>
          <a:p>
            <a:pPr marL="0" indent="0">
              <a:buNone/>
            </a:pPr>
            <a:endParaRPr lang="en-US" dirty="0"/>
          </a:p>
        </p:txBody>
      </p:sp>
      <p:sp>
        <p:nvSpPr>
          <p:cNvPr id="3" name="Text 1"/>
          <p:cNvSpPr/>
          <p:nvPr/>
        </p:nvSpPr>
        <p:spPr>
          <a:xfrm>
            <a:off x="0" y="0"/>
            <a:ext cx="2539901" cy="1269950"/>
          </a:xfrm>
          <a:prstGeom prst="rect">
            <a:avLst/>
          </a:prstGeom>
          <a:solidFill>
            <a:srgbClr val="E75113">
              <a:alpha val="12000"/>
            </a:srgbClr>
          </a:solidFill>
          <a:ln/>
        </p:spPr>
        <p:txBody>
          <a:bodyPr wrap="square" rtlCol="0" anchor="ctr"/>
          <a:lstStyle/>
          <a:p>
            <a:pPr marL="0" indent="0">
              <a:buNone/>
            </a:pPr>
            <a:endParaRPr lang="en-US" dirty="0"/>
          </a:p>
        </p:txBody>
      </p:sp>
      <p:sp>
        <p:nvSpPr>
          <p:cNvPr id="4" name="Text 2"/>
          <p:cNvSpPr/>
          <p:nvPr/>
        </p:nvSpPr>
        <p:spPr>
          <a:xfrm>
            <a:off x="381000" y="228600"/>
            <a:ext cx="8549640" cy="323850"/>
          </a:xfrm>
          <a:prstGeom prst="rect">
            <a:avLst/>
          </a:prstGeom>
          <a:noFill/>
          <a:ln/>
        </p:spPr>
        <p:txBody>
          <a:bodyPr wrap="square" lIns="0" tIns="0" rIns="0" bIns="0" rtlCol="0" anchor="t"/>
          <a:lstStyle/>
          <a:p>
            <a:pPr marL="0" indent="0" algn="l">
              <a:spcAft>
                <a:spcPts val="400"/>
              </a:spcAft>
              <a:buNone/>
            </a:pPr>
            <a:r>
              <a:rPr lang="en-US" sz="2200" b="1" dirty="0">
                <a:solidFill>
                  <a:srgbClr val="FFFFFF"/>
                </a:solidFill>
                <a:latin typeface="Arial" pitchFamily="34" charset="0"/>
                <a:ea typeface="Arial" pitchFamily="34" charset="-122"/>
                <a:cs typeface="Arial" pitchFamily="34" charset="-120"/>
              </a:rPr>
              <a:t>Conclusion and Future Directions</a:t>
            </a:r>
            <a:endParaRPr lang="en-US" sz="2200" dirty="0"/>
          </a:p>
        </p:txBody>
      </p:sp>
      <p:sp>
        <p:nvSpPr>
          <p:cNvPr id="5" name="Text 3"/>
          <p:cNvSpPr/>
          <p:nvPr/>
        </p:nvSpPr>
        <p:spPr>
          <a:xfrm>
            <a:off x="381000" y="603200"/>
            <a:ext cx="762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381000" y="844302"/>
            <a:ext cx="4171137" cy="171450"/>
          </a:xfrm>
          <a:prstGeom prst="rect">
            <a:avLst/>
          </a:prstGeom>
          <a:noFill/>
          <a:ln/>
        </p:spPr>
        <p:txBody>
          <a:bodyPr wrap="square" lIns="0" tIns="0" rIns="0" bIns="0" rtlCol="0" anchor="t"/>
          <a:lstStyle/>
          <a:p>
            <a:pPr marL="0" indent="0" algn="l">
              <a:spcAft>
                <a:spcPts val="400"/>
              </a:spcAft>
              <a:buNone/>
            </a:pPr>
            <a:r>
              <a:rPr lang="en-US" sz="1200" b="1" dirty="0">
                <a:solidFill>
                  <a:srgbClr val="F09860"/>
                </a:solidFill>
                <a:latin typeface="Arial" pitchFamily="34" charset="0"/>
                <a:ea typeface="Arial" pitchFamily="34" charset="-122"/>
                <a:cs typeface="Arial" pitchFamily="34" charset="-120"/>
              </a:rPr>
              <a:t>Key Contributions</a:t>
            </a:r>
            <a:endParaRPr lang="en-US" sz="1200" dirty="0"/>
          </a:p>
        </p:txBody>
      </p:sp>
      <p:sp>
        <p:nvSpPr>
          <p:cNvPr id="7" name="Text 5"/>
          <p:cNvSpPr/>
          <p:nvPr/>
        </p:nvSpPr>
        <p:spPr>
          <a:xfrm>
            <a:off x="381000" y="1168003"/>
            <a:ext cx="4089350" cy="602456"/>
          </a:xfrm>
          <a:prstGeom prst="roundRect">
            <a:avLst>
              <a:gd name="adj" fmla="val 6324"/>
            </a:avLst>
          </a:prstGeom>
          <a:solidFill>
            <a:srgbClr val="FFFFFF">
              <a:alpha val="6000"/>
            </a:srgbClr>
          </a:solidFill>
          <a:ln/>
        </p:spPr>
        <p:txBody>
          <a:bodyPr wrap="square" rtlCol="0" anchor="ctr"/>
          <a:lstStyle/>
          <a:p>
            <a:pPr marL="0" indent="0">
              <a:buNone/>
            </a:pPr>
            <a:endParaRPr lang="en-US" dirty="0"/>
          </a:p>
        </p:txBody>
      </p:sp>
      <p:sp>
        <p:nvSpPr>
          <p:cNvPr id="8" name="Shape 6"/>
          <p:cNvSpPr/>
          <p:nvPr/>
        </p:nvSpPr>
        <p:spPr>
          <a:xfrm>
            <a:off x="400050" y="1168003"/>
            <a:ext cx="0" cy="602456"/>
          </a:xfrm>
          <a:prstGeom prst="line">
            <a:avLst/>
          </a:prstGeom>
          <a:noFill/>
          <a:ln w="38100">
            <a:solidFill>
              <a:srgbClr val="E75113"/>
            </a:solidFill>
            <a:prstDash val="solid"/>
          </a:ln>
        </p:spPr>
      </p:sp>
      <p:sp>
        <p:nvSpPr>
          <p:cNvPr id="9" name="Text 7"/>
          <p:cNvSpPr/>
          <p:nvPr/>
        </p:nvSpPr>
        <p:spPr>
          <a:xfrm>
            <a:off x="546050" y="1256854"/>
            <a:ext cx="3873297" cy="142875"/>
          </a:xfrm>
          <a:prstGeom prst="rect">
            <a:avLst/>
          </a:prstGeom>
          <a:noFill/>
          <a:ln/>
        </p:spPr>
        <p:txBody>
          <a:bodyPr wrap="square" lIns="0" tIns="0" rIns="0" bIns="0" rtlCol="0" anchor="t"/>
          <a:lstStyle/>
          <a:p>
            <a:pPr marL="0" indent="0" algn="l">
              <a:spcAft>
                <a:spcPts val="300"/>
              </a:spcAft>
              <a:buNone/>
            </a:pPr>
            <a:r>
              <a:rPr lang="en-US" sz="1000" b="1" dirty="0">
                <a:solidFill>
                  <a:srgbClr val="FFFFFF"/>
                </a:solidFill>
                <a:latin typeface="Arial" pitchFamily="34" charset="0"/>
                <a:ea typeface="Arial" pitchFamily="34" charset="-122"/>
                <a:cs typeface="Arial" pitchFamily="34" charset="-120"/>
              </a:rPr>
              <a:t>CIC-IDS2017 Dataset</a:t>
            </a:r>
            <a:endParaRPr lang="en-US" sz="1000" dirty="0"/>
          </a:p>
        </p:txBody>
      </p:sp>
      <p:sp>
        <p:nvSpPr>
          <p:cNvPr id="10" name="Text 8"/>
          <p:cNvSpPr/>
          <p:nvPr/>
        </p:nvSpPr>
        <p:spPr>
          <a:xfrm>
            <a:off x="546050" y="1437829"/>
            <a:ext cx="3873297" cy="243780"/>
          </a:xfrm>
          <a:prstGeom prst="rect">
            <a:avLst/>
          </a:prstGeom>
          <a:noFill/>
          <a:ln/>
        </p:spPr>
        <p:txBody>
          <a:bodyPr wrap="square" lIns="0" tIns="0" rIns="0" bIns="0" rtlCol="0" anchor="t"/>
          <a:lstStyle/>
          <a:p>
            <a:pPr marL="0" indent="0" algn="l">
              <a:lnSpc>
                <a:spcPts val="960"/>
              </a:lnSpc>
              <a:buNone/>
            </a:pPr>
            <a:r>
              <a:rPr lang="en-US" sz="800" dirty="0">
                <a:solidFill>
                  <a:srgbClr val="A8C4DF"/>
                </a:solidFill>
                <a:latin typeface="Arial" pitchFamily="34" charset="0"/>
                <a:ea typeface="Arial" pitchFamily="34" charset="-122"/>
                <a:cs typeface="Arial" pitchFamily="34" charset="-120"/>
              </a:rPr>
              <a:t>A reliable, labeled, publicly available IDS dataset with 7 attack families, 80 features — the modern foundation for IDS research.</a:t>
            </a:r>
            <a:endParaRPr lang="en-US" sz="800" dirty="0"/>
          </a:p>
        </p:txBody>
      </p:sp>
      <p:sp>
        <p:nvSpPr>
          <p:cNvPr id="11" name="Text 9"/>
          <p:cNvSpPr/>
          <p:nvPr/>
        </p:nvSpPr>
        <p:spPr>
          <a:xfrm>
            <a:off x="381000" y="1871960"/>
            <a:ext cx="4089350" cy="602456"/>
          </a:xfrm>
          <a:prstGeom prst="roundRect">
            <a:avLst>
              <a:gd name="adj" fmla="val 6324"/>
            </a:avLst>
          </a:prstGeom>
          <a:solidFill>
            <a:srgbClr val="FFFFFF">
              <a:alpha val="6000"/>
            </a:srgbClr>
          </a:solidFill>
          <a:ln/>
        </p:spPr>
        <p:txBody>
          <a:bodyPr wrap="square" rtlCol="0" anchor="ctr"/>
          <a:lstStyle/>
          <a:p>
            <a:pPr marL="0" indent="0">
              <a:buNone/>
            </a:pPr>
            <a:endParaRPr lang="en-US" dirty="0"/>
          </a:p>
        </p:txBody>
      </p:sp>
      <p:sp>
        <p:nvSpPr>
          <p:cNvPr id="12" name="Shape 10"/>
          <p:cNvSpPr/>
          <p:nvPr/>
        </p:nvSpPr>
        <p:spPr>
          <a:xfrm>
            <a:off x="400050" y="1871960"/>
            <a:ext cx="0" cy="602456"/>
          </a:xfrm>
          <a:prstGeom prst="line">
            <a:avLst/>
          </a:prstGeom>
          <a:noFill/>
          <a:ln w="38100">
            <a:solidFill>
              <a:srgbClr val="E75113"/>
            </a:solidFill>
            <a:prstDash val="solid"/>
          </a:ln>
        </p:spPr>
      </p:sp>
      <p:sp>
        <p:nvSpPr>
          <p:cNvPr id="13" name="Text 11"/>
          <p:cNvSpPr/>
          <p:nvPr/>
        </p:nvSpPr>
        <p:spPr>
          <a:xfrm>
            <a:off x="546050" y="1960811"/>
            <a:ext cx="3873297" cy="142875"/>
          </a:xfrm>
          <a:prstGeom prst="rect">
            <a:avLst/>
          </a:prstGeom>
          <a:noFill/>
          <a:ln/>
        </p:spPr>
        <p:txBody>
          <a:bodyPr wrap="square" lIns="0" tIns="0" rIns="0" bIns="0" rtlCol="0" anchor="t"/>
          <a:lstStyle/>
          <a:p>
            <a:pPr marL="0" indent="0" algn="l">
              <a:spcAft>
                <a:spcPts val="300"/>
              </a:spcAft>
              <a:buNone/>
            </a:pPr>
            <a:r>
              <a:rPr lang="en-US" sz="1000" b="1" dirty="0">
                <a:solidFill>
                  <a:srgbClr val="FFFFFF"/>
                </a:solidFill>
                <a:latin typeface="Arial" pitchFamily="34" charset="0"/>
                <a:ea typeface="Arial" pitchFamily="34" charset="-122"/>
                <a:cs typeface="Arial" pitchFamily="34" charset="-120"/>
              </a:rPr>
              <a:t>Hierarchical RF to TransECA-Net</a:t>
            </a:r>
            <a:endParaRPr lang="en-US" sz="1000" dirty="0"/>
          </a:p>
        </p:txBody>
      </p:sp>
      <p:sp>
        <p:nvSpPr>
          <p:cNvPr id="14" name="Text 12"/>
          <p:cNvSpPr/>
          <p:nvPr/>
        </p:nvSpPr>
        <p:spPr>
          <a:xfrm>
            <a:off x="546050" y="2141786"/>
            <a:ext cx="3873297" cy="243780"/>
          </a:xfrm>
          <a:prstGeom prst="rect">
            <a:avLst/>
          </a:prstGeom>
          <a:noFill/>
          <a:ln/>
        </p:spPr>
        <p:txBody>
          <a:bodyPr wrap="square" lIns="0" tIns="0" rIns="0" bIns="0" rtlCol="0" anchor="t"/>
          <a:lstStyle/>
          <a:p>
            <a:pPr marL="0" indent="0" algn="l">
              <a:lnSpc>
                <a:spcPts val="960"/>
              </a:lnSpc>
              <a:buNone/>
            </a:pPr>
            <a:r>
              <a:rPr lang="en-US" sz="800" dirty="0">
                <a:solidFill>
                  <a:srgbClr val="A8C4DF"/>
                </a:solidFill>
                <a:latin typeface="Arial" pitchFamily="34" charset="0"/>
                <a:ea typeface="Arial" pitchFamily="34" charset="-122"/>
                <a:cs typeface="Arial" pitchFamily="34" charset="-120"/>
              </a:rPr>
              <a:t>Two-stage architecture: 92.9% Recall, 0.007% FPR, 6.07x speedup. Validated through 13 experiments across 6 dimensions.</a:t>
            </a:r>
            <a:endParaRPr lang="en-US" sz="800" dirty="0"/>
          </a:p>
        </p:txBody>
      </p:sp>
      <p:sp>
        <p:nvSpPr>
          <p:cNvPr id="15" name="Text 13"/>
          <p:cNvSpPr/>
          <p:nvPr/>
        </p:nvSpPr>
        <p:spPr>
          <a:xfrm>
            <a:off x="381000" y="2575917"/>
            <a:ext cx="4089350" cy="602456"/>
          </a:xfrm>
          <a:prstGeom prst="roundRect">
            <a:avLst>
              <a:gd name="adj" fmla="val 6324"/>
            </a:avLst>
          </a:prstGeom>
          <a:solidFill>
            <a:srgbClr val="FFFFFF">
              <a:alpha val="6000"/>
            </a:srgbClr>
          </a:solidFill>
          <a:ln/>
        </p:spPr>
        <p:txBody>
          <a:bodyPr wrap="square" rtlCol="0" anchor="ctr"/>
          <a:lstStyle/>
          <a:p>
            <a:pPr marL="0" indent="0">
              <a:buNone/>
            </a:pPr>
            <a:endParaRPr lang="en-US" dirty="0"/>
          </a:p>
        </p:txBody>
      </p:sp>
      <p:sp>
        <p:nvSpPr>
          <p:cNvPr id="16" name="Shape 14"/>
          <p:cNvSpPr/>
          <p:nvPr/>
        </p:nvSpPr>
        <p:spPr>
          <a:xfrm>
            <a:off x="400050" y="2575917"/>
            <a:ext cx="0" cy="602456"/>
          </a:xfrm>
          <a:prstGeom prst="line">
            <a:avLst/>
          </a:prstGeom>
          <a:noFill/>
          <a:ln w="38100">
            <a:solidFill>
              <a:srgbClr val="E75113"/>
            </a:solidFill>
            <a:prstDash val="solid"/>
          </a:ln>
        </p:spPr>
      </p:sp>
      <p:sp>
        <p:nvSpPr>
          <p:cNvPr id="17" name="Text 15"/>
          <p:cNvSpPr/>
          <p:nvPr/>
        </p:nvSpPr>
        <p:spPr>
          <a:xfrm>
            <a:off x="546050" y="2664768"/>
            <a:ext cx="3873297" cy="142875"/>
          </a:xfrm>
          <a:prstGeom prst="rect">
            <a:avLst/>
          </a:prstGeom>
          <a:noFill/>
          <a:ln/>
        </p:spPr>
        <p:txBody>
          <a:bodyPr wrap="square" lIns="0" tIns="0" rIns="0" bIns="0" rtlCol="0" anchor="t"/>
          <a:lstStyle/>
          <a:p>
            <a:pPr marL="0" indent="0" algn="l">
              <a:spcAft>
                <a:spcPts val="300"/>
              </a:spcAft>
              <a:buNone/>
            </a:pPr>
            <a:r>
              <a:rPr lang="en-US" sz="1000" b="1" dirty="0">
                <a:solidFill>
                  <a:srgbClr val="FFFFFF"/>
                </a:solidFill>
                <a:latin typeface="Arial" pitchFamily="34" charset="0"/>
                <a:ea typeface="Arial" pitchFamily="34" charset="-122"/>
                <a:cs typeface="Arial" pitchFamily="34" charset="-120"/>
              </a:rPr>
              <a:t>Rigorous Validation</a:t>
            </a:r>
            <a:endParaRPr lang="en-US" sz="1000" dirty="0"/>
          </a:p>
        </p:txBody>
      </p:sp>
      <p:sp>
        <p:nvSpPr>
          <p:cNvPr id="18" name="Text 16"/>
          <p:cNvSpPr/>
          <p:nvPr/>
        </p:nvSpPr>
        <p:spPr>
          <a:xfrm>
            <a:off x="546050" y="2845743"/>
            <a:ext cx="3873297" cy="243780"/>
          </a:xfrm>
          <a:prstGeom prst="rect">
            <a:avLst/>
          </a:prstGeom>
          <a:noFill/>
          <a:ln/>
        </p:spPr>
        <p:txBody>
          <a:bodyPr wrap="square" lIns="0" tIns="0" rIns="0" bIns="0" rtlCol="0" anchor="t"/>
          <a:lstStyle/>
          <a:p>
            <a:pPr marL="0" indent="0" algn="l">
              <a:lnSpc>
                <a:spcPts val="960"/>
              </a:lnSpc>
              <a:buNone/>
            </a:pPr>
            <a:r>
              <a:rPr lang="en-US" sz="800" dirty="0">
                <a:solidFill>
                  <a:srgbClr val="A8C4DF"/>
                </a:solidFill>
                <a:latin typeface="Arial" pitchFamily="34" charset="0"/>
                <a:ea typeface="Arial" pitchFamily="34" charset="-122"/>
                <a:cs typeface="Arial" pitchFamily="34" charset="-120"/>
              </a:rPr>
              <a:t>Bootstrap CI, Nested CV, cross-dataset, adversarial attacks, SHAP-IG triangulation — 10/12 theoretical predictions verified.</a:t>
            </a:r>
            <a:endParaRPr lang="en-US" sz="800" dirty="0"/>
          </a:p>
        </p:txBody>
      </p:sp>
      <p:sp>
        <p:nvSpPr>
          <p:cNvPr id="19" name="Text 17"/>
          <p:cNvSpPr/>
          <p:nvPr/>
        </p:nvSpPr>
        <p:spPr>
          <a:xfrm>
            <a:off x="4673501" y="844302"/>
            <a:ext cx="4171289" cy="171450"/>
          </a:xfrm>
          <a:prstGeom prst="rect">
            <a:avLst/>
          </a:prstGeom>
          <a:noFill/>
          <a:ln/>
        </p:spPr>
        <p:txBody>
          <a:bodyPr wrap="square" lIns="0" tIns="0" rIns="0" bIns="0" rtlCol="0" anchor="t"/>
          <a:lstStyle/>
          <a:p>
            <a:pPr marL="0" indent="0" algn="l">
              <a:spcAft>
                <a:spcPts val="400"/>
              </a:spcAft>
              <a:buNone/>
            </a:pPr>
            <a:r>
              <a:rPr lang="en-US" sz="1200" b="1" dirty="0">
                <a:solidFill>
                  <a:srgbClr val="F09860"/>
                </a:solidFill>
                <a:latin typeface="Arial" pitchFamily="34" charset="0"/>
                <a:ea typeface="Arial" pitchFamily="34" charset="-122"/>
                <a:cs typeface="Arial" pitchFamily="34" charset="-120"/>
              </a:rPr>
              <a:t>Future Directions</a:t>
            </a:r>
            <a:endParaRPr lang="en-US" sz="1200" dirty="0"/>
          </a:p>
        </p:txBody>
      </p:sp>
      <p:sp>
        <p:nvSpPr>
          <p:cNvPr id="20" name="Text 18"/>
          <p:cNvSpPr/>
          <p:nvPr/>
        </p:nvSpPr>
        <p:spPr>
          <a:xfrm>
            <a:off x="4673501" y="1168003"/>
            <a:ext cx="4089499" cy="554831"/>
          </a:xfrm>
          <a:prstGeom prst="roundRect">
            <a:avLst>
              <a:gd name="adj" fmla="val 6867"/>
            </a:avLst>
          </a:prstGeom>
          <a:solidFill>
            <a:srgbClr val="E75113">
              <a:alpha val="8000"/>
            </a:srgbClr>
          </a:solidFill>
          <a:ln/>
        </p:spPr>
        <p:txBody>
          <a:bodyPr wrap="square" rtlCol="0" anchor="ctr"/>
          <a:lstStyle/>
          <a:p>
            <a:pPr marL="0" indent="0">
              <a:buNone/>
            </a:pPr>
            <a:endParaRPr lang="en-US" dirty="0"/>
          </a:p>
        </p:txBody>
      </p:sp>
      <p:sp>
        <p:nvSpPr>
          <p:cNvPr id="21" name="Shape 19"/>
          <p:cNvSpPr/>
          <p:nvPr/>
        </p:nvSpPr>
        <p:spPr>
          <a:xfrm>
            <a:off x="4692551" y="1168003"/>
            <a:ext cx="0" cy="554831"/>
          </a:xfrm>
          <a:prstGeom prst="line">
            <a:avLst/>
          </a:prstGeom>
          <a:noFill/>
          <a:ln w="38100">
            <a:solidFill>
              <a:srgbClr val="F09860"/>
            </a:solidFill>
            <a:prstDash val="solid"/>
          </a:ln>
        </p:spPr>
      </p:sp>
      <p:sp>
        <p:nvSpPr>
          <p:cNvPr id="22" name="Text 20"/>
          <p:cNvSpPr/>
          <p:nvPr/>
        </p:nvSpPr>
        <p:spPr>
          <a:xfrm>
            <a:off x="4838551" y="1244203"/>
            <a:ext cx="3873448" cy="133350"/>
          </a:xfrm>
          <a:prstGeom prst="rect">
            <a:avLst/>
          </a:prstGeom>
          <a:noFill/>
          <a:ln/>
        </p:spPr>
        <p:txBody>
          <a:bodyPr wrap="square" lIns="0" tIns="0" rIns="0" bIns="0" rtlCol="0" anchor="t"/>
          <a:lstStyle/>
          <a:p>
            <a:pPr marL="0" indent="0" algn="l">
              <a:spcAft>
                <a:spcPts val="200"/>
              </a:spcAft>
              <a:buNone/>
            </a:pPr>
            <a:r>
              <a:rPr lang="en-US" sz="950" b="1" dirty="0">
                <a:solidFill>
                  <a:srgbClr val="F09860"/>
                </a:solidFill>
                <a:latin typeface="Arial" pitchFamily="34" charset="0"/>
                <a:ea typeface="Arial" pitchFamily="34" charset="-122"/>
                <a:cs typeface="Arial" pitchFamily="34" charset="-120"/>
              </a:rPr>
              <a:t>1. Few-Shot Learning for Rare Attacks</a:t>
            </a:r>
            <a:endParaRPr lang="en-US" sz="950" dirty="0"/>
          </a:p>
        </p:txBody>
      </p:sp>
      <p:sp>
        <p:nvSpPr>
          <p:cNvPr id="23" name="Text 21"/>
          <p:cNvSpPr/>
          <p:nvPr/>
        </p:nvSpPr>
        <p:spPr>
          <a:xfrm>
            <a:off x="4838551" y="1402854"/>
            <a:ext cx="3873448" cy="243780"/>
          </a:xfrm>
          <a:prstGeom prst="rect">
            <a:avLst/>
          </a:prstGeom>
          <a:noFill/>
          <a:ln/>
        </p:spPr>
        <p:txBody>
          <a:bodyPr wrap="square" lIns="0" tIns="0" rIns="0" bIns="0" rtlCol="0" anchor="t"/>
          <a:lstStyle/>
          <a:p>
            <a:pPr marL="0" indent="0" algn="l">
              <a:lnSpc>
                <a:spcPts val="960"/>
              </a:lnSpc>
              <a:buNone/>
            </a:pPr>
            <a:r>
              <a:rPr lang="en-US" sz="800" dirty="0">
                <a:solidFill>
                  <a:srgbClr val="A8C4DF"/>
                </a:solidFill>
                <a:latin typeface="Arial" pitchFamily="34" charset="0"/>
                <a:ea typeface="Arial" pitchFamily="34" charset="-122"/>
                <a:cs typeface="Arial" pitchFamily="34" charset="-120"/>
              </a:rPr>
              <a:t>Address extreme minority classes (Heartbleed n=11) with class-conditional augmentation.</a:t>
            </a:r>
            <a:endParaRPr lang="en-US" sz="800" dirty="0"/>
          </a:p>
        </p:txBody>
      </p:sp>
      <p:sp>
        <p:nvSpPr>
          <p:cNvPr id="24" name="Text 22"/>
          <p:cNvSpPr/>
          <p:nvPr/>
        </p:nvSpPr>
        <p:spPr>
          <a:xfrm>
            <a:off x="4673501" y="1824335"/>
            <a:ext cx="4089499" cy="554831"/>
          </a:xfrm>
          <a:prstGeom prst="roundRect">
            <a:avLst>
              <a:gd name="adj" fmla="val 6867"/>
            </a:avLst>
          </a:prstGeom>
          <a:solidFill>
            <a:srgbClr val="E75113">
              <a:alpha val="8000"/>
            </a:srgbClr>
          </a:solidFill>
          <a:ln/>
        </p:spPr>
        <p:txBody>
          <a:bodyPr wrap="square" rtlCol="0" anchor="ctr"/>
          <a:lstStyle/>
          <a:p>
            <a:pPr marL="0" indent="0">
              <a:buNone/>
            </a:pPr>
            <a:endParaRPr lang="en-US" dirty="0"/>
          </a:p>
        </p:txBody>
      </p:sp>
      <p:sp>
        <p:nvSpPr>
          <p:cNvPr id="25" name="Shape 23"/>
          <p:cNvSpPr/>
          <p:nvPr/>
        </p:nvSpPr>
        <p:spPr>
          <a:xfrm>
            <a:off x="4692551" y="1824335"/>
            <a:ext cx="0" cy="554831"/>
          </a:xfrm>
          <a:prstGeom prst="line">
            <a:avLst/>
          </a:prstGeom>
          <a:noFill/>
          <a:ln w="38100">
            <a:solidFill>
              <a:srgbClr val="F09860"/>
            </a:solidFill>
            <a:prstDash val="solid"/>
          </a:ln>
        </p:spPr>
      </p:sp>
      <p:sp>
        <p:nvSpPr>
          <p:cNvPr id="26" name="Text 24"/>
          <p:cNvSpPr/>
          <p:nvPr/>
        </p:nvSpPr>
        <p:spPr>
          <a:xfrm>
            <a:off x="4838551" y="1900535"/>
            <a:ext cx="3873448" cy="133350"/>
          </a:xfrm>
          <a:prstGeom prst="rect">
            <a:avLst/>
          </a:prstGeom>
          <a:noFill/>
          <a:ln/>
        </p:spPr>
        <p:txBody>
          <a:bodyPr wrap="square" lIns="0" tIns="0" rIns="0" bIns="0" rtlCol="0" anchor="t"/>
          <a:lstStyle/>
          <a:p>
            <a:pPr marL="0" indent="0" algn="l">
              <a:spcAft>
                <a:spcPts val="200"/>
              </a:spcAft>
              <a:buNone/>
            </a:pPr>
            <a:r>
              <a:rPr lang="en-US" sz="950" b="1" dirty="0">
                <a:solidFill>
                  <a:srgbClr val="F09860"/>
                </a:solidFill>
                <a:latin typeface="Arial" pitchFamily="34" charset="0"/>
                <a:ea typeface="Arial" pitchFamily="34" charset="-122"/>
                <a:cs typeface="Arial" pitchFamily="34" charset="-120"/>
              </a:rPr>
              <a:t>2. Adversarial Training</a:t>
            </a:r>
            <a:endParaRPr lang="en-US" sz="950" dirty="0"/>
          </a:p>
        </p:txBody>
      </p:sp>
      <p:sp>
        <p:nvSpPr>
          <p:cNvPr id="27" name="Text 25"/>
          <p:cNvSpPr/>
          <p:nvPr/>
        </p:nvSpPr>
        <p:spPr>
          <a:xfrm>
            <a:off x="4838551" y="2059186"/>
            <a:ext cx="3873448" cy="243780"/>
          </a:xfrm>
          <a:prstGeom prst="rect">
            <a:avLst/>
          </a:prstGeom>
          <a:noFill/>
          <a:ln/>
        </p:spPr>
        <p:txBody>
          <a:bodyPr wrap="square" lIns="0" tIns="0" rIns="0" bIns="0" rtlCol="0" anchor="t"/>
          <a:lstStyle/>
          <a:p>
            <a:pPr marL="0" indent="0" algn="l">
              <a:lnSpc>
                <a:spcPts val="960"/>
              </a:lnSpc>
              <a:buNone/>
            </a:pPr>
            <a:r>
              <a:rPr lang="en-US" sz="800" dirty="0">
                <a:solidFill>
                  <a:srgbClr val="A8C4DF"/>
                </a:solidFill>
                <a:latin typeface="Arial" pitchFamily="34" charset="0"/>
                <a:ea typeface="Arial" pitchFamily="34" charset="-122"/>
                <a:cs typeface="Arial" pitchFamily="34" charset="-120"/>
              </a:rPr>
              <a:t>Harden TransECA-Net against gradient-based attacks within small perturbation ranges.</a:t>
            </a:r>
            <a:endParaRPr lang="en-US" sz="800" dirty="0"/>
          </a:p>
        </p:txBody>
      </p:sp>
      <p:sp>
        <p:nvSpPr>
          <p:cNvPr id="28" name="Text 26"/>
          <p:cNvSpPr/>
          <p:nvPr/>
        </p:nvSpPr>
        <p:spPr>
          <a:xfrm>
            <a:off x="4673501" y="2480667"/>
            <a:ext cx="4089499" cy="554831"/>
          </a:xfrm>
          <a:prstGeom prst="roundRect">
            <a:avLst>
              <a:gd name="adj" fmla="val 6867"/>
            </a:avLst>
          </a:prstGeom>
          <a:solidFill>
            <a:srgbClr val="E75113">
              <a:alpha val="8000"/>
            </a:srgbClr>
          </a:solidFill>
          <a:ln/>
        </p:spPr>
        <p:txBody>
          <a:bodyPr wrap="square" rtlCol="0" anchor="ctr"/>
          <a:lstStyle/>
          <a:p>
            <a:pPr marL="0" indent="0">
              <a:buNone/>
            </a:pPr>
            <a:endParaRPr lang="en-US" dirty="0"/>
          </a:p>
        </p:txBody>
      </p:sp>
      <p:sp>
        <p:nvSpPr>
          <p:cNvPr id="29" name="Shape 27"/>
          <p:cNvSpPr/>
          <p:nvPr/>
        </p:nvSpPr>
        <p:spPr>
          <a:xfrm>
            <a:off x="4692551" y="2480667"/>
            <a:ext cx="0" cy="554831"/>
          </a:xfrm>
          <a:prstGeom prst="line">
            <a:avLst/>
          </a:prstGeom>
          <a:noFill/>
          <a:ln w="38100">
            <a:solidFill>
              <a:srgbClr val="F09860"/>
            </a:solidFill>
            <a:prstDash val="solid"/>
          </a:ln>
        </p:spPr>
      </p:sp>
      <p:sp>
        <p:nvSpPr>
          <p:cNvPr id="30" name="Text 28"/>
          <p:cNvSpPr/>
          <p:nvPr/>
        </p:nvSpPr>
        <p:spPr>
          <a:xfrm>
            <a:off x="4838551" y="2556867"/>
            <a:ext cx="3873448" cy="133350"/>
          </a:xfrm>
          <a:prstGeom prst="rect">
            <a:avLst/>
          </a:prstGeom>
          <a:noFill/>
          <a:ln/>
        </p:spPr>
        <p:txBody>
          <a:bodyPr wrap="square" lIns="0" tIns="0" rIns="0" bIns="0" rtlCol="0" anchor="t"/>
          <a:lstStyle/>
          <a:p>
            <a:pPr marL="0" indent="0" algn="l">
              <a:spcAft>
                <a:spcPts val="200"/>
              </a:spcAft>
              <a:buNone/>
            </a:pPr>
            <a:r>
              <a:rPr lang="en-US" sz="950" b="1" dirty="0">
                <a:solidFill>
                  <a:srgbClr val="F09860"/>
                </a:solidFill>
                <a:latin typeface="Arial" pitchFamily="34" charset="0"/>
                <a:ea typeface="Arial" pitchFamily="34" charset="-122"/>
                <a:cs typeface="Arial" pitchFamily="34" charset="-120"/>
              </a:rPr>
              <a:t>3. Domain Adaptation</a:t>
            </a:r>
            <a:endParaRPr lang="en-US" sz="950" dirty="0"/>
          </a:p>
        </p:txBody>
      </p:sp>
      <p:sp>
        <p:nvSpPr>
          <p:cNvPr id="31" name="Text 29"/>
          <p:cNvSpPr/>
          <p:nvPr/>
        </p:nvSpPr>
        <p:spPr>
          <a:xfrm>
            <a:off x="4838551" y="2715518"/>
            <a:ext cx="3873448" cy="243780"/>
          </a:xfrm>
          <a:prstGeom prst="rect">
            <a:avLst/>
          </a:prstGeom>
          <a:noFill/>
          <a:ln/>
        </p:spPr>
        <p:txBody>
          <a:bodyPr wrap="square" lIns="0" tIns="0" rIns="0" bIns="0" rtlCol="0" anchor="t"/>
          <a:lstStyle/>
          <a:p>
            <a:pPr marL="0" indent="0" algn="l">
              <a:lnSpc>
                <a:spcPts val="960"/>
              </a:lnSpc>
              <a:buNone/>
            </a:pPr>
            <a:r>
              <a:rPr lang="en-US" sz="800" dirty="0">
                <a:solidFill>
                  <a:srgbClr val="A8C4DF"/>
                </a:solidFill>
                <a:latin typeface="Arial" pitchFamily="34" charset="0"/>
                <a:ea typeface="Arial" pitchFamily="34" charset="-122"/>
                <a:cs typeface="Arial" pitchFamily="34" charset="-120"/>
              </a:rPr>
              <a:t>Reduce feature distribution distance across datasets for better cross-domain transfer.</a:t>
            </a:r>
            <a:endParaRPr lang="en-US" sz="800" dirty="0"/>
          </a:p>
        </p:txBody>
      </p:sp>
      <p:sp>
        <p:nvSpPr>
          <p:cNvPr id="32" name="Text 30"/>
          <p:cNvSpPr/>
          <p:nvPr/>
        </p:nvSpPr>
        <p:spPr>
          <a:xfrm>
            <a:off x="4673501" y="3136999"/>
            <a:ext cx="4089499" cy="432941"/>
          </a:xfrm>
          <a:prstGeom prst="roundRect">
            <a:avLst>
              <a:gd name="adj" fmla="val 8800"/>
            </a:avLst>
          </a:prstGeom>
          <a:solidFill>
            <a:srgbClr val="E75113">
              <a:alpha val="8000"/>
            </a:srgbClr>
          </a:solidFill>
          <a:ln/>
        </p:spPr>
        <p:txBody>
          <a:bodyPr wrap="square" rtlCol="0" anchor="ctr"/>
          <a:lstStyle/>
          <a:p>
            <a:pPr marL="0" indent="0">
              <a:buNone/>
            </a:pPr>
            <a:endParaRPr lang="en-US" dirty="0"/>
          </a:p>
        </p:txBody>
      </p:sp>
      <p:sp>
        <p:nvSpPr>
          <p:cNvPr id="33" name="Shape 31"/>
          <p:cNvSpPr/>
          <p:nvPr/>
        </p:nvSpPr>
        <p:spPr>
          <a:xfrm>
            <a:off x="4692551" y="3136999"/>
            <a:ext cx="0" cy="432941"/>
          </a:xfrm>
          <a:prstGeom prst="line">
            <a:avLst/>
          </a:prstGeom>
          <a:noFill/>
          <a:ln w="38100">
            <a:solidFill>
              <a:srgbClr val="F09860"/>
            </a:solidFill>
            <a:prstDash val="solid"/>
          </a:ln>
        </p:spPr>
      </p:sp>
      <p:sp>
        <p:nvSpPr>
          <p:cNvPr id="34" name="Text 32"/>
          <p:cNvSpPr/>
          <p:nvPr/>
        </p:nvSpPr>
        <p:spPr>
          <a:xfrm>
            <a:off x="4838551" y="3213199"/>
            <a:ext cx="3873448" cy="133350"/>
          </a:xfrm>
          <a:prstGeom prst="rect">
            <a:avLst/>
          </a:prstGeom>
          <a:noFill/>
          <a:ln/>
        </p:spPr>
        <p:txBody>
          <a:bodyPr wrap="square" lIns="0" tIns="0" rIns="0" bIns="0" rtlCol="0" anchor="t"/>
          <a:lstStyle/>
          <a:p>
            <a:pPr marL="0" indent="0" algn="l">
              <a:spcAft>
                <a:spcPts val="200"/>
              </a:spcAft>
              <a:buNone/>
            </a:pPr>
            <a:r>
              <a:rPr lang="en-US" sz="950" b="1" dirty="0">
                <a:solidFill>
                  <a:srgbClr val="F09860"/>
                </a:solidFill>
                <a:latin typeface="Arial" pitchFamily="34" charset="0"/>
                <a:ea typeface="Arial" pitchFamily="34" charset="-122"/>
                <a:cs typeface="Arial" pitchFamily="34" charset="-120"/>
              </a:rPr>
              <a:t>4. Online / Incremental Learning</a:t>
            </a:r>
            <a:endParaRPr lang="en-US" sz="950" dirty="0"/>
          </a:p>
        </p:txBody>
      </p:sp>
      <p:sp>
        <p:nvSpPr>
          <p:cNvPr id="35" name="Text 33"/>
          <p:cNvSpPr/>
          <p:nvPr/>
        </p:nvSpPr>
        <p:spPr>
          <a:xfrm>
            <a:off x="4838551" y="3371850"/>
            <a:ext cx="3873448" cy="121890"/>
          </a:xfrm>
          <a:prstGeom prst="rect">
            <a:avLst/>
          </a:prstGeom>
          <a:noFill/>
          <a:ln/>
        </p:spPr>
        <p:txBody>
          <a:bodyPr wrap="square" lIns="0" tIns="0" rIns="0" bIns="0" rtlCol="0" anchor="t"/>
          <a:lstStyle/>
          <a:p>
            <a:pPr marL="0" indent="0" algn="l">
              <a:lnSpc>
                <a:spcPts val="960"/>
              </a:lnSpc>
              <a:buNone/>
            </a:pPr>
            <a:r>
              <a:rPr lang="en-US" sz="800" dirty="0">
                <a:solidFill>
                  <a:srgbClr val="A8C4DF"/>
                </a:solidFill>
                <a:latin typeface="Arial" pitchFamily="34" charset="0"/>
                <a:ea typeface="Arial" pitchFamily="34" charset="-122"/>
                <a:cs typeface="Arial" pitchFamily="34" charset="-120"/>
              </a:rPr>
              <a:t>Adapt to temporal drift in network traffic for real-world deployment.</a:t>
            </a:r>
            <a:endParaRPr lang="en-US" sz="800" dirty="0"/>
          </a:p>
        </p:txBody>
      </p:sp>
      <p:sp>
        <p:nvSpPr>
          <p:cNvPr id="36" name="Text 34"/>
          <p:cNvSpPr/>
          <p:nvPr/>
        </p:nvSpPr>
        <p:spPr>
          <a:xfrm>
            <a:off x="4673501" y="4401889"/>
            <a:ext cx="4089499" cy="640110"/>
          </a:xfrm>
          <a:prstGeom prst="roundRect">
            <a:avLst>
              <a:gd name="adj" fmla="val 7936"/>
            </a:avLst>
          </a:prstGeom>
          <a:solidFill>
            <a:srgbClr val="FFFFFF">
              <a:alpha val="4000"/>
            </a:srgbClr>
          </a:solidFill>
          <a:ln/>
        </p:spPr>
        <p:txBody>
          <a:bodyPr wrap="square" rtlCol="0" anchor="ctr"/>
          <a:lstStyle/>
          <a:p>
            <a:pPr marL="0" indent="0">
              <a:buNone/>
            </a:pPr>
            <a:endParaRPr lang="en-US" dirty="0"/>
          </a:p>
        </p:txBody>
      </p:sp>
      <p:sp>
        <p:nvSpPr>
          <p:cNvPr id="37" name="Text 35"/>
          <p:cNvSpPr/>
          <p:nvPr/>
        </p:nvSpPr>
        <p:spPr>
          <a:xfrm>
            <a:off x="4800451" y="4478089"/>
            <a:ext cx="3912310" cy="114300"/>
          </a:xfrm>
          <a:prstGeom prst="rect">
            <a:avLst/>
          </a:prstGeom>
          <a:noFill/>
          <a:ln/>
        </p:spPr>
        <p:txBody>
          <a:bodyPr wrap="square" lIns="0" tIns="0" rIns="0" bIns="0" rtlCol="0" anchor="t"/>
          <a:lstStyle/>
          <a:p>
            <a:pPr marL="0" indent="0" algn="l">
              <a:spcAft>
                <a:spcPts val="300"/>
              </a:spcAft>
              <a:buNone/>
            </a:pPr>
            <a:r>
              <a:rPr lang="en-US" sz="800" b="1" dirty="0">
                <a:solidFill>
                  <a:srgbClr val="F09860"/>
                </a:solidFill>
                <a:latin typeface="Arial" pitchFamily="34" charset="0"/>
                <a:ea typeface="Arial" pitchFamily="34" charset="-122"/>
                <a:cs typeface="Arial" pitchFamily="34" charset="-120"/>
              </a:rPr>
              <a:t>Key References</a:t>
            </a:r>
            <a:endParaRPr lang="en-US" sz="800" dirty="0"/>
          </a:p>
        </p:txBody>
      </p:sp>
      <p:sp>
        <p:nvSpPr>
          <p:cNvPr id="38" name="Text 36"/>
          <p:cNvSpPr/>
          <p:nvPr/>
        </p:nvSpPr>
        <p:spPr>
          <a:xfrm>
            <a:off x="4800451" y="4630489"/>
            <a:ext cx="3912310" cy="99120"/>
          </a:xfrm>
          <a:prstGeom prst="rect">
            <a:avLst/>
          </a:prstGeom>
          <a:noFill/>
          <a:ln/>
        </p:spPr>
        <p:txBody>
          <a:bodyPr wrap="square" lIns="0" tIns="0" rIns="0" bIns="0" rtlCol="0" anchor="t"/>
          <a:lstStyle/>
          <a:p>
            <a:pPr marL="0" indent="0" algn="l">
              <a:lnSpc>
                <a:spcPts val="780"/>
              </a:lnSpc>
              <a:spcAft>
                <a:spcPts val="100"/>
              </a:spcAft>
              <a:buNone/>
            </a:pPr>
            <a:r>
              <a:rPr lang="en-US" sz="650" dirty="0">
                <a:solidFill>
                  <a:srgbClr val="7BA1C7"/>
                </a:solidFill>
                <a:latin typeface="Arial" pitchFamily="34" charset="0"/>
                <a:ea typeface="Arial" pitchFamily="34" charset="-122"/>
                <a:cs typeface="Arial" pitchFamily="34" charset="-120"/>
              </a:rPr>
              <a:t>Sharafaldin, I., et al. (2018). ICISSP. | Ring, M., et al. (2019). Computers and Security, 86.</a:t>
            </a:r>
            <a:endParaRPr lang="en-US" sz="650" dirty="0"/>
          </a:p>
        </p:txBody>
      </p:sp>
      <p:sp>
        <p:nvSpPr>
          <p:cNvPr id="39" name="Text 37"/>
          <p:cNvSpPr/>
          <p:nvPr/>
        </p:nvSpPr>
        <p:spPr>
          <a:xfrm>
            <a:off x="4800451" y="4742259"/>
            <a:ext cx="3912310" cy="99120"/>
          </a:xfrm>
          <a:prstGeom prst="rect">
            <a:avLst/>
          </a:prstGeom>
          <a:noFill/>
          <a:ln/>
        </p:spPr>
        <p:txBody>
          <a:bodyPr wrap="square" lIns="0" tIns="0" rIns="0" bIns="0" rtlCol="0" anchor="t"/>
          <a:lstStyle/>
          <a:p>
            <a:pPr marL="0" indent="0" algn="l">
              <a:lnSpc>
                <a:spcPts val="780"/>
              </a:lnSpc>
              <a:spcAft>
                <a:spcPts val="100"/>
              </a:spcAft>
              <a:buNone/>
            </a:pPr>
            <a:r>
              <a:rPr lang="en-US" sz="650" dirty="0">
                <a:solidFill>
                  <a:srgbClr val="7BA1C7"/>
                </a:solidFill>
                <a:latin typeface="Arial" pitchFamily="34" charset="0"/>
                <a:ea typeface="Arial" pitchFamily="34" charset="-122"/>
                <a:cs typeface="Arial" pitchFamily="34" charset="-120"/>
              </a:rPr>
              <a:t>Breiman, L. (2001). Machine Learning, 45(1). | Madry, A., et al. (2018). ICLR.</a:t>
            </a:r>
            <a:endParaRPr lang="en-US" sz="650" dirty="0"/>
          </a:p>
        </p:txBody>
      </p:sp>
      <p:sp>
        <p:nvSpPr>
          <p:cNvPr id="40" name="Text 38"/>
          <p:cNvSpPr/>
          <p:nvPr/>
        </p:nvSpPr>
        <p:spPr>
          <a:xfrm>
            <a:off x="4800451" y="4854029"/>
            <a:ext cx="3912310" cy="99120"/>
          </a:xfrm>
          <a:prstGeom prst="rect">
            <a:avLst/>
          </a:prstGeom>
          <a:noFill/>
          <a:ln/>
        </p:spPr>
        <p:txBody>
          <a:bodyPr wrap="square" lIns="0" tIns="0" rIns="0" bIns="0" rtlCol="0" anchor="t"/>
          <a:lstStyle/>
          <a:p>
            <a:pPr marL="0" indent="0" algn="l">
              <a:lnSpc>
                <a:spcPts val="780"/>
              </a:lnSpc>
              <a:spcAft>
                <a:spcPts val="100"/>
              </a:spcAft>
              <a:buNone/>
            </a:pPr>
            <a:r>
              <a:rPr lang="en-US" sz="650" dirty="0">
                <a:solidFill>
                  <a:srgbClr val="7BA1C7"/>
                </a:solidFill>
                <a:latin typeface="Arial" pitchFamily="34" charset="0"/>
                <a:ea typeface="Arial" pitchFamily="34" charset="-122"/>
                <a:cs typeface="Arial" pitchFamily="34" charset="-120"/>
              </a:rPr>
              <a:t>Lundberg, S. M., &amp; Lee, S. I. (2017). NeurIPS. | Sundararajan, M., et al. (2017). ICML.</a:t>
            </a:r>
            <a:endParaRPr lang="en-US" sz="650" dirty="0"/>
          </a:p>
        </p:txBody>
      </p:sp>
      <p:sp>
        <p:nvSpPr>
          <p:cNvPr id="41" name="Text 39"/>
          <p:cNvSpPr/>
          <p:nvPr/>
        </p:nvSpPr>
        <p:spPr>
          <a:xfrm>
            <a:off x="-2346960" y="4848225"/>
            <a:ext cx="9326880" cy="133350"/>
          </a:xfrm>
          <a:prstGeom prst="rect">
            <a:avLst/>
          </a:prstGeom>
          <a:noFill/>
          <a:ln/>
        </p:spPr>
        <p:txBody>
          <a:bodyPr wrap="square" lIns="0" tIns="0" rIns="0" bIns="0" rtlCol="0" anchor="t"/>
          <a:lstStyle/>
          <a:p>
            <a:pPr marL="0" indent="0" algn="ctr">
              <a:buNone/>
            </a:pPr>
            <a:r>
              <a:rPr lang="en-US" sz="900" b="1" dirty="0">
                <a:solidFill>
                  <a:srgbClr val="F09860"/>
                </a:solidFill>
                <a:latin typeface="Arial" pitchFamily="34" charset="0"/>
                <a:ea typeface="Arial" pitchFamily="34" charset="-122"/>
                <a:cs typeface="Arial" pitchFamily="34" charset="-120"/>
              </a:rPr>
              <a:t>Thank You — Questions?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584150"/>
          </a:xfrm>
          <a:prstGeom prst="rect">
            <a:avLst/>
          </a:prstGeom>
          <a:solidFill>
            <a:srgbClr val="003C71"/>
          </a:solidFill>
          <a:ln/>
        </p:spPr>
        <p:txBody>
          <a:bodyPr wrap="square" rtlCol="0" anchor="ctr"/>
          <a:lstStyle/>
          <a:p>
            <a:pPr marL="0" indent="0">
              <a:buNone/>
            </a:pPr>
            <a:endParaRPr lang="en-US" dirty="0"/>
          </a:p>
        </p:txBody>
      </p:sp>
      <p:sp>
        <p:nvSpPr>
          <p:cNvPr id="3" name="Text 1"/>
          <p:cNvSpPr/>
          <p:nvPr/>
        </p:nvSpPr>
        <p:spPr>
          <a:xfrm>
            <a:off x="381000" y="152400"/>
            <a:ext cx="50750" cy="304800"/>
          </a:xfrm>
          <a:prstGeom prst="roundRect">
            <a:avLst>
              <a:gd name="adj" fmla="val 50049"/>
            </a:avLst>
          </a:prstGeom>
          <a:solidFill>
            <a:srgbClr val="E75113"/>
          </a:solidFill>
          <a:ln/>
        </p:spPr>
        <p:txBody>
          <a:bodyPr wrap="square" rtlCol="0" anchor="ctr"/>
          <a:lstStyle/>
          <a:p>
            <a:pPr marL="0" indent="0">
              <a:buNone/>
            </a:pPr>
            <a:endParaRPr lang="en-US" dirty="0"/>
          </a:p>
        </p:txBody>
      </p:sp>
      <p:sp>
        <p:nvSpPr>
          <p:cNvPr id="4" name="Text 2"/>
          <p:cNvSpPr/>
          <p:nvPr/>
        </p:nvSpPr>
        <p:spPr>
          <a:xfrm>
            <a:off x="558701" y="166688"/>
            <a:ext cx="1327077" cy="276225"/>
          </a:xfrm>
          <a:prstGeom prst="rect">
            <a:avLst/>
          </a:prstGeom>
          <a:noFill/>
          <a:ln/>
        </p:spPr>
        <p:txBody>
          <a:bodyPr wrap="square" lIns="0" tIns="0" rIns="0" bIns="0" rtlCol="0" anchor="t"/>
          <a:lstStyle/>
          <a:p>
            <a:pPr marL="0" indent="0" algn="l">
              <a:buNone/>
            </a:pPr>
            <a:r>
              <a:rPr lang="en-US" sz="1900" b="1" dirty="0">
                <a:solidFill>
                  <a:srgbClr val="FFFFFF"/>
                </a:solidFill>
                <a:latin typeface="Arial" pitchFamily="34" charset="0"/>
                <a:ea typeface="Arial" pitchFamily="34" charset="-122"/>
                <a:cs typeface="Arial" pitchFamily="34" charset="-120"/>
              </a:rPr>
              <a:t>References</a:t>
            </a:r>
            <a:endParaRPr lang="en-US" sz="1900" dirty="0"/>
          </a:p>
        </p:txBody>
      </p:sp>
      <p:sp>
        <p:nvSpPr>
          <p:cNvPr id="5" name="Text 3"/>
          <p:cNvSpPr/>
          <p:nvPr/>
        </p:nvSpPr>
        <p:spPr>
          <a:xfrm>
            <a:off x="0" y="584150"/>
            <a:ext cx="9144000" cy="38100"/>
          </a:xfrm>
          <a:prstGeom prst="rect">
            <a:avLst/>
          </a:prstGeom>
          <a:solidFill>
            <a:srgbClr val="E75113"/>
          </a:solidFill>
          <a:ln/>
        </p:spPr>
        <p:txBody>
          <a:bodyPr wrap="square" rtlCol="0" anchor="ctr"/>
          <a:lstStyle/>
          <a:p>
            <a:pPr marL="0" indent="0">
              <a:buNone/>
            </a:pPr>
            <a:endParaRPr lang="en-US" dirty="0"/>
          </a:p>
        </p:txBody>
      </p:sp>
      <p:sp>
        <p:nvSpPr>
          <p:cNvPr id="6" name="Text 4"/>
          <p:cNvSpPr/>
          <p:nvPr/>
        </p:nvSpPr>
        <p:spPr>
          <a:xfrm>
            <a:off x="711101" y="723751"/>
            <a:ext cx="8238896" cy="123825"/>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Abu Al-Haija, Q., &amp; Zein-Sabatto, S. (2022). An efficient deep-learning-based detection and classification system for cyber-attacks in IoT communication networks. </a:t>
            </a:r>
            <a:r>
              <a:rPr lang="en-US" sz="750" i="1" dirty="0">
                <a:solidFill>
                  <a:srgbClr val="333333"/>
                </a:solidFill>
                <a:latin typeface="Arial" pitchFamily="34" charset="0"/>
                <a:ea typeface="Arial" pitchFamily="34" charset="-122"/>
                <a:cs typeface="Arial" pitchFamily="34" charset="-120"/>
              </a:rPr>
              <a:t>Electronics</a:t>
            </a:r>
            <a:r>
              <a:rPr lang="en-US" sz="750" dirty="0">
                <a:solidFill>
                  <a:srgbClr val="333333"/>
                </a:solidFill>
                <a:latin typeface="Arial" pitchFamily="34" charset="0"/>
                <a:ea typeface="Arial" pitchFamily="34" charset="-122"/>
                <a:cs typeface="Arial" pitchFamily="34" charset="-120"/>
              </a:rPr>
              <a:t>, 11(3), 374.</a:t>
            </a:r>
            <a:endParaRPr lang="en-US" sz="750" dirty="0"/>
          </a:p>
        </p:txBody>
      </p:sp>
      <p:sp>
        <p:nvSpPr>
          <p:cNvPr id="7" name="Text 5"/>
          <p:cNvSpPr/>
          <p:nvPr/>
        </p:nvSpPr>
        <p:spPr>
          <a:xfrm>
            <a:off x="711101" y="898327"/>
            <a:ext cx="8238896" cy="123825"/>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Ben-David, S., Blitzer, J., Crammer, K., Kulesza, A., Pereira, F., &amp; Vaughan, J. W. (2010). A theory of learning from different domains. </a:t>
            </a:r>
            <a:r>
              <a:rPr lang="en-US" sz="750" i="1" dirty="0">
                <a:solidFill>
                  <a:srgbClr val="333333"/>
                </a:solidFill>
                <a:latin typeface="Arial" pitchFamily="34" charset="0"/>
                <a:ea typeface="Arial" pitchFamily="34" charset="-122"/>
                <a:cs typeface="Arial" pitchFamily="34" charset="-120"/>
              </a:rPr>
              <a:t>Machine Learning</a:t>
            </a:r>
            <a:r>
              <a:rPr lang="en-US" sz="750" dirty="0">
                <a:solidFill>
                  <a:srgbClr val="333333"/>
                </a:solidFill>
                <a:latin typeface="Arial" pitchFamily="34" charset="0"/>
                <a:ea typeface="Arial" pitchFamily="34" charset="-122"/>
                <a:cs typeface="Arial" pitchFamily="34" charset="-120"/>
              </a:rPr>
              <a:t>, 79(1-2), 151-175.</a:t>
            </a:r>
            <a:endParaRPr lang="en-US" sz="750" dirty="0"/>
          </a:p>
        </p:txBody>
      </p:sp>
      <p:sp>
        <p:nvSpPr>
          <p:cNvPr id="8" name="Text 6"/>
          <p:cNvSpPr/>
          <p:nvPr/>
        </p:nvSpPr>
        <p:spPr>
          <a:xfrm>
            <a:off x="711101" y="1072902"/>
            <a:ext cx="8238896" cy="123825"/>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Breiman, L. (2001). Random forests. </a:t>
            </a:r>
            <a:r>
              <a:rPr lang="en-US" sz="750" i="1" dirty="0">
                <a:solidFill>
                  <a:srgbClr val="333333"/>
                </a:solidFill>
                <a:latin typeface="Arial" pitchFamily="34" charset="0"/>
                <a:ea typeface="Arial" pitchFamily="34" charset="-122"/>
                <a:cs typeface="Arial" pitchFamily="34" charset="-120"/>
              </a:rPr>
              <a:t>Machine Learning</a:t>
            </a:r>
            <a:r>
              <a:rPr lang="en-US" sz="750" dirty="0">
                <a:solidFill>
                  <a:srgbClr val="333333"/>
                </a:solidFill>
                <a:latin typeface="Arial" pitchFamily="34" charset="0"/>
                <a:ea typeface="Arial" pitchFamily="34" charset="-122"/>
                <a:cs typeface="Arial" pitchFamily="34" charset="-120"/>
              </a:rPr>
              <a:t>, 45(1), 5-32.</a:t>
            </a:r>
            <a:endParaRPr lang="en-US" sz="750" dirty="0"/>
          </a:p>
        </p:txBody>
      </p:sp>
      <p:sp>
        <p:nvSpPr>
          <p:cNvPr id="9" name="Text 7"/>
          <p:cNvSpPr/>
          <p:nvPr/>
        </p:nvSpPr>
        <p:spPr>
          <a:xfrm>
            <a:off x="711101" y="1247477"/>
            <a:ext cx="8238896" cy="123825"/>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Cawley, G. C., &amp; Talbot, N. L. C. (2010). On over-fitting in model selection and subsequent selection bias in performance evaluation. </a:t>
            </a:r>
            <a:r>
              <a:rPr lang="en-US" sz="750" i="1" dirty="0">
                <a:solidFill>
                  <a:srgbClr val="333333"/>
                </a:solidFill>
                <a:latin typeface="Arial" pitchFamily="34" charset="0"/>
                <a:ea typeface="Arial" pitchFamily="34" charset="-122"/>
                <a:cs typeface="Arial" pitchFamily="34" charset="-120"/>
              </a:rPr>
              <a:t>Journal of Machine Learning Research</a:t>
            </a:r>
            <a:r>
              <a:rPr lang="en-US" sz="750" dirty="0">
                <a:solidFill>
                  <a:srgbClr val="333333"/>
                </a:solidFill>
                <a:latin typeface="Arial" pitchFamily="34" charset="0"/>
                <a:ea typeface="Arial" pitchFamily="34" charset="-122"/>
                <a:cs typeface="Arial" pitchFamily="34" charset="-120"/>
              </a:rPr>
              <a:t>, 11, 2079-2107.</a:t>
            </a:r>
            <a:endParaRPr lang="en-US" sz="750" dirty="0"/>
          </a:p>
        </p:txBody>
      </p:sp>
      <p:sp>
        <p:nvSpPr>
          <p:cNvPr id="10" name="Text 8"/>
          <p:cNvSpPr/>
          <p:nvPr/>
        </p:nvSpPr>
        <p:spPr>
          <a:xfrm>
            <a:off x="711101" y="1422053"/>
            <a:ext cx="8238896" cy="123825"/>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Efron, B. (1979). Bootstrap methods: Another look at the jackknife. </a:t>
            </a:r>
            <a:r>
              <a:rPr lang="en-US" sz="750" i="1" dirty="0">
                <a:solidFill>
                  <a:srgbClr val="333333"/>
                </a:solidFill>
                <a:latin typeface="Arial" pitchFamily="34" charset="0"/>
                <a:ea typeface="Arial" pitchFamily="34" charset="-122"/>
                <a:cs typeface="Arial" pitchFamily="34" charset="-120"/>
              </a:rPr>
              <a:t>The Annals of Statistics</a:t>
            </a:r>
            <a:r>
              <a:rPr lang="en-US" sz="750" dirty="0">
                <a:solidFill>
                  <a:srgbClr val="333333"/>
                </a:solidFill>
                <a:latin typeface="Arial" pitchFamily="34" charset="0"/>
                <a:ea typeface="Arial" pitchFamily="34" charset="-122"/>
                <a:cs typeface="Arial" pitchFamily="34" charset="-120"/>
              </a:rPr>
              <a:t>, 7(1), 1-26.</a:t>
            </a:r>
            <a:endParaRPr lang="en-US" sz="750" dirty="0"/>
          </a:p>
        </p:txBody>
      </p:sp>
      <p:sp>
        <p:nvSpPr>
          <p:cNvPr id="11" name="Text 9"/>
          <p:cNvSpPr/>
          <p:nvPr/>
        </p:nvSpPr>
        <p:spPr>
          <a:xfrm>
            <a:off x="711101" y="1596628"/>
            <a:ext cx="8238896" cy="123825"/>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Kwon, D., Kim, H., Kim, J., Suh, S. C., Kim, I., &amp; Kim, K. J. (2017). A survey of deep learning-based network anomaly detection. </a:t>
            </a:r>
            <a:r>
              <a:rPr lang="en-US" sz="750" i="1" dirty="0">
                <a:solidFill>
                  <a:srgbClr val="333333"/>
                </a:solidFill>
                <a:latin typeface="Arial" pitchFamily="34" charset="0"/>
                <a:ea typeface="Arial" pitchFamily="34" charset="-122"/>
                <a:cs typeface="Arial" pitchFamily="34" charset="-120"/>
              </a:rPr>
              <a:t>Cluster Computing</a:t>
            </a:r>
            <a:r>
              <a:rPr lang="en-US" sz="750" dirty="0">
                <a:solidFill>
                  <a:srgbClr val="333333"/>
                </a:solidFill>
                <a:latin typeface="Arial" pitchFamily="34" charset="0"/>
                <a:ea typeface="Arial" pitchFamily="34" charset="-122"/>
                <a:cs typeface="Arial" pitchFamily="34" charset="-120"/>
              </a:rPr>
              <a:t>, 22(S1), 949-961.</a:t>
            </a:r>
            <a:endParaRPr lang="en-US" sz="750" dirty="0"/>
          </a:p>
        </p:txBody>
      </p:sp>
      <p:sp>
        <p:nvSpPr>
          <p:cNvPr id="12" name="Text 10"/>
          <p:cNvSpPr/>
          <p:nvPr/>
        </p:nvSpPr>
        <p:spPr>
          <a:xfrm>
            <a:off x="711101" y="1771204"/>
            <a:ext cx="8238896" cy="123825"/>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Liu, Y. (2025). TransECA-Net: A lightweight transformer with efficient channel attention for network intrusion detection [Unpublished manuscript].</a:t>
            </a:r>
            <a:endParaRPr lang="en-US" sz="750" dirty="0"/>
          </a:p>
        </p:txBody>
      </p:sp>
      <p:sp>
        <p:nvSpPr>
          <p:cNvPr id="13" name="Text 11"/>
          <p:cNvSpPr/>
          <p:nvPr/>
        </p:nvSpPr>
        <p:spPr>
          <a:xfrm>
            <a:off x="711101" y="1945779"/>
            <a:ext cx="8238896" cy="123825"/>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Lundberg, S. M., &amp; Lee, S. I. (2017). A unified approach to interpreting model predictions. In </a:t>
            </a:r>
            <a:r>
              <a:rPr lang="en-US" sz="750" i="1" dirty="0">
                <a:solidFill>
                  <a:srgbClr val="333333"/>
                </a:solidFill>
                <a:latin typeface="Arial" pitchFamily="34" charset="0"/>
                <a:ea typeface="Arial" pitchFamily="34" charset="-122"/>
                <a:cs typeface="Arial" pitchFamily="34" charset="-120"/>
              </a:rPr>
              <a:t>Advances in Neural Information Processing Systems</a:t>
            </a:r>
            <a:r>
              <a:rPr lang="en-US" sz="750" dirty="0">
                <a:solidFill>
                  <a:srgbClr val="333333"/>
                </a:solidFill>
                <a:latin typeface="Arial" pitchFamily="34" charset="0"/>
                <a:ea typeface="Arial" pitchFamily="34" charset="-122"/>
                <a:cs typeface="Arial" pitchFamily="34" charset="-120"/>
              </a:rPr>
              <a:t> (NeurIPS), 30.</a:t>
            </a:r>
            <a:endParaRPr lang="en-US" sz="750" dirty="0"/>
          </a:p>
        </p:txBody>
      </p:sp>
      <p:sp>
        <p:nvSpPr>
          <p:cNvPr id="14" name="Text 12"/>
          <p:cNvSpPr/>
          <p:nvPr/>
        </p:nvSpPr>
        <p:spPr>
          <a:xfrm>
            <a:off x="711101" y="2120354"/>
            <a:ext cx="8238896" cy="123825"/>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Madry, A., Makelov, A., Schmidt, L., Tsipras, D., &amp; Vladu, A. (2018). Towards deep learning models resistant to adversarial attacks. In </a:t>
            </a:r>
            <a:r>
              <a:rPr lang="en-US" sz="750" i="1" dirty="0">
                <a:solidFill>
                  <a:srgbClr val="333333"/>
                </a:solidFill>
                <a:latin typeface="Arial" pitchFamily="34" charset="0"/>
                <a:ea typeface="Arial" pitchFamily="34" charset="-122"/>
                <a:cs typeface="Arial" pitchFamily="34" charset="-120"/>
              </a:rPr>
              <a:t>International Conference on Learning Representations</a:t>
            </a:r>
            <a:r>
              <a:rPr lang="en-US" sz="750" dirty="0">
                <a:solidFill>
                  <a:srgbClr val="333333"/>
                </a:solidFill>
                <a:latin typeface="Arial" pitchFamily="34" charset="0"/>
                <a:ea typeface="Arial" pitchFamily="34" charset="-122"/>
                <a:cs typeface="Arial" pitchFamily="34" charset="-120"/>
              </a:rPr>
              <a:t> (ICLR).</a:t>
            </a:r>
            <a:endParaRPr lang="en-US" sz="750" dirty="0"/>
          </a:p>
        </p:txBody>
      </p:sp>
      <p:sp>
        <p:nvSpPr>
          <p:cNvPr id="15" name="Text 13"/>
          <p:cNvSpPr/>
          <p:nvPr/>
        </p:nvSpPr>
        <p:spPr>
          <a:xfrm>
            <a:off x="711101" y="3124647"/>
            <a:ext cx="8238896" cy="123825"/>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Moustafa, N., &amp; Slay, J. (2015). UNSW-NB15: A comprehensive data set for network intrusion detection systems. In </a:t>
            </a:r>
            <a:r>
              <a:rPr lang="en-US" sz="750" i="1" dirty="0">
                <a:solidFill>
                  <a:srgbClr val="333333"/>
                </a:solidFill>
                <a:latin typeface="Arial" pitchFamily="34" charset="0"/>
                <a:ea typeface="Arial" pitchFamily="34" charset="-122"/>
                <a:cs typeface="Arial" pitchFamily="34" charset="-120"/>
              </a:rPr>
              <a:t>Military Communications and Information Systems Conference</a:t>
            </a:r>
            <a:r>
              <a:rPr lang="en-US" sz="750" dirty="0">
                <a:solidFill>
                  <a:srgbClr val="333333"/>
                </a:solidFill>
                <a:latin typeface="Arial" pitchFamily="34" charset="0"/>
                <a:ea typeface="Arial" pitchFamily="34" charset="-122"/>
                <a:cs typeface="Arial" pitchFamily="34" charset="-120"/>
              </a:rPr>
              <a:t> (MilCIS), 1-6.</a:t>
            </a:r>
            <a:endParaRPr lang="en-US" sz="750" dirty="0"/>
          </a:p>
        </p:txBody>
      </p:sp>
      <p:sp>
        <p:nvSpPr>
          <p:cNvPr id="16" name="Text 14"/>
          <p:cNvSpPr/>
          <p:nvPr/>
        </p:nvSpPr>
        <p:spPr>
          <a:xfrm>
            <a:off x="711101" y="2469505"/>
            <a:ext cx="8238896" cy="123825"/>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Ring, M., Wunderlich, S., Scheuring, D., Landes, D., &amp; Hotho, A. (2019). A survey of network-based intrusion detection data sets. </a:t>
            </a:r>
            <a:r>
              <a:rPr lang="en-US" sz="750" i="1" dirty="0">
                <a:solidFill>
                  <a:srgbClr val="333333"/>
                </a:solidFill>
                <a:latin typeface="Arial" pitchFamily="34" charset="0"/>
                <a:ea typeface="Arial" pitchFamily="34" charset="-122"/>
                <a:cs typeface="Arial" pitchFamily="34" charset="-120"/>
              </a:rPr>
              <a:t>Computers &amp; Security</a:t>
            </a:r>
            <a:r>
              <a:rPr lang="en-US" sz="750" dirty="0">
                <a:solidFill>
                  <a:srgbClr val="333333"/>
                </a:solidFill>
                <a:latin typeface="Arial" pitchFamily="34" charset="0"/>
                <a:ea typeface="Arial" pitchFamily="34" charset="-122"/>
                <a:cs typeface="Arial" pitchFamily="34" charset="-120"/>
              </a:rPr>
              <a:t>, 86, 100-126.</a:t>
            </a:r>
            <a:endParaRPr lang="en-US" sz="750" dirty="0"/>
          </a:p>
        </p:txBody>
      </p:sp>
      <p:sp>
        <p:nvSpPr>
          <p:cNvPr id="17" name="Text 15"/>
          <p:cNvSpPr/>
          <p:nvPr/>
        </p:nvSpPr>
        <p:spPr>
          <a:xfrm>
            <a:off x="711101" y="2644080"/>
            <a:ext cx="8238896" cy="247650"/>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Sharafaldin, I., Lashkari, A. H., &amp; Ghorbani, A. A. (2018). Toward generating a new intrusion detection dataset and intrusion traffic characterization. In </a:t>
            </a:r>
            <a:r>
              <a:rPr lang="en-US" sz="750" i="1" dirty="0">
                <a:solidFill>
                  <a:srgbClr val="333333"/>
                </a:solidFill>
                <a:latin typeface="Arial" pitchFamily="34" charset="0"/>
                <a:ea typeface="Arial" pitchFamily="34" charset="-122"/>
                <a:cs typeface="Arial" pitchFamily="34" charset="-120"/>
              </a:rPr>
              <a:t>Proceedings of the 4th International Conference on Information Systems Security and Privacy</a:t>
            </a:r>
            <a:r>
              <a:rPr lang="en-US" sz="750" dirty="0">
                <a:solidFill>
                  <a:srgbClr val="333333"/>
                </a:solidFill>
                <a:latin typeface="Arial" pitchFamily="34" charset="0"/>
                <a:ea typeface="Arial" pitchFamily="34" charset="-122"/>
                <a:cs typeface="Arial" pitchFamily="34" charset="-120"/>
              </a:rPr>
              <a:t> (ICISSP), 108-116.</a:t>
            </a:r>
            <a:endParaRPr lang="en-US" sz="750" dirty="0"/>
          </a:p>
        </p:txBody>
      </p:sp>
      <p:sp>
        <p:nvSpPr>
          <p:cNvPr id="18" name="Text 16"/>
          <p:cNvSpPr/>
          <p:nvPr/>
        </p:nvSpPr>
        <p:spPr>
          <a:xfrm>
            <a:off x="711101" y="2942481"/>
            <a:ext cx="8238896" cy="123825"/>
          </a:xfrm>
          <a:prstGeom prst="rect">
            <a:avLst/>
          </a:prstGeom>
          <a:noFill/>
          <a:ln/>
        </p:spPr>
        <p:txBody>
          <a:bodyPr wrap="square" lIns="0" tIns="0" rIns="0" bIns="0" rtlCol="0" anchor="t"/>
          <a:lstStyle/>
          <a:p>
            <a:pPr marL="0" indent="0" algn="l">
              <a:lnSpc>
                <a:spcPts val="975"/>
              </a:lnSpc>
              <a:spcAft>
                <a:spcPts val="400"/>
              </a:spcAft>
              <a:buNone/>
            </a:pPr>
            <a:r>
              <a:rPr lang="en-US" sz="750" dirty="0">
                <a:solidFill>
                  <a:srgbClr val="333333"/>
                </a:solidFill>
                <a:latin typeface="Arial" pitchFamily="34" charset="0"/>
                <a:ea typeface="Arial" pitchFamily="34" charset="-122"/>
                <a:cs typeface="Arial" pitchFamily="34" charset="-120"/>
              </a:rPr>
              <a:t>Sundararajan, M., Taly, A., &amp; Yan, Q. (2017). Axiomatic attribution for deep networks. In </a:t>
            </a:r>
            <a:r>
              <a:rPr lang="en-US" sz="750" i="1" dirty="0">
                <a:solidFill>
                  <a:srgbClr val="333333"/>
                </a:solidFill>
                <a:latin typeface="Arial" pitchFamily="34" charset="0"/>
                <a:ea typeface="Arial" pitchFamily="34" charset="-122"/>
                <a:cs typeface="Arial" pitchFamily="34" charset="-120"/>
              </a:rPr>
              <a:t>Proceedings of the 34th International Conference on Machine Learning</a:t>
            </a:r>
            <a:r>
              <a:rPr lang="en-US" sz="750" dirty="0">
                <a:solidFill>
                  <a:srgbClr val="333333"/>
                </a:solidFill>
                <a:latin typeface="Arial" pitchFamily="34" charset="0"/>
                <a:ea typeface="Arial" pitchFamily="34" charset="-122"/>
                <a:cs typeface="Arial" pitchFamily="34" charset="-120"/>
              </a:rPr>
              <a:t> (ICML), 3319-3328.</a:t>
            </a:r>
            <a:endParaRPr lang="en-US" sz="750" dirty="0"/>
          </a:p>
        </p:txBody>
      </p:sp>
      <p:sp>
        <p:nvSpPr>
          <p:cNvPr id="19" name="Text 17"/>
          <p:cNvSpPr/>
          <p:nvPr/>
        </p:nvSpPr>
        <p:spPr>
          <a:xfrm>
            <a:off x="0" y="4946749"/>
            <a:ext cx="9144000" cy="196751"/>
          </a:xfrm>
          <a:prstGeom prst="rect">
            <a:avLst/>
          </a:prstGeom>
          <a:solidFill>
            <a:srgbClr val="F0F2F5"/>
          </a:solidFill>
          <a:ln/>
        </p:spPr>
        <p:txBody>
          <a:bodyPr wrap="square" rtlCol="0" anchor="ctr"/>
          <a:lstStyle/>
          <a:p>
            <a:pPr marL="0" indent="0">
              <a:buNone/>
            </a:pPr>
            <a:endParaRPr lang="en-US" dirty="0"/>
          </a:p>
        </p:txBody>
      </p:sp>
      <p:sp>
        <p:nvSpPr>
          <p:cNvPr id="20" name="Text 18"/>
          <p:cNvSpPr/>
          <p:nvPr/>
        </p:nvSpPr>
        <p:spPr>
          <a:xfrm>
            <a:off x="355550" y="4997500"/>
            <a:ext cx="8601557" cy="95250"/>
          </a:xfrm>
          <a:prstGeom prst="rect">
            <a:avLst/>
          </a:prstGeom>
          <a:noFill/>
          <a:ln/>
        </p:spPr>
        <p:txBody>
          <a:bodyPr wrap="square" lIns="0" tIns="0" rIns="0" bIns="0" rtlCol="0" anchor="t"/>
          <a:lstStyle/>
          <a:p>
            <a:pPr marL="0" indent="0" algn="l">
              <a:buNone/>
            </a:pPr>
            <a:r>
              <a:rPr lang="en-US" sz="700" dirty="0">
                <a:solidFill>
                  <a:srgbClr val="888888"/>
                </a:solidFill>
                <a:latin typeface="Arial" pitchFamily="34" charset="0"/>
                <a:ea typeface="Arial" pitchFamily="34" charset="-122"/>
                <a:cs typeface="Arial" pitchFamily="34" charset="-120"/>
              </a:rPr>
              <a:t>APA 7th Edition Format</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3274</Words>
  <Application>Microsoft Office PowerPoint</Application>
  <PresentationFormat>全屏显示(16:9)</PresentationFormat>
  <Paragraphs>538</Paragraphs>
  <Slides>15</Slides>
  <Notes>15</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15</vt:i4>
      </vt:variant>
    </vt:vector>
  </HeadingPairs>
  <TitlesOfParts>
    <vt:vector size="17" baseType="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CIC-IDS2017 Dataset &amp; Hierarchical IDS Framework</dc:title>
  <dc:subject>PptxGenJS Presentation</dc:subject>
  <dc:creator>NetTier-ML Project — Ontario Tech University</dc:creator>
  <cp:lastModifiedBy>Kaicheng Nie</cp:lastModifiedBy>
  <cp:revision>12</cp:revision>
  <dcterms:created xsi:type="dcterms:W3CDTF">2026-03-17T22:17:18Z</dcterms:created>
  <dcterms:modified xsi:type="dcterms:W3CDTF">2026-03-17T23:09:54Z</dcterms:modified>
</cp:coreProperties>
</file>